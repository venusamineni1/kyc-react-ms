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7A9EC0"/>
          </a:solidFill>
          <a:ln w="12700">
            <a:solidFill>
              <a:srgbClr val="7A9EC0"/>
            </a:solidFill>
            <a:prstDash val="solid"/>
          </a:ln>
        </p:spPr>
      </p:sp>
      <p:sp>
        <p:nvSpPr>
          <p:cNvPr id="3" name="Shape 1"/>
          <p:cNvSpPr/>
          <p:nvPr/>
        </p:nvSpPr>
        <p:spPr>
          <a:xfrm>
            <a:off x="0" y="6793992"/>
            <a:ext cx="12161520" cy="64008"/>
          </a:xfrm>
          <a:prstGeom prst="rect">
            <a:avLst/>
          </a:prstGeom>
          <a:solidFill>
            <a:srgbClr val="7A9EC0"/>
          </a:solidFill>
          <a:ln w="12700">
            <a:solidFill>
              <a:srgbClr val="7A9EC0"/>
            </a:solidFill>
            <a:prstDash val="solid"/>
          </a:ln>
        </p:spPr>
      </p:sp>
      <p:sp>
        <p:nvSpPr>
          <p:cNvPr id="4" name="Shape 2"/>
          <p:cNvSpPr/>
          <p:nvPr/>
        </p:nvSpPr>
        <p:spPr>
          <a:xfrm>
            <a:off x="914400" y="1005840"/>
            <a:ext cx="137160" cy="137160"/>
          </a:xfrm>
          <a:prstGeom prst="ellipse">
            <a:avLst/>
          </a:prstGeom>
          <a:solidFill>
            <a:srgbClr val="A85A50"/>
          </a:solidFill>
          <a:ln w="12700">
            <a:solidFill>
              <a:srgbClr val="A85A50"/>
            </a:solidFill>
            <a:prstDash val="solid"/>
          </a:ln>
        </p:spPr>
      </p:sp>
      <p:sp>
        <p:nvSpPr>
          <p:cNvPr id="5" name="Shape 3"/>
          <p:cNvSpPr/>
          <p:nvPr/>
        </p:nvSpPr>
        <p:spPr>
          <a:xfrm>
            <a:off x="1170432" y="1005840"/>
            <a:ext cx="137160" cy="137160"/>
          </a:xfrm>
          <a:prstGeom prst="ellipse">
            <a:avLst/>
          </a:prstGeom>
          <a:solidFill>
            <a:srgbClr val="B8924A"/>
          </a:solidFill>
          <a:ln w="12700">
            <a:solidFill>
              <a:srgbClr val="B8924A"/>
            </a:solidFill>
            <a:prstDash val="solid"/>
          </a:ln>
        </p:spPr>
      </p:sp>
      <p:sp>
        <p:nvSpPr>
          <p:cNvPr id="6" name="Shape 4"/>
          <p:cNvSpPr/>
          <p:nvPr/>
        </p:nvSpPr>
        <p:spPr>
          <a:xfrm>
            <a:off x="1426464" y="1005840"/>
            <a:ext cx="137160" cy="137160"/>
          </a:xfrm>
          <a:prstGeom prst="ellipse">
            <a:avLst/>
          </a:prstGeom>
          <a:solidFill>
            <a:srgbClr val="4D8A5C"/>
          </a:solidFill>
          <a:ln w="12700">
            <a:solidFill>
              <a:srgbClr val="4D8A5C"/>
            </a:solidFill>
            <a:prstDash val="solid"/>
          </a:ln>
        </p:spPr>
      </p:sp>
      <p:sp>
        <p:nvSpPr>
          <p:cNvPr id="7" name="Shape 5"/>
          <p:cNvSpPr/>
          <p:nvPr/>
        </p:nvSpPr>
        <p:spPr>
          <a:xfrm>
            <a:off x="1682496" y="1005840"/>
            <a:ext cx="137160" cy="137160"/>
          </a:xfrm>
          <a:prstGeom prst="ellipse">
            <a:avLst/>
          </a:prstGeom>
          <a:solidFill>
            <a:srgbClr val="7A9EC0"/>
          </a:solidFill>
          <a:ln w="12700">
            <a:solidFill>
              <a:srgbClr val="7A9EC0"/>
            </a:solidFill>
            <a:prstDash val="solid"/>
          </a:ln>
        </p:spPr>
      </p:sp>
      <p:sp>
        <p:nvSpPr>
          <p:cNvPr id="8" name="Text 6"/>
          <p:cNvSpPr/>
          <p:nvPr/>
        </p:nvSpPr>
        <p:spPr>
          <a:xfrm>
            <a:off x="731520" y="1920240"/>
            <a:ext cx="10698480" cy="914400"/>
          </a:xfrm>
          <a:prstGeom prst="rect">
            <a:avLst/>
          </a:prstGeom>
          <a:noFill/>
          <a:ln/>
        </p:spPr>
        <p:txBody>
          <a:bodyPr wrap="square" lIns="0" tIns="0" rIns="0" bIns="0" rtlCol="0" anchor="ctr"/>
          <a:lstStyle/>
          <a:p>
            <a:pPr algn="ctr" indent="0" marL="0">
              <a:buNone/>
            </a:pPr>
            <a:r>
              <a:rPr lang="en-US" sz="5000" b="1" dirty="0">
                <a:solidFill>
                  <a:srgbClr val="D8E4F0"/>
                </a:solidFill>
                <a:latin typeface="Calibri" pitchFamily="34" charset="0"/>
                <a:ea typeface="Calibri" pitchFamily="34" charset="-122"/>
                <a:cs typeface="Calibri" pitchFamily="34" charset="-120"/>
              </a:rPr>
              <a:t>KYC Orchestration</a:t>
            </a:r>
            <a:endParaRPr lang="en-US" sz="5000" dirty="0"/>
          </a:p>
        </p:txBody>
      </p:sp>
      <p:sp>
        <p:nvSpPr>
          <p:cNvPr id="9" name="Text 7"/>
          <p:cNvSpPr/>
          <p:nvPr/>
        </p:nvSpPr>
        <p:spPr>
          <a:xfrm>
            <a:off x="731520" y="2788920"/>
            <a:ext cx="10698480" cy="822960"/>
          </a:xfrm>
          <a:prstGeom prst="rect">
            <a:avLst/>
          </a:prstGeom>
          <a:noFill/>
          <a:ln/>
        </p:spPr>
        <p:txBody>
          <a:bodyPr wrap="square" lIns="0" tIns="0" rIns="0" bIns="0" rtlCol="0" anchor="ctr"/>
          <a:lstStyle/>
          <a:p>
            <a:pPr algn="ctr" indent="0" marL="0">
              <a:buNone/>
            </a:pPr>
            <a:r>
              <a:rPr lang="en-US" sz="5000" b="1" dirty="0">
                <a:solidFill>
                  <a:srgbClr val="7A9EC0"/>
                </a:solidFill>
                <a:latin typeface="Calibri" pitchFamily="34" charset="0"/>
                <a:ea typeface="Calibri" pitchFamily="34" charset="-122"/>
                <a:cs typeface="Calibri" pitchFamily="34" charset="-120"/>
              </a:rPr>
              <a:t>GCP Architecture</a:t>
            </a:r>
            <a:endParaRPr lang="en-US" sz="5000" dirty="0"/>
          </a:p>
        </p:txBody>
      </p:sp>
      <p:sp>
        <p:nvSpPr>
          <p:cNvPr id="10" name="Shape 8"/>
          <p:cNvSpPr/>
          <p:nvPr/>
        </p:nvSpPr>
        <p:spPr>
          <a:xfrm>
            <a:off x="3474720" y="3749040"/>
            <a:ext cx="5212080" cy="36576"/>
          </a:xfrm>
          <a:prstGeom prst="rect">
            <a:avLst/>
          </a:prstGeom>
          <a:solidFill>
            <a:srgbClr val="7A9EC0"/>
          </a:solidFill>
          <a:ln w="12700">
            <a:solidFill>
              <a:srgbClr val="7A9EC0"/>
            </a:solidFill>
            <a:prstDash val="solid"/>
          </a:ln>
        </p:spPr>
      </p:sp>
      <p:sp>
        <p:nvSpPr>
          <p:cNvPr id="11" name="Text 9"/>
          <p:cNvSpPr/>
          <p:nvPr/>
        </p:nvSpPr>
        <p:spPr>
          <a:xfrm>
            <a:off x="731520" y="3886200"/>
            <a:ext cx="10698480" cy="502920"/>
          </a:xfrm>
          <a:prstGeom prst="rect">
            <a:avLst/>
          </a:prstGeom>
          <a:noFill/>
          <a:ln/>
        </p:spPr>
        <p:txBody>
          <a:bodyPr wrap="square" lIns="0" tIns="0" rIns="0" bIns="0" rtlCol="0" anchor="ctr"/>
          <a:lstStyle/>
          <a:p>
            <a:pPr algn="ctr" indent="0" marL="0">
              <a:buNone/>
            </a:pPr>
            <a:r>
              <a:rPr lang="en-US" sz="2000" dirty="0">
                <a:solidFill>
                  <a:srgbClr val="8AAAC8"/>
                </a:solidFill>
                <a:latin typeface="Calibri" pitchFamily="34" charset="0"/>
                <a:ea typeface="Calibri" pitchFamily="34" charset="-122"/>
                <a:cs typeface="Calibri" pitchFamily="34" charset="-120"/>
              </a:rPr>
              <a:t>Security Design Authority Review</a:t>
            </a:r>
            <a:endParaRPr lang="en-US" sz="2000" dirty="0"/>
          </a:p>
        </p:txBody>
      </p:sp>
      <p:sp>
        <p:nvSpPr>
          <p:cNvPr id="12" name="Text 10"/>
          <p:cNvSpPr/>
          <p:nvPr/>
        </p:nvSpPr>
        <p:spPr>
          <a:xfrm>
            <a:off x="731520" y="4480560"/>
            <a:ext cx="10698480" cy="411480"/>
          </a:xfrm>
          <a:prstGeom prst="rect">
            <a:avLst/>
          </a:prstGeom>
          <a:noFill/>
          <a:ln/>
        </p:spPr>
        <p:txBody>
          <a:bodyPr wrap="square" lIns="0" tIns="0" rIns="0" bIns="0" rtlCol="0" anchor="ctr"/>
          <a:lstStyle/>
          <a:p>
            <a:pPr algn="ctr" indent="0" marL="0">
              <a:buNone/>
            </a:pPr>
            <a:r>
              <a:rPr lang="en-US" sz="1400" dirty="0">
                <a:solidFill>
                  <a:srgbClr val="5A7A96"/>
                </a:solidFill>
                <a:latin typeface="Calibri" pitchFamily="34" charset="0"/>
                <a:ea typeface="Calibri" pitchFamily="34" charset="-122"/>
                <a:cs typeface="Calibri" pitchFamily="34" charset="-120"/>
              </a:rPr>
              <a:t>April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Shape 3"/>
          <p:cNvSpPr/>
          <p:nvPr/>
        </p:nvSpPr>
        <p:spPr>
          <a:xfrm>
            <a:off x="274320" y="502920"/>
            <a:ext cx="11612880" cy="347472"/>
          </a:xfrm>
          <a:prstGeom prst="rect">
            <a:avLst/>
          </a:prstGeom>
          <a:solidFill>
            <a:srgbClr val="EBF0F5"/>
          </a:solidFill>
          <a:ln w="12700">
            <a:solidFill>
              <a:srgbClr val="B0BEC8"/>
            </a:solidFill>
            <a:prstDash val="solid"/>
          </a:ln>
        </p:spPr>
      </p:sp>
      <p:sp>
        <p:nvSpPr>
          <p:cNvPr id="6" name="Text 4"/>
          <p:cNvSpPr/>
          <p:nvPr/>
        </p:nvSpPr>
        <p:spPr>
          <a:xfrm>
            <a:off x="411480" y="502920"/>
            <a:ext cx="11338560" cy="347472"/>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We are seeking Security Design Authority approval to deploy the KYC Orchestration Service on Google Cloud Platform in support of automated customer onboarding across EIS and InvestiFi channels.</a:t>
            </a:r>
            <a:endParaRPr lang="en-US" sz="900" dirty="0"/>
          </a:p>
        </p:txBody>
      </p:sp>
      <p:sp>
        <p:nvSpPr>
          <p:cNvPr id="7" name="Shape 5"/>
          <p:cNvSpPr/>
          <p:nvPr/>
        </p:nvSpPr>
        <p:spPr>
          <a:xfrm>
            <a:off x="274320" y="960120"/>
            <a:ext cx="3840480" cy="329184"/>
          </a:xfrm>
          <a:prstGeom prst="rect">
            <a:avLst/>
          </a:prstGeom>
          <a:solidFill>
            <a:srgbClr val="A85A50"/>
          </a:solidFill>
          <a:ln w="12700">
            <a:solidFill>
              <a:srgbClr val="A85A50"/>
            </a:solidFill>
            <a:prstDash val="solid"/>
          </a:ln>
        </p:spPr>
      </p:sp>
      <p:sp>
        <p:nvSpPr>
          <p:cNvPr id="8" name="Text 6"/>
          <p:cNvSpPr/>
          <p:nvPr/>
        </p:nvSpPr>
        <p:spPr>
          <a:xfrm>
            <a:off x="365760" y="960120"/>
            <a:ext cx="3712464" cy="329184"/>
          </a:xfrm>
          <a:prstGeom prst="rect">
            <a:avLst/>
          </a:prstGeom>
          <a:noFill/>
          <a:ln/>
        </p:spPr>
        <p:txBody>
          <a:bodyPr wrap="square" lIns="0" tIns="0" rIns="0" bIns="0" rtlCol="0" anchor="ctr"/>
          <a:lstStyle/>
          <a:p>
            <a:pPr indent="0" marL="0">
              <a:buNone/>
            </a:pPr>
            <a:r>
              <a:rPr lang="en-US" sz="850" b="1" dirty="0">
                <a:solidFill>
                  <a:srgbClr val="F0F4F8"/>
                </a:solidFill>
                <a:latin typeface="Calibri" pitchFamily="34" charset="0"/>
                <a:ea typeface="Calibri" pitchFamily="34" charset="-122"/>
                <a:cs typeface="Calibri" pitchFamily="34" charset="-120"/>
              </a:rPr>
              <a:t>01  Background &amp; Problem</a:t>
            </a:r>
            <a:endParaRPr lang="en-US" sz="850" dirty="0"/>
          </a:p>
        </p:txBody>
      </p:sp>
      <p:sp>
        <p:nvSpPr>
          <p:cNvPr id="9" name="Shape 7"/>
          <p:cNvSpPr/>
          <p:nvPr/>
        </p:nvSpPr>
        <p:spPr>
          <a:xfrm>
            <a:off x="274320" y="1289304"/>
            <a:ext cx="3840480" cy="4846320"/>
          </a:xfrm>
          <a:prstGeom prst="rect">
            <a:avLst/>
          </a:prstGeom>
          <a:solidFill>
            <a:srgbClr val="FFFFFF"/>
          </a:solidFill>
          <a:ln w="12700">
            <a:solidFill>
              <a:srgbClr val="D0D8E0"/>
            </a:solidFill>
            <a:prstDash val="solid"/>
          </a:ln>
        </p:spPr>
      </p:sp>
      <p:sp>
        <p:nvSpPr>
          <p:cNvPr id="10" name="Shape 8"/>
          <p:cNvSpPr/>
          <p:nvPr/>
        </p:nvSpPr>
        <p:spPr>
          <a:xfrm>
            <a:off x="274320" y="1289304"/>
            <a:ext cx="36576" cy="4846320"/>
          </a:xfrm>
          <a:prstGeom prst="rect">
            <a:avLst/>
          </a:prstGeom>
          <a:solidFill>
            <a:srgbClr val="A85A50"/>
          </a:solidFill>
          <a:ln w="12700">
            <a:solidFill>
              <a:srgbClr val="A85A50"/>
            </a:solidFill>
            <a:prstDash val="solid"/>
          </a:ln>
        </p:spPr>
      </p:sp>
      <p:sp>
        <p:nvSpPr>
          <p:cNvPr id="11" name="Shape 9"/>
          <p:cNvSpPr/>
          <p:nvPr/>
        </p:nvSpPr>
        <p:spPr>
          <a:xfrm>
            <a:off x="402336" y="1417320"/>
            <a:ext cx="201168" cy="201168"/>
          </a:xfrm>
          <a:prstGeom prst="ellipse">
            <a:avLst/>
          </a:prstGeom>
          <a:solidFill>
            <a:srgbClr val="A85A50"/>
          </a:solidFill>
          <a:ln w="12700">
            <a:solidFill>
              <a:srgbClr val="A85A50"/>
            </a:solidFill>
            <a:prstDash val="solid"/>
          </a:ln>
        </p:spPr>
      </p:sp>
      <p:sp>
        <p:nvSpPr>
          <p:cNvPr id="12" name="Text 10"/>
          <p:cNvSpPr/>
          <p:nvPr/>
        </p:nvSpPr>
        <p:spPr>
          <a:xfrm>
            <a:off x="402336" y="141732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13" name="Text 11"/>
          <p:cNvSpPr/>
          <p:nvPr/>
        </p:nvSpPr>
        <p:spPr>
          <a:xfrm>
            <a:off x="658368" y="141732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KYC onboarding is currently a fragmented, manual process spanning multiple systems with no single audit record.</a:t>
            </a:r>
            <a:endParaRPr lang="en-US" sz="800" dirty="0"/>
          </a:p>
        </p:txBody>
      </p:sp>
      <p:sp>
        <p:nvSpPr>
          <p:cNvPr id="14" name="Shape 12"/>
          <p:cNvSpPr/>
          <p:nvPr/>
        </p:nvSpPr>
        <p:spPr>
          <a:xfrm>
            <a:off x="402336" y="2926080"/>
            <a:ext cx="201168" cy="201168"/>
          </a:xfrm>
          <a:prstGeom prst="ellipse">
            <a:avLst/>
          </a:prstGeom>
          <a:solidFill>
            <a:srgbClr val="A85A50"/>
          </a:solidFill>
          <a:ln w="12700">
            <a:solidFill>
              <a:srgbClr val="A85A50"/>
            </a:solidFill>
            <a:prstDash val="solid"/>
          </a:ln>
        </p:spPr>
      </p:sp>
      <p:sp>
        <p:nvSpPr>
          <p:cNvPr id="15" name="Text 13"/>
          <p:cNvSpPr/>
          <p:nvPr/>
        </p:nvSpPr>
        <p:spPr>
          <a:xfrm>
            <a:off x="402336" y="292608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16" name="Text 14"/>
          <p:cNvSpPr/>
          <p:nvPr/>
        </p:nvSpPr>
        <p:spPr>
          <a:xfrm>
            <a:off x="658368" y="292608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Compliance teams carry the risk of incomplete or inconsistent screening data across NCA, NLS/NRTS and CRRE.</a:t>
            </a:r>
            <a:endParaRPr lang="en-US" sz="800" dirty="0"/>
          </a:p>
        </p:txBody>
      </p:sp>
      <p:sp>
        <p:nvSpPr>
          <p:cNvPr id="17" name="Shape 15"/>
          <p:cNvSpPr/>
          <p:nvPr/>
        </p:nvSpPr>
        <p:spPr>
          <a:xfrm>
            <a:off x="402336" y="4434840"/>
            <a:ext cx="201168" cy="201168"/>
          </a:xfrm>
          <a:prstGeom prst="ellipse">
            <a:avLst/>
          </a:prstGeom>
          <a:solidFill>
            <a:srgbClr val="A85A50"/>
          </a:solidFill>
          <a:ln w="12700">
            <a:solidFill>
              <a:srgbClr val="A85A50"/>
            </a:solidFill>
            <a:prstDash val="solid"/>
          </a:ln>
        </p:spPr>
      </p:sp>
      <p:sp>
        <p:nvSpPr>
          <p:cNvPr id="18" name="Text 16"/>
          <p:cNvSpPr/>
          <p:nvPr/>
        </p:nvSpPr>
        <p:spPr>
          <a:xfrm>
            <a:off x="402336" y="443484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19" name="Text 17"/>
          <p:cNvSpPr/>
          <p:nvPr/>
        </p:nvSpPr>
        <p:spPr>
          <a:xfrm>
            <a:off x="658368" y="443484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Absence of a centralised orchestration layer creates delays of up to 5 business days per application and limits capacity to scale.</a:t>
            </a:r>
            <a:endParaRPr lang="en-US" sz="800" dirty="0"/>
          </a:p>
        </p:txBody>
      </p:sp>
      <p:sp>
        <p:nvSpPr>
          <p:cNvPr id="20" name="Shape 18"/>
          <p:cNvSpPr/>
          <p:nvPr/>
        </p:nvSpPr>
        <p:spPr>
          <a:xfrm>
            <a:off x="4233672" y="960120"/>
            <a:ext cx="3840480" cy="329184"/>
          </a:xfrm>
          <a:prstGeom prst="rect">
            <a:avLst/>
          </a:prstGeom>
          <a:solidFill>
            <a:srgbClr val="5578A0"/>
          </a:solidFill>
          <a:ln w="12700">
            <a:solidFill>
              <a:srgbClr val="5578A0"/>
            </a:solidFill>
            <a:prstDash val="solid"/>
          </a:ln>
        </p:spPr>
      </p:sp>
      <p:sp>
        <p:nvSpPr>
          <p:cNvPr id="21" name="Text 19"/>
          <p:cNvSpPr/>
          <p:nvPr/>
        </p:nvSpPr>
        <p:spPr>
          <a:xfrm>
            <a:off x="4325112" y="960120"/>
            <a:ext cx="3712464" cy="329184"/>
          </a:xfrm>
          <a:prstGeom prst="rect">
            <a:avLst/>
          </a:prstGeom>
          <a:noFill/>
          <a:ln/>
        </p:spPr>
        <p:txBody>
          <a:bodyPr wrap="square" lIns="0" tIns="0" rIns="0" bIns="0" rtlCol="0" anchor="ctr"/>
          <a:lstStyle/>
          <a:p>
            <a:pPr indent="0" marL="0">
              <a:buNone/>
            </a:pPr>
            <a:r>
              <a:rPr lang="en-US" sz="850" b="1" dirty="0">
                <a:solidFill>
                  <a:srgbClr val="F0F4F8"/>
                </a:solidFill>
                <a:latin typeface="Calibri" pitchFamily="34" charset="0"/>
                <a:ea typeface="Calibri" pitchFamily="34" charset="-122"/>
                <a:cs typeface="Calibri" pitchFamily="34" charset="-120"/>
              </a:rPr>
              <a:t>02  Proposed Solution</a:t>
            </a:r>
            <a:endParaRPr lang="en-US" sz="850" dirty="0"/>
          </a:p>
        </p:txBody>
      </p:sp>
      <p:sp>
        <p:nvSpPr>
          <p:cNvPr id="22" name="Shape 20"/>
          <p:cNvSpPr/>
          <p:nvPr/>
        </p:nvSpPr>
        <p:spPr>
          <a:xfrm>
            <a:off x="4233672" y="1289304"/>
            <a:ext cx="3840480" cy="4846320"/>
          </a:xfrm>
          <a:prstGeom prst="rect">
            <a:avLst/>
          </a:prstGeom>
          <a:solidFill>
            <a:srgbClr val="FFFFFF"/>
          </a:solidFill>
          <a:ln w="12700">
            <a:solidFill>
              <a:srgbClr val="D0D8E0"/>
            </a:solidFill>
            <a:prstDash val="solid"/>
          </a:ln>
        </p:spPr>
      </p:sp>
      <p:sp>
        <p:nvSpPr>
          <p:cNvPr id="23" name="Shape 21"/>
          <p:cNvSpPr/>
          <p:nvPr/>
        </p:nvSpPr>
        <p:spPr>
          <a:xfrm>
            <a:off x="4233672" y="1289304"/>
            <a:ext cx="36576" cy="4846320"/>
          </a:xfrm>
          <a:prstGeom prst="rect">
            <a:avLst/>
          </a:prstGeom>
          <a:solidFill>
            <a:srgbClr val="5578A0"/>
          </a:solidFill>
          <a:ln w="12700">
            <a:solidFill>
              <a:srgbClr val="5578A0"/>
            </a:solidFill>
            <a:prstDash val="solid"/>
          </a:ln>
        </p:spPr>
      </p:sp>
      <p:sp>
        <p:nvSpPr>
          <p:cNvPr id="24" name="Shape 22"/>
          <p:cNvSpPr/>
          <p:nvPr/>
        </p:nvSpPr>
        <p:spPr>
          <a:xfrm>
            <a:off x="4361688" y="1417320"/>
            <a:ext cx="201168" cy="201168"/>
          </a:xfrm>
          <a:prstGeom prst="ellipse">
            <a:avLst/>
          </a:prstGeom>
          <a:solidFill>
            <a:srgbClr val="5578A0"/>
          </a:solidFill>
          <a:ln w="12700">
            <a:solidFill>
              <a:srgbClr val="5578A0"/>
            </a:solidFill>
            <a:prstDash val="solid"/>
          </a:ln>
        </p:spPr>
      </p:sp>
      <p:sp>
        <p:nvSpPr>
          <p:cNvPr id="25" name="Text 23"/>
          <p:cNvSpPr/>
          <p:nvPr/>
        </p:nvSpPr>
        <p:spPr>
          <a:xfrm>
            <a:off x="4361688" y="141732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26" name="Text 24"/>
          <p:cNvSpPr/>
          <p:nvPr/>
        </p:nvSpPr>
        <p:spPr>
          <a:xfrm>
            <a:off x="4617720" y="141732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A new Spring Boot microservice — kyc-orchestration — will coordinate identity verification, sanctions screening and risk rating in a single automated workflow.</a:t>
            </a:r>
            <a:endParaRPr lang="en-US" sz="800" dirty="0"/>
          </a:p>
        </p:txBody>
      </p:sp>
      <p:sp>
        <p:nvSpPr>
          <p:cNvPr id="27" name="Shape 25"/>
          <p:cNvSpPr/>
          <p:nvPr/>
        </p:nvSpPr>
        <p:spPr>
          <a:xfrm>
            <a:off x="4361688" y="2926080"/>
            <a:ext cx="201168" cy="201168"/>
          </a:xfrm>
          <a:prstGeom prst="ellipse">
            <a:avLst/>
          </a:prstGeom>
          <a:solidFill>
            <a:srgbClr val="5578A0"/>
          </a:solidFill>
          <a:ln w="12700">
            <a:solidFill>
              <a:srgbClr val="5578A0"/>
            </a:solidFill>
            <a:prstDash val="solid"/>
          </a:ln>
        </p:spPr>
      </p:sp>
      <p:sp>
        <p:nvSpPr>
          <p:cNvPr id="28" name="Text 26"/>
          <p:cNvSpPr/>
          <p:nvPr/>
        </p:nvSpPr>
        <p:spPr>
          <a:xfrm>
            <a:off x="4361688" y="292608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29" name="Text 27"/>
          <p:cNvSpPr/>
          <p:nvPr/>
        </p:nvSpPr>
        <p:spPr>
          <a:xfrm>
            <a:off x="4617720" y="292608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All data will be held in an encrypted, private Cloud SQL instance; PII is encrypted at field level using AES-128/GCM before storage.</a:t>
            </a:r>
            <a:endParaRPr lang="en-US" sz="800" dirty="0"/>
          </a:p>
        </p:txBody>
      </p:sp>
      <p:sp>
        <p:nvSpPr>
          <p:cNvPr id="30" name="Shape 28"/>
          <p:cNvSpPr/>
          <p:nvPr/>
        </p:nvSpPr>
        <p:spPr>
          <a:xfrm>
            <a:off x="4361688" y="4434840"/>
            <a:ext cx="201168" cy="201168"/>
          </a:xfrm>
          <a:prstGeom prst="ellipse">
            <a:avLst/>
          </a:prstGeom>
          <a:solidFill>
            <a:srgbClr val="5578A0"/>
          </a:solidFill>
          <a:ln w="12700">
            <a:solidFill>
              <a:srgbClr val="5578A0"/>
            </a:solidFill>
            <a:prstDash val="solid"/>
          </a:ln>
        </p:spPr>
      </p:sp>
      <p:sp>
        <p:nvSpPr>
          <p:cNvPr id="31" name="Text 29"/>
          <p:cNvSpPr/>
          <p:nvPr/>
        </p:nvSpPr>
        <p:spPr>
          <a:xfrm>
            <a:off x="4361688" y="443484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32" name="Text 30"/>
          <p:cNvSpPr/>
          <p:nvPr/>
        </p:nvSpPr>
        <p:spPr>
          <a:xfrm>
            <a:off x="4617720" y="443484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The service is deployed on GKE Autopilot within a private VPC, protected by Cloud Armor WAF and OAuth 2.0 access controls.</a:t>
            </a:r>
            <a:endParaRPr lang="en-US" sz="800" dirty="0"/>
          </a:p>
        </p:txBody>
      </p:sp>
      <p:sp>
        <p:nvSpPr>
          <p:cNvPr id="33" name="Shape 31"/>
          <p:cNvSpPr/>
          <p:nvPr/>
        </p:nvSpPr>
        <p:spPr>
          <a:xfrm>
            <a:off x="8193024" y="960120"/>
            <a:ext cx="3840480" cy="329184"/>
          </a:xfrm>
          <a:prstGeom prst="rect">
            <a:avLst/>
          </a:prstGeom>
          <a:solidFill>
            <a:srgbClr val="4D8A5C"/>
          </a:solidFill>
          <a:ln w="12700">
            <a:solidFill>
              <a:srgbClr val="4D8A5C"/>
            </a:solidFill>
            <a:prstDash val="solid"/>
          </a:ln>
        </p:spPr>
      </p:sp>
      <p:sp>
        <p:nvSpPr>
          <p:cNvPr id="34" name="Text 32"/>
          <p:cNvSpPr/>
          <p:nvPr/>
        </p:nvSpPr>
        <p:spPr>
          <a:xfrm>
            <a:off x="8284464" y="960120"/>
            <a:ext cx="3712464" cy="329184"/>
          </a:xfrm>
          <a:prstGeom prst="rect">
            <a:avLst/>
          </a:prstGeom>
          <a:noFill/>
          <a:ln/>
        </p:spPr>
        <p:txBody>
          <a:bodyPr wrap="square" lIns="0" tIns="0" rIns="0" bIns="0" rtlCol="0" anchor="ctr"/>
          <a:lstStyle/>
          <a:p>
            <a:pPr indent="0" marL="0">
              <a:buNone/>
            </a:pPr>
            <a:r>
              <a:rPr lang="en-US" sz="850" b="1" dirty="0">
                <a:solidFill>
                  <a:srgbClr val="F0F4F8"/>
                </a:solidFill>
                <a:latin typeface="Calibri" pitchFamily="34" charset="0"/>
                <a:ea typeface="Calibri" pitchFamily="34" charset="-122"/>
                <a:cs typeface="Calibri" pitchFamily="34" charset="-120"/>
              </a:rPr>
              <a:t>03  Expected Outcome</a:t>
            </a:r>
            <a:endParaRPr lang="en-US" sz="850" dirty="0"/>
          </a:p>
        </p:txBody>
      </p:sp>
      <p:sp>
        <p:nvSpPr>
          <p:cNvPr id="35" name="Shape 33"/>
          <p:cNvSpPr/>
          <p:nvPr/>
        </p:nvSpPr>
        <p:spPr>
          <a:xfrm>
            <a:off x="8193024" y="1289304"/>
            <a:ext cx="3840480" cy="4846320"/>
          </a:xfrm>
          <a:prstGeom prst="rect">
            <a:avLst/>
          </a:prstGeom>
          <a:solidFill>
            <a:srgbClr val="FFFFFF"/>
          </a:solidFill>
          <a:ln w="12700">
            <a:solidFill>
              <a:srgbClr val="D0D8E0"/>
            </a:solidFill>
            <a:prstDash val="solid"/>
          </a:ln>
        </p:spPr>
      </p:sp>
      <p:sp>
        <p:nvSpPr>
          <p:cNvPr id="36" name="Shape 34"/>
          <p:cNvSpPr/>
          <p:nvPr/>
        </p:nvSpPr>
        <p:spPr>
          <a:xfrm>
            <a:off x="8193024" y="1289304"/>
            <a:ext cx="36576" cy="4846320"/>
          </a:xfrm>
          <a:prstGeom prst="rect">
            <a:avLst/>
          </a:prstGeom>
          <a:solidFill>
            <a:srgbClr val="4D8A5C"/>
          </a:solidFill>
          <a:ln w="12700">
            <a:solidFill>
              <a:srgbClr val="4D8A5C"/>
            </a:solidFill>
            <a:prstDash val="solid"/>
          </a:ln>
        </p:spPr>
      </p:sp>
      <p:sp>
        <p:nvSpPr>
          <p:cNvPr id="37" name="Shape 35"/>
          <p:cNvSpPr/>
          <p:nvPr/>
        </p:nvSpPr>
        <p:spPr>
          <a:xfrm>
            <a:off x="8321040" y="1417320"/>
            <a:ext cx="201168" cy="201168"/>
          </a:xfrm>
          <a:prstGeom prst="ellipse">
            <a:avLst/>
          </a:prstGeom>
          <a:solidFill>
            <a:srgbClr val="4D8A5C"/>
          </a:solidFill>
          <a:ln w="12700">
            <a:solidFill>
              <a:srgbClr val="4D8A5C"/>
            </a:solidFill>
            <a:prstDash val="solid"/>
          </a:ln>
        </p:spPr>
      </p:sp>
      <p:sp>
        <p:nvSpPr>
          <p:cNvPr id="38" name="Text 36"/>
          <p:cNvSpPr/>
          <p:nvPr/>
        </p:nvSpPr>
        <p:spPr>
          <a:xfrm>
            <a:off x="8321040" y="141732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39" name="Text 37"/>
          <p:cNvSpPr/>
          <p:nvPr/>
        </p:nvSpPr>
        <p:spPr>
          <a:xfrm>
            <a:off x="8577072" y="141732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Onboarding decision time reduced from ~5 days to same-session for the majority of low-risk applicants.</a:t>
            </a:r>
            <a:endParaRPr lang="en-US" sz="800" dirty="0"/>
          </a:p>
        </p:txBody>
      </p:sp>
      <p:sp>
        <p:nvSpPr>
          <p:cNvPr id="40" name="Shape 38"/>
          <p:cNvSpPr/>
          <p:nvPr/>
        </p:nvSpPr>
        <p:spPr>
          <a:xfrm>
            <a:off x="8321040" y="2926080"/>
            <a:ext cx="201168" cy="201168"/>
          </a:xfrm>
          <a:prstGeom prst="ellipse">
            <a:avLst/>
          </a:prstGeom>
          <a:solidFill>
            <a:srgbClr val="4D8A5C"/>
          </a:solidFill>
          <a:ln w="12700">
            <a:solidFill>
              <a:srgbClr val="4D8A5C"/>
            </a:solidFill>
            <a:prstDash val="solid"/>
          </a:ln>
        </p:spPr>
      </p:sp>
      <p:sp>
        <p:nvSpPr>
          <p:cNvPr id="41" name="Text 39"/>
          <p:cNvSpPr/>
          <p:nvPr/>
        </p:nvSpPr>
        <p:spPr>
          <a:xfrm>
            <a:off x="8321040" y="292608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42" name="Text 40"/>
          <p:cNvSpPr/>
          <p:nvPr/>
        </p:nvSpPr>
        <p:spPr>
          <a:xfrm>
            <a:off x="8577072" y="292608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Full immutable audit trail in BigQuery satisfies regulatory retention requirements (7 years) with no manual effort.</a:t>
            </a:r>
            <a:endParaRPr lang="en-US" sz="800" dirty="0"/>
          </a:p>
        </p:txBody>
      </p:sp>
      <p:sp>
        <p:nvSpPr>
          <p:cNvPr id="43" name="Shape 41"/>
          <p:cNvSpPr/>
          <p:nvPr/>
        </p:nvSpPr>
        <p:spPr>
          <a:xfrm>
            <a:off x="8321040" y="4434840"/>
            <a:ext cx="201168" cy="201168"/>
          </a:xfrm>
          <a:prstGeom prst="ellipse">
            <a:avLst/>
          </a:prstGeom>
          <a:solidFill>
            <a:srgbClr val="4D8A5C"/>
          </a:solidFill>
          <a:ln w="12700">
            <a:solidFill>
              <a:srgbClr val="4D8A5C"/>
            </a:solidFill>
            <a:prstDash val="solid"/>
          </a:ln>
        </p:spPr>
      </p:sp>
      <p:sp>
        <p:nvSpPr>
          <p:cNvPr id="44" name="Text 42"/>
          <p:cNvSpPr/>
          <p:nvPr/>
        </p:nvSpPr>
        <p:spPr>
          <a:xfrm>
            <a:off x="8321040" y="443484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45" name="Text 43"/>
          <p:cNvSpPr/>
          <p:nvPr/>
        </p:nvSpPr>
        <p:spPr>
          <a:xfrm>
            <a:off x="8577072" y="4434840"/>
            <a:ext cx="3364992" cy="128016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Automated ON_HOLD flow for high-risk or watchlist-hit cases routes to the compliance team with structured data, reducing investigator effort.</a:t>
            </a:r>
            <a:endParaRPr lang="en-US" sz="800" dirty="0"/>
          </a:p>
        </p:txBody>
      </p:sp>
      <p:sp>
        <p:nvSpPr>
          <p:cNvPr id="46" name="Text 44"/>
          <p:cNvSpPr/>
          <p:nvPr/>
        </p:nvSpPr>
        <p:spPr>
          <a:xfrm>
            <a:off x="274320" y="6217920"/>
            <a:ext cx="11612880" cy="182880"/>
          </a:xfrm>
          <a:prstGeom prst="rect">
            <a:avLst/>
          </a:prstGeom>
          <a:noFill/>
          <a:ln/>
        </p:spPr>
        <p:txBody>
          <a:bodyPr wrap="square" lIns="0" tIns="0" rIns="0" bIns="0" rtlCol="0" anchor="ctr"/>
          <a:lstStyle/>
          <a:p>
            <a:pPr algn="ctr" indent="0" marL="0">
              <a:buNone/>
            </a:pPr>
            <a:r>
              <a:rPr lang="en-US" sz="700" dirty="0">
                <a:solidFill>
                  <a:srgbClr val="9AA4AE"/>
                </a:solidFill>
                <a:latin typeface="Calibri" pitchFamily="34" charset="0"/>
                <a:ea typeface="Calibri" pitchFamily="34" charset="-122"/>
                <a:cs typeface="Calibri" pitchFamily="34" charset="-120"/>
              </a:rPr>
              <a:t>INTERNAL — CONFIDENTIAL</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Key Business Benefits</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Shape 3"/>
          <p:cNvSpPr/>
          <p:nvPr/>
        </p:nvSpPr>
        <p:spPr>
          <a:xfrm>
            <a:off x="274320" y="530352"/>
            <a:ext cx="5715000" cy="2788920"/>
          </a:xfrm>
          <a:prstGeom prst="rect">
            <a:avLst/>
          </a:prstGeom>
          <a:solidFill>
            <a:srgbClr val="FFFFFF"/>
          </a:solidFill>
          <a:ln w="12700">
            <a:solidFill>
              <a:srgbClr val="D0D8E0"/>
            </a:solidFill>
            <a:prstDash val="solid"/>
          </a:ln>
        </p:spPr>
      </p:sp>
      <p:sp>
        <p:nvSpPr>
          <p:cNvPr id="6" name="Shape 4"/>
          <p:cNvSpPr/>
          <p:nvPr/>
        </p:nvSpPr>
        <p:spPr>
          <a:xfrm>
            <a:off x="274320" y="530352"/>
            <a:ext cx="5715000" cy="73152"/>
          </a:xfrm>
          <a:prstGeom prst="rect">
            <a:avLst/>
          </a:prstGeom>
          <a:solidFill>
            <a:srgbClr val="5578A0"/>
          </a:solidFill>
          <a:ln w="12700">
            <a:solidFill>
              <a:srgbClr val="5578A0"/>
            </a:solidFill>
            <a:prstDash val="solid"/>
          </a:ln>
        </p:spPr>
      </p:sp>
      <p:sp>
        <p:nvSpPr>
          <p:cNvPr id="7" name="Shape 5"/>
          <p:cNvSpPr/>
          <p:nvPr/>
        </p:nvSpPr>
        <p:spPr>
          <a:xfrm>
            <a:off x="274320" y="603504"/>
            <a:ext cx="1417320" cy="2715768"/>
          </a:xfrm>
          <a:prstGeom prst="rect">
            <a:avLst/>
          </a:prstGeom>
          <a:solidFill>
            <a:srgbClr val="5578A0"/>
          </a:solidFill>
          <a:ln w="12700">
            <a:solidFill>
              <a:srgbClr val="5578A0"/>
            </a:solidFill>
            <a:prstDash val="solid"/>
          </a:ln>
        </p:spPr>
      </p:sp>
      <p:sp>
        <p:nvSpPr>
          <p:cNvPr id="8" name="Text 6"/>
          <p:cNvSpPr/>
          <p:nvPr/>
        </p:nvSpPr>
        <p:spPr>
          <a:xfrm>
            <a:off x="310896" y="1033272"/>
            <a:ext cx="1344168"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7-Year</a:t>
            </a:r>
            <a:endParaRPr lang="en-US" sz="2200" dirty="0"/>
          </a:p>
        </p:txBody>
      </p:sp>
      <p:sp>
        <p:nvSpPr>
          <p:cNvPr id="9" name="Text 7"/>
          <p:cNvSpPr/>
          <p:nvPr/>
        </p:nvSpPr>
        <p:spPr>
          <a:xfrm>
            <a:off x="310896" y="1536192"/>
            <a:ext cx="1344168" cy="548640"/>
          </a:xfrm>
          <a:prstGeom prst="rect">
            <a:avLst/>
          </a:prstGeom>
          <a:noFill/>
          <a:ln/>
        </p:spPr>
        <p:txBody>
          <a:bodyPr wrap="square" lIns="0" tIns="0" rIns="0" bIns="0" rtlCol="0" anchor="ctr"/>
          <a:lstStyle/>
          <a:p>
            <a:pPr algn="ctr" indent="0" marL="0">
              <a:buNone/>
            </a:pPr>
            <a:r>
              <a:rPr lang="en-US" sz="700" dirty="0">
                <a:solidFill>
                  <a:srgbClr val="E0EAF0"/>
                </a:solidFill>
                <a:latin typeface="Calibri" pitchFamily="34" charset="0"/>
                <a:ea typeface="Calibri" pitchFamily="34" charset="-122"/>
                <a:cs typeface="Calibri" pitchFamily="34" charset="-120"/>
              </a:rPr>
              <a:t>Audit Retention</a:t>
            </a:r>
            <a:endParaRPr lang="en-US" sz="700" dirty="0"/>
          </a:p>
        </p:txBody>
      </p:sp>
      <p:sp>
        <p:nvSpPr>
          <p:cNvPr id="10" name="Text 8"/>
          <p:cNvSpPr/>
          <p:nvPr/>
        </p:nvSpPr>
        <p:spPr>
          <a:xfrm>
            <a:off x="1783080" y="640080"/>
            <a:ext cx="4114800" cy="274320"/>
          </a:xfrm>
          <a:prstGeom prst="rect">
            <a:avLst/>
          </a:prstGeom>
          <a:noFill/>
          <a:ln/>
        </p:spPr>
        <p:txBody>
          <a:bodyPr wrap="square" lIns="0" tIns="0" rIns="0" bIns="0" rtlCol="0" anchor="ctr"/>
          <a:lstStyle/>
          <a:p>
            <a:pPr indent="0" marL="0">
              <a:buNone/>
            </a:pPr>
            <a:r>
              <a:rPr lang="en-US" sz="1000" b="1" dirty="0">
                <a:solidFill>
                  <a:srgbClr val="2C3E50"/>
                </a:solidFill>
                <a:latin typeface="Calibri" pitchFamily="34" charset="0"/>
                <a:ea typeface="Calibri" pitchFamily="34" charset="-122"/>
                <a:cs typeface="Calibri" pitchFamily="34" charset="-120"/>
              </a:rPr>
              <a:t>Regulatory Compliance</a:t>
            </a:r>
            <a:endParaRPr lang="en-US" sz="1000" dirty="0"/>
          </a:p>
        </p:txBody>
      </p:sp>
      <p:sp>
        <p:nvSpPr>
          <p:cNvPr id="11" name="Shape 9"/>
          <p:cNvSpPr/>
          <p:nvPr/>
        </p:nvSpPr>
        <p:spPr>
          <a:xfrm>
            <a:off x="1783080" y="987552"/>
            <a:ext cx="54864" cy="54864"/>
          </a:xfrm>
          <a:prstGeom prst="rect">
            <a:avLst/>
          </a:prstGeom>
          <a:solidFill>
            <a:srgbClr val="5578A0"/>
          </a:solidFill>
          <a:ln w="12700">
            <a:solidFill>
              <a:srgbClr val="5578A0"/>
            </a:solidFill>
            <a:prstDash val="solid"/>
          </a:ln>
        </p:spPr>
      </p:sp>
      <p:sp>
        <p:nvSpPr>
          <p:cNvPr id="12" name="Text 10"/>
          <p:cNvSpPr/>
          <p:nvPr/>
        </p:nvSpPr>
        <p:spPr>
          <a:xfrm>
            <a:off x="1901952" y="932688"/>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Immutable, tamper-evident audit trail stored in BigQuery for every KYC decision.</a:t>
            </a:r>
            <a:endParaRPr lang="en-US" sz="800" dirty="0"/>
          </a:p>
        </p:txBody>
      </p:sp>
      <p:sp>
        <p:nvSpPr>
          <p:cNvPr id="13" name="Shape 11"/>
          <p:cNvSpPr/>
          <p:nvPr/>
        </p:nvSpPr>
        <p:spPr>
          <a:xfrm>
            <a:off x="1783080" y="1682496"/>
            <a:ext cx="54864" cy="54864"/>
          </a:xfrm>
          <a:prstGeom prst="rect">
            <a:avLst/>
          </a:prstGeom>
          <a:solidFill>
            <a:srgbClr val="5578A0"/>
          </a:solidFill>
          <a:ln w="12700">
            <a:solidFill>
              <a:srgbClr val="5578A0"/>
            </a:solidFill>
            <a:prstDash val="solid"/>
          </a:ln>
        </p:spPr>
      </p:sp>
      <p:sp>
        <p:nvSpPr>
          <p:cNvPr id="14" name="Text 12"/>
          <p:cNvSpPr/>
          <p:nvPr/>
        </p:nvSpPr>
        <p:spPr>
          <a:xfrm>
            <a:off x="1901952" y="1627632"/>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Field-level PII encryption (AES-128/GCM) and structured data masking in all log output.</a:t>
            </a:r>
            <a:endParaRPr lang="en-US" sz="800" dirty="0"/>
          </a:p>
        </p:txBody>
      </p:sp>
      <p:sp>
        <p:nvSpPr>
          <p:cNvPr id="15" name="Shape 13"/>
          <p:cNvSpPr/>
          <p:nvPr/>
        </p:nvSpPr>
        <p:spPr>
          <a:xfrm>
            <a:off x="1783080" y="2377440"/>
            <a:ext cx="54864" cy="54864"/>
          </a:xfrm>
          <a:prstGeom prst="rect">
            <a:avLst/>
          </a:prstGeom>
          <a:solidFill>
            <a:srgbClr val="5578A0"/>
          </a:solidFill>
          <a:ln w="12700">
            <a:solidFill>
              <a:srgbClr val="5578A0"/>
            </a:solidFill>
            <a:prstDash val="solid"/>
          </a:ln>
        </p:spPr>
      </p:sp>
      <p:sp>
        <p:nvSpPr>
          <p:cNvPr id="16" name="Text 14"/>
          <p:cNvSpPr/>
          <p:nvPr/>
        </p:nvSpPr>
        <p:spPr>
          <a:xfrm>
            <a:off x="1901952" y="2322576"/>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Supports GDPR, AML and internal data classification policies out of the box.</a:t>
            </a:r>
            <a:endParaRPr lang="en-US" sz="800" dirty="0"/>
          </a:p>
        </p:txBody>
      </p:sp>
      <p:sp>
        <p:nvSpPr>
          <p:cNvPr id="17" name="Shape 15"/>
          <p:cNvSpPr/>
          <p:nvPr/>
        </p:nvSpPr>
        <p:spPr>
          <a:xfrm>
            <a:off x="6217920" y="530352"/>
            <a:ext cx="5715000" cy="2788920"/>
          </a:xfrm>
          <a:prstGeom prst="rect">
            <a:avLst/>
          </a:prstGeom>
          <a:solidFill>
            <a:srgbClr val="FFFFFF"/>
          </a:solidFill>
          <a:ln w="12700">
            <a:solidFill>
              <a:srgbClr val="D0D8E0"/>
            </a:solidFill>
            <a:prstDash val="solid"/>
          </a:ln>
        </p:spPr>
      </p:sp>
      <p:sp>
        <p:nvSpPr>
          <p:cNvPr id="18" name="Shape 16"/>
          <p:cNvSpPr/>
          <p:nvPr/>
        </p:nvSpPr>
        <p:spPr>
          <a:xfrm>
            <a:off x="6217920" y="530352"/>
            <a:ext cx="5715000" cy="73152"/>
          </a:xfrm>
          <a:prstGeom prst="rect">
            <a:avLst/>
          </a:prstGeom>
          <a:solidFill>
            <a:srgbClr val="4D8A5C"/>
          </a:solidFill>
          <a:ln w="12700">
            <a:solidFill>
              <a:srgbClr val="4D8A5C"/>
            </a:solidFill>
            <a:prstDash val="solid"/>
          </a:ln>
        </p:spPr>
      </p:sp>
      <p:sp>
        <p:nvSpPr>
          <p:cNvPr id="19" name="Shape 17"/>
          <p:cNvSpPr/>
          <p:nvPr/>
        </p:nvSpPr>
        <p:spPr>
          <a:xfrm>
            <a:off x="6217920" y="603504"/>
            <a:ext cx="1417320" cy="2715768"/>
          </a:xfrm>
          <a:prstGeom prst="rect">
            <a:avLst/>
          </a:prstGeom>
          <a:solidFill>
            <a:srgbClr val="4D8A5C"/>
          </a:solidFill>
          <a:ln w="12700">
            <a:solidFill>
              <a:srgbClr val="4D8A5C"/>
            </a:solidFill>
            <a:prstDash val="solid"/>
          </a:ln>
        </p:spPr>
      </p:sp>
      <p:sp>
        <p:nvSpPr>
          <p:cNvPr id="20" name="Text 18"/>
          <p:cNvSpPr/>
          <p:nvPr/>
        </p:nvSpPr>
        <p:spPr>
          <a:xfrm>
            <a:off x="6254496" y="1033272"/>
            <a:ext cx="1344168"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&lt; 30 s</a:t>
            </a:r>
            <a:endParaRPr lang="en-US" sz="2200" dirty="0"/>
          </a:p>
        </p:txBody>
      </p:sp>
      <p:sp>
        <p:nvSpPr>
          <p:cNvPr id="21" name="Text 19"/>
          <p:cNvSpPr/>
          <p:nvPr/>
        </p:nvSpPr>
        <p:spPr>
          <a:xfrm>
            <a:off x="6254496" y="1536192"/>
            <a:ext cx="1344168" cy="548640"/>
          </a:xfrm>
          <a:prstGeom prst="rect">
            <a:avLst/>
          </a:prstGeom>
          <a:noFill/>
          <a:ln/>
        </p:spPr>
        <p:txBody>
          <a:bodyPr wrap="square" lIns="0" tIns="0" rIns="0" bIns="0" rtlCol="0" anchor="ctr"/>
          <a:lstStyle/>
          <a:p>
            <a:pPr algn="ctr" indent="0" marL="0">
              <a:buNone/>
            </a:pPr>
            <a:r>
              <a:rPr lang="en-US" sz="700" dirty="0">
                <a:solidFill>
                  <a:srgbClr val="E0EAF0"/>
                </a:solidFill>
                <a:latin typeface="Calibri" pitchFamily="34" charset="0"/>
                <a:ea typeface="Calibri" pitchFamily="34" charset="-122"/>
                <a:cs typeface="Calibri" pitchFamily="34" charset="-120"/>
              </a:rPr>
              <a:t>Automated Decision</a:t>
            </a:r>
            <a:endParaRPr lang="en-US" sz="700" dirty="0"/>
          </a:p>
        </p:txBody>
      </p:sp>
      <p:sp>
        <p:nvSpPr>
          <p:cNvPr id="22" name="Text 20"/>
          <p:cNvSpPr/>
          <p:nvPr/>
        </p:nvSpPr>
        <p:spPr>
          <a:xfrm>
            <a:off x="7726680" y="640080"/>
            <a:ext cx="4114800" cy="274320"/>
          </a:xfrm>
          <a:prstGeom prst="rect">
            <a:avLst/>
          </a:prstGeom>
          <a:noFill/>
          <a:ln/>
        </p:spPr>
        <p:txBody>
          <a:bodyPr wrap="square" lIns="0" tIns="0" rIns="0" bIns="0" rtlCol="0" anchor="ctr"/>
          <a:lstStyle/>
          <a:p>
            <a:pPr indent="0" marL="0">
              <a:buNone/>
            </a:pPr>
            <a:r>
              <a:rPr lang="en-US" sz="1000" b="1" dirty="0">
                <a:solidFill>
                  <a:srgbClr val="2C3E50"/>
                </a:solidFill>
                <a:latin typeface="Calibri" pitchFamily="34" charset="0"/>
                <a:ea typeface="Calibri" pitchFamily="34" charset="-122"/>
                <a:cs typeface="Calibri" pitchFamily="34" charset="-120"/>
              </a:rPr>
              <a:t>Operational Efficiency</a:t>
            </a:r>
            <a:endParaRPr lang="en-US" sz="1000" dirty="0"/>
          </a:p>
        </p:txBody>
      </p:sp>
      <p:sp>
        <p:nvSpPr>
          <p:cNvPr id="23" name="Shape 21"/>
          <p:cNvSpPr/>
          <p:nvPr/>
        </p:nvSpPr>
        <p:spPr>
          <a:xfrm>
            <a:off x="7726680" y="987552"/>
            <a:ext cx="54864" cy="54864"/>
          </a:xfrm>
          <a:prstGeom prst="rect">
            <a:avLst/>
          </a:prstGeom>
          <a:solidFill>
            <a:srgbClr val="4D8A5C"/>
          </a:solidFill>
          <a:ln w="12700">
            <a:solidFill>
              <a:srgbClr val="4D8A5C"/>
            </a:solidFill>
            <a:prstDash val="solid"/>
          </a:ln>
        </p:spPr>
      </p:sp>
      <p:sp>
        <p:nvSpPr>
          <p:cNvPr id="24" name="Text 22"/>
          <p:cNvSpPr/>
          <p:nvPr/>
        </p:nvSpPr>
        <p:spPr>
          <a:xfrm>
            <a:off x="7845552" y="932688"/>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Parallel orchestration of screening, risk and identity checks replaces a manual 5-day workflow.</a:t>
            </a:r>
            <a:endParaRPr lang="en-US" sz="800" dirty="0"/>
          </a:p>
        </p:txBody>
      </p:sp>
      <p:sp>
        <p:nvSpPr>
          <p:cNvPr id="25" name="Shape 23"/>
          <p:cNvSpPr/>
          <p:nvPr/>
        </p:nvSpPr>
        <p:spPr>
          <a:xfrm>
            <a:off x="7726680" y="1682496"/>
            <a:ext cx="54864" cy="54864"/>
          </a:xfrm>
          <a:prstGeom prst="rect">
            <a:avLst/>
          </a:prstGeom>
          <a:solidFill>
            <a:srgbClr val="4D8A5C"/>
          </a:solidFill>
          <a:ln w="12700">
            <a:solidFill>
              <a:srgbClr val="4D8A5C"/>
            </a:solidFill>
            <a:prstDash val="solid"/>
          </a:ln>
        </p:spPr>
      </p:sp>
      <p:sp>
        <p:nvSpPr>
          <p:cNvPr id="26" name="Text 24"/>
          <p:cNvSpPr/>
          <p:nvPr/>
        </p:nvSpPr>
        <p:spPr>
          <a:xfrm>
            <a:off x="7845552" y="1627632"/>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Automated webhook notifications alert downstream systems the moment a decision is reached.</a:t>
            </a:r>
            <a:endParaRPr lang="en-US" sz="800" dirty="0"/>
          </a:p>
        </p:txBody>
      </p:sp>
      <p:sp>
        <p:nvSpPr>
          <p:cNvPr id="27" name="Shape 25"/>
          <p:cNvSpPr/>
          <p:nvPr/>
        </p:nvSpPr>
        <p:spPr>
          <a:xfrm>
            <a:off x="7726680" y="2377440"/>
            <a:ext cx="54864" cy="54864"/>
          </a:xfrm>
          <a:prstGeom prst="rect">
            <a:avLst/>
          </a:prstGeom>
          <a:solidFill>
            <a:srgbClr val="4D8A5C"/>
          </a:solidFill>
          <a:ln w="12700">
            <a:solidFill>
              <a:srgbClr val="4D8A5C"/>
            </a:solidFill>
            <a:prstDash val="solid"/>
          </a:ln>
        </p:spPr>
      </p:sp>
      <p:sp>
        <p:nvSpPr>
          <p:cNvPr id="28" name="Text 26"/>
          <p:cNvSpPr/>
          <p:nvPr/>
        </p:nvSpPr>
        <p:spPr>
          <a:xfrm>
            <a:off x="7845552" y="2322576"/>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ON_HOLD cases are routed with full structured context, reducing investigator handling time.</a:t>
            </a:r>
            <a:endParaRPr lang="en-US" sz="800" dirty="0"/>
          </a:p>
        </p:txBody>
      </p:sp>
      <p:sp>
        <p:nvSpPr>
          <p:cNvPr id="29" name="Shape 27"/>
          <p:cNvSpPr/>
          <p:nvPr/>
        </p:nvSpPr>
        <p:spPr>
          <a:xfrm>
            <a:off x="274320" y="3456432"/>
            <a:ext cx="5715000" cy="2788920"/>
          </a:xfrm>
          <a:prstGeom prst="rect">
            <a:avLst/>
          </a:prstGeom>
          <a:solidFill>
            <a:srgbClr val="FFFFFF"/>
          </a:solidFill>
          <a:ln w="12700">
            <a:solidFill>
              <a:srgbClr val="D0D8E0"/>
            </a:solidFill>
            <a:prstDash val="solid"/>
          </a:ln>
        </p:spPr>
      </p:sp>
      <p:sp>
        <p:nvSpPr>
          <p:cNvPr id="30" name="Shape 28"/>
          <p:cNvSpPr/>
          <p:nvPr/>
        </p:nvSpPr>
        <p:spPr>
          <a:xfrm>
            <a:off x="274320" y="3456432"/>
            <a:ext cx="5715000" cy="73152"/>
          </a:xfrm>
          <a:prstGeom prst="rect">
            <a:avLst/>
          </a:prstGeom>
          <a:solidFill>
            <a:srgbClr val="3D8090"/>
          </a:solidFill>
          <a:ln w="12700">
            <a:solidFill>
              <a:srgbClr val="3D8090"/>
            </a:solidFill>
            <a:prstDash val="solid"/>
          </a:ln>
        </p:spPr>
      </p:sp>
      <p:sp>
        <p:nvSpPr>
          <p:cNvPr id="31" name="Shape 29"/>
          <p:cNvSpPr/>
          <p:nvPr/>
        </p:nvSpPr>
        <p:spPr>
          <a:xfrm>
            <a:off x="274320" y="3529584"/>
            <a:ext cx="1417320" cy="2715768"/>
          </a:xfrm>
          <a:prstGeom prst="rect">
            <a:avLst/>
          </a:prstGeom>
          <a:solidFill>
            <a:srgbClr val="3D8090"/>
          </a:solidFill>
          <a:ln w="12700">
            <a:solidFill>
              <a:srgbClr val="3D8090"/>
            </a:solidFill>
            <a:prstDash val="solid"/>
          </a:ln>
        </p:spPr>
      </p:sp>
      <p:sp>
        <p:nvSpPr>
          <p:cNvPr id="32" name="Text 30"/>
          <p:cNvSpPr/>
          <p:nvPr/>
        </p:nvSpPr>
        <p:spPr>
          <a:xfrm>
            <a:off x="310896" y="3959352"/>
            <a:ext cx="1344168"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Zero</a:t>
            </a:r>
            <a:endParaRPr lang="en-US" sz="2200" dirty="0"/>
          </a:p>
        </p:txBody>
      </p:sp>
      <p:sp>
        <p:nvSpPr>
          <p:cNvPr id="33" name="Text 31"/>
          <p:cNvSpPr/>
          <p:nvPr/>
        </p:nvSpPr>
        <p:spPr>
          <a:xfrm>
            <a:off x="310896" y="4462272"/>
            <a:ext cx="1344168" cy="548640"/>
          </a:xfrm>
          <a:prstGeom prst="rect">
            <a:avLst/>
          </a:prstGeom>
          <a:noFill/>
          <a:ln/>
        </p:spPr>
        <p:txBody>
          <a:bodyPr wrap="square" lIns="0" tIns="0" rIns="0" bIns="0" rtlCol="0" anchor="ctr"/>
          <a:lstStyle/>
          <a:p>
            <a:pPr algn="ctr" indent="0" marL="0">
              <a:buNone/>
            </a:pPr>
            <a:r>
              <a:rPr lang="en-US" sz="700" dirty="0">
                <a:solidFill>
                  <a:srgbClr val="E0EAF0"/>
                </a:solidFill>
                <a:latin typeface="Calibri" pitchFamily="34" charset="0"/>
                <a:ea typeface="Calibri" pitchFamily="34" charset="-122"/>
                <a:cs typeface="Calibri" pitchFamily="34" charset="-120"/>
              </a:rPr>
              <a:t>Static Credentials in Pods</a:t>
            </a:r>
            <a:endParaRPr lang="en-US" sz="700" dirty="0"/>
          </a:p>
        </p:txBody>
      </p:sp>
      <p:sp>
        <p:nvSpPr>
          <p:cNvPr id="34" name="Text 32"/>
          <p:cNvSpPr/>
          <p:nvPr/>
        </p:nvSpPr>
        <p:spPr>
          <a:xfrm>
            <a:off x="1783080" y="3566160"/>
            <a:ext cx="4114800" cy="274320"/>
          </a:xfrm>
          <a:prstGeom prst="rect">
            <a:avLst/>
          </a:prstGeom>
          <a:noFill/>
          <a:ln/>
        </p:spPr>
        <p:txBody>
          <a:bodyPr wrap="square" lIns="0" tIns="0" rIns="0" bIns="0" rtlCol="0" anchor="ctr"/>
          <a:lstStyle/>
          <a:p>
            <a:pPr indent="0" marL="0">
              <a:buNone/>
            </a:pPr>
            <a:r>
              <a:rPr lang="en-US" sz="1000" b="1" dirty="0">
                <a:solidFill>
                  <a:srgbClr val="2C3E50"/>
                </a:solidFill>
                <a:latin typeface="Calibri" pitchFamily="34" charset="0"/>
                <a:ea typeface="Calibri" pitchFamily="34" charset="-122"/>
                <a:cs typeface="Calibri" pitchFamily="34" charset="-120"/>
              </a:rPr>
              <a:t>Security &amp; Zero-Trust</a:t>
            </a:r>
            <a:endParaRPr lang="en-US" sz="1000" dirty="0"/>
          </a:p>
        </p:txBody>
      </p:sp>
      <p:sp>
        <p:nvSpPr>
          <p:cNvPr id="35" name="Shape 33"/>
          <p:cNvSpPr/>
          <p:nvPr/>
        </p:nvSpPr>
        <p:spPr>
          <a:xfrm>
            <a:off x="1783080" y="3913632"/>
            <a:ext cx="54864" cy="54864"/>
          </a:xfrm>
          <a:prstGeom prst="rect">
            <a:avLst/>
          </a:prstGeom>
          <a:solidFill>
            <a:srgbClr val="3D8090"/>
          </a:solidFill>
          <a:ln w="12700">
            <a:solidFill>
              <a:srgbClr val="3D8090"/>
            </a:solidFill>
            <a:prstDash val="solid"/>
          </a:ln>
        </p:spPr>
      </p:sp>
      <p:sp>
        <p:nvSpPr>
          <p:cNvPr id="36" name="Text 34"/>
          <p:cNvSpPr/>
          <p:nvPr/>
        </p:nvSpPr>
        <p:spPr>
          <a:xfrm>
            <a:off x="1901952" y="3858768"/>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Workload Identity removes all static JSON key files; credentials are issued at runtime.</a:t>
            </a:r>
            <a:endParaRPr lang="en-US" sz="800" dirty="0"/>
          </a:p>
        </p:txBody>
      </p:sp>
      <p:sp>
        <p:nvSpPr>
          <p:cNvPr id="37" name="Shape 35"/>
          <p:cNvSpPr/>
          <p:nvPr/>
        </p:nvSpPr>
        <p:spPr>
          <a:xfrm>
            <a:off x="1783080" y="4608576"/>
            <a:ext cx="54864" cy="54864"/>
          </a:xfrm>
          <a:prstGeom prst="rect">
            <a:avLst/>
          </a:prstGeom>
          <a:solidFill>
            <a:srgbClr val="3D8090"/>
          </a:solidFill>
          <a:ln w="12700">
            <a:solidFill>
              <a:srgbClr val="3D8090"/>
            </a:solidFill>
            <a:prstDash val="solid"/>
          </a:ln>
        </p:spPr>
      </p:sp>
      <p:sp>
        <p:nvSpPr>
          <p:cNvPr id="38" name="Text 36"/>
          <p:cNvSpPr/>
          <p:nvPr/>
        </p:nvSpPr>
        <p:spPr>
          <a:xfrm>
            <a:off x="1901952" y="4553712"/>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VPC Service Controls create a data-exfiltration perimeter around all sensitive data stores.</a:t>
            </a:r>
            <a:endParaRPr lang="en-US" sz="800" dirty="0"/>
          </a:p>
        </p:txBody>
      </p:sp>
      <p:sp>
        <p:nvSpPr>
          <p:cNvPr id="39" name="Shape 37"/>
          <p:cNvSpPr/>
          <p:nvPr/>
        </p:nvSpPr>
        <p:spPr>
          <a:xfrm>
            <a:off x="1783080" y="5303520"/>
            <a:ext cx="54864" cy="54864"/>
          </a:xfrm>
          <a:prstGeom prst="rect">
            <a:avLst/>
          </a:prstGeom>
          <a:solidFill>
            <a:srgbClr val="3D8090"/>
          </a:solidFill>
          <a:ln w="12700">
            <a:solidFill>
              <a:srgbClr val="3D8090"/>
            </a:solidFill>
            <a:prstDash val="solid"/>
          </a:ln>
        </p:spPr>
      </p:sp>
      <p:sp>
        <p:nvSpPr>
          <p:cNvPr id="40" name="Text 38"/>
          <p:cNvSpPr/>
          <p:nvPr/>
        </p:nvSpPr>
        <p:spPr>
          <a:xfrm>
            <a:off x="1901952" y="5248656"/>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Cloud Armor WAF and OAuth 2.0 enforce defence-in-depth at every ingress point.</a:t>
            </a:r>
            <a:endParaRPr lang="en-US" sz="800" dirty="0"/>
          </a:p>
        </p:txBody>
      </p:sp>
      <p:sp>
        <p:nvSpPr>
          <p:cNvPr id="41" name="Shape 39"/>
          <p:cNvSpPr/>
          <p:nvPr/>
        </p:nvSpPr>
        <p:spPr>
          <a:xfrm>
            <a:off x="6217920" y="3456432"/>
            <a:ext cx="5715000" cy="2788920"/>
          </a:xfrm>
          <a:prstGeom prst="rect">
            <a:avLst/>
          </a:prstGeom>
          <a:solidFill>
            <a:srgbClr val="FFFFFF"/>
          </a:solidFill>
          <a:ln w="12700">
            <a:solidFill>
              <a:srgbClr val="D0D8E0"/>
            </a:solidFill>
            <a:prstDash val="solid"/>
          </a:ln>
        </p:spPr>
      </p:sp>
      <p:sp>
        <p:nvSpPr>
          <p:cNvPr id="42" name="Shape 40"/>
          <p:cNvSpPr/>
          <p:nvPr/>
        </p:nvSpPr>
        <p:spPr>
          <a:xfrm>
            <a:off x="6217920" y="3456432"/>
            <a:ext cx="5715000" cy="73152"/>
          </a:xfrm>
          <a:prstGeom prst="rect">
            <a:avLst/>
          </a:prstGeom>
          <a:solidFill>
            <a:srgbClr val="B8924A"/>
          </a:solidFill>
          <a:ln w="12700">
            <a:solidFill>
              <a:srgbClr val="B8924A"/>
            </a:solidFill>
            <a:prstDash val="solid"/>
          </a:ln>
        </p:spPr>
      </p:sp>
      <p:sp>
        <p:nvSpPr>
          <p:cNvPr id="43" name="Shape 41"/>
          <p:cNvSpPr/>
          <p:nvPr/>
        </p:nvSpPr>
        <p:spPr>
          <a:xfrm>
            <a:off x="6217920" y="3529584"/>
            <a:ext cx="1417320" cy="2715768"/>
          </a:xfrm>
          <a:prstGeom prst="rect">
            <a:avLst/>
          </a:prstGeom>
          <a:solidFill>
            <a:srgbClr val="B8924A"/>
          </a:solidFill>
          <a:ln w="12700">
            <a:solidFill>
              <a:srgbClr val="B8924A"/>
            </a:solidFill>
            <a:prstDash val="solid"/>
          </a:ln>
        </p:spPr>
      </p:sp>
      <p:sp>
        <p:nvSpPr>
          <p:cNvPr id="44" name="Text 42"/>
          <p:cNvSpPr/>
          <p:nvPr/>
        </p:nvSpPr>
        <p:spPr>
          <a:xfrm>
            <a:off x="6254496" y="3959352"/>
            <a:ext cx="1344168"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99.9%</a:t>
            </a:r>
            <a:endParaRPr lang="en-US" sz="2200" dirty="0"/>
          </a:p>
        </p:txBody>
      </p:sp>
      <p:sp>
        <p:nvSpPr>
          <p:cNvPr id="45" name="Text 43"/>
          <p:cNvSpPr/>
          <p:nvPr/>
        </p:nvSpPr>
        <p:spPr>
          <a:xfrm>
            <a:off x="6254496" y="4462272"/>
            <a:ext cx="1344168" cy="548640"/>
          </a:xfrm>
          <a:prstGeom prst="rect">
            <a:avLst/>
          </a:prstGeom>
          <a:noFill/>
          <a:ln/>
        </p:spPr>
        <p:txBody>
          <a:bodyPr wrap="square" lIns="0" tIns="0" rIns="0" bIns="0" rtlCol="0" anchor="ctr"/>
          <a:lstStyle/>
          <a:p>
            <a:pPr algn="ctr" indent="0" marL="0">
              <a:buNone/>
            </a:pPr>
            <a:r>
              <a:rPr lang="en-US" sz="700" dirty="0">
                <a:solidFill>
                  <a:srgbClr val="E0EAF0"/>
                </a:solidFill>
                <a:latin typeface="Calibri" pitchFamily="34" charset="0"/>
                <a:ea typeface="Calibri" pitchFamily="34" charset="-122"/>
                <a:cs typeface="Calibri" pitchFamily="34" charset="-120"/>
              </a:rPr>
              <a:t>Uptime SLA (GCP)</a:t>
            </a:r>
            <a:endParaRPr lang="en-US" sz="700" dirty="0"/>
          </a:p>
        </p:txBody>
      </p:sp>
      <p:sp>
        <p:nvSpPr>
          <p:cNvPr id="46" name="Text 44"/>
          <p:cNvSpPr/>
          <p:nvPr/>
        </p:nvSpPr>
        <p:spPr>
          <a:xfrm>
            <a:off x="7726680" y="3566160"/>
            <a:ext cx="4114800" cy="274320"/>
          </a:xfrm>
          <a:prstGeom prst="rect">
            <a:avLst/>
          </a:prstGeom>
          <a:noFill/>
          <a:ln/>
        </p:spPr>
        <p:txBody>
          <a:bodyPr wrap="square" lIns="0" tIns="0" rIns="0" bIns="0" rtlCol="0" anchor="ctr"/>
          <a:lstStyle/>
          <a:p>
            <a:pPr indent="0" marL="0">
              <a:buNone/>
            </a:pPr>
            <a:r>
              <a:rPr lang="en-US" sz="1000" b="1" dirty="0">
                <a:solidFill>
                  <a:srgbClr val="2C3E50"/>
                </a:solidFill>
                <a:latin typeface="Calibri" pitchFamily="34" charset="0"/>
                <a:ea typeface="Calibri" pitchFamily="34" charset="-122"/>
                <a:cs typeface="Calibri" pitchFamily="34" charset="-120"/>
              </a:rPr>
              <a:t>Scalability &amp; Resilience</a:t>
            </a:r>
            <a:endParaRPr lang="en-US" sz="1000" dirty="0"/>
          </a:p>
        </p:txBody>
      </p:sp>
      <p:sp>
        <p:nvSpPr>
          <p:cNvPr id="47" name="Shape 45"/>
          <p:cNvSpPr/>
          <p:nvPr/>
        </p:nvSpPr>
        <p:spPr>
          <a:xfrm>
            <a:off x="7726680" y="3913632"/>
            <a:ext cx="54864" cy="54864"/>
          </a:xfrm>
          <a:prstGeom prst="rect">
            <a:avLst/>
          </a:prstGeom>
          <a:solidFill>
            <a:srgbClr val="B8924A"/>
          </a:solidFill>
          <a:ln w="12700">
            <a:solidFill>
              <a:srgbClr val="B8924A"/>
            </a:solidFill>
            <a:prstDash val="solid"/>
          </a:ln>
        </p:spPr>
      </p:sp>
      <p:sp>
        <p:nvSpPr>
          <p:cNvPr id="48" name="Text 46"/>
          <p:cNvSpPr/>
          <p:nvPr/>
        </p:nvSpPr>
        <p:spPr>
          <a:xfrm>
            <a:off x="7845552" y="3858768"/>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GKE Autopilot scales from a minimum of 2 to 10 pods automatically based on load.</a:t>
            </a:r>
            <a:endParaRPr lang="en-US" sz="800" dirty="0"/>
          </a:p>
        </p:txBody>
      </p:sp>
      <p:sp>
        <p:nvSpPr>
          <p:cNvPr id="49" name="Shape 47"/>
          <p:cNvSpPr/>
          <p:nvPr/>
        </p:nvSpPr>
        <p:spPr>
          <a:xfrm>
            <a:off x="7726680" y="4608576"/>
            <a:ext cx="54864" cy="54864"/>
          </a:xfrm>
          <a:prstGeom prst="rect">
            <a:avLst/>
          </a:prstGeom>
          <a:solidFill>
            <a:srgbClr val="B8924A"/>
          </a:solidFill>
          <a:ln w="12700">
            <a:solidFill>
              <a:srgbClr val="B8924A"/>
            </a:solidFill>
            <a:prstDash val="solid"/>
          </a:ln>
        </p:spPr>
      </p:sp>
      <p:sp>
        <p:nvSpPr>
          <p:cNvPr id="50" name="Text 48"/>
          <p:cNvSpPr/>
          <p:nvPr/>
        </p:nvSpPr>
        <p:spPr>
          <a:xfrm>
            <a:off x="7845552" y="4553712"/>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Cloud SQL HA with a read replica and automated failover; no single point of failure.</a:t>
            </a:r>
            <a:endParaRPr lang="en-US" sz="800" dirty="0"/>
          </a:p>
        </p:txBody>
      </p:sp>
      <p:sp>
        <p:nvSpPr>
          <p:cNvPr id="51" name="Shape 49"/>
          <p:cNvSpPr/>
          <p:nvPr/>
        </p:nvSpPr>
        <p:spPr>
          <a:xfrm>
            <a:off x="7726680" y="5303520"/>
            <a:ext cx="54864" cy="54864"/>
          </a:xfrm>
          <a:prstGeom prst="rect">
            <a:avLst/>
          </a:prstGeom>
          <a:solidFill>
            <a:srgbClr val="B8924A"/>
          </a:solidFill>
          <a:ln w="12700">
            <a:solidFill>
              <a:srgbClr val="B8924A"/>
            </a:solidFill>
            <a:prstDash val="solid"/>
          </a:ln>
        </p:spPr>
      </p:sp>
      <p:sp>
        <p:nvSpPr>
          <p:cNvPr id="52" name="Text 50"/>
          <p:cNvSpPr/>
          <p:nvPr/>
        </p:nvSpPr>
        <p:spPr>
          <a:xfrm>
            <a:off x="7845552" y="5248656"/>
            <a:ext cx="3977640" cy="658368"/>
          </a:xfrm>
          <a:prstGeom prst="rect">
            <a:avLst/>
          </a:prstGeom>
          <a:noFill/>
          <a:ln/>
        </p:spPr>
        <p:txBody>
          <a:bodyPr wrap="square" lIns="0" tIns="0" rIns="0" bIns="0" rtlCol="0" anchor="ctr"/>
          <a:lstStyle/>
          <a:p>
            <a:pPr indent="0" marL="0">
              <a:buNone/>
            </a:pPr>
            <a:r>
              <a:rPr lang="en-US" sz="800" dirty="0">
                <a:solidFill>
                  <a:srgbClr val="3A4A58"/>
                </a:solidFill>
                <a:latin typeface="Calibri" pitchFamily="34" charset="0"/>
                <a:ea typeface="Calibri" pitchFamily="34" charset="-122"/>
                <a:cs typeface="Calibri" pitchFamily="34" charset="-120"/>
              </a:rPr>
              <a:t>PodDisruptionBudget ensures rolling deployments never reduce capacity below baseline.</a:t>
            </a:r>
            <a:endParaRPr lang="en-US" sz="800" dirty="0"/>
          </a:p>
        </p:txBody>
      </p:sp>
      <p:sp>
        <p:nvSpPr>
          <p:cNvPr id="53" name="Text 51"/>
          <p:cNvSpPr/>
          <p:nvPr/>
        </p:nvSpPr>
        <p:spPr>
          <a:xfrm>
            <a:off x="274320" y="6217920"/>
            <a:ext cx="11612880" cy="182880"/>
          </a:xfrm>
          <a:prstGeom prst="rect">
            <a:avLst/>
          </a:prstGeom>
          <a:noFill/>
          <a:ln/>
        </p:spPr>
        <p:txBody>
          <a:bodyPr wrap="square" lIns="0" tIns="0" rIns="0" bIns="0" rtlCol="0" anchor="ctr"/>
          <a:lstStyle/>
          <a:p>
            <a:pPr algn="ctr" indent="0" marL="0">
              <a:buNone/>
            </a:pPr>
            <a:r>
              <a:rPr lang="en-US" sz="700" dirty="0">
                <a:solidFill>
                  <a:srgbClr val="9AA4AE"/>
                </a:solidFill>
                <a:latin typeface="Calibri" pitchFamily="34" charset="0"/>
                <a:ea typeface="Calibri" pitchFamily="34" charset="-122"/>
                <a:cs typeface="Calibri" pitchFamily="34" charset="-120"/>
              </a:rPr>
              <a:t>INTERNAL — 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Risk Assessment &amp; Controls</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Text 3"/>
          <p:cNvSpPr/>
          <p:nvPr/>
        </p:nvSpPr>
        <p:spPr>
          <a:xfrm>
            <a:off x="274320" y="457200"/>
            <a:ext cx="11612880" cy="274320"/>
          </a:xfrm>
          <a:prstGeom prst="rect">
            <a:avLst/>
          </a:prstGeom>
          <a:noFill/>
          <a:ln/>
        </p:spPr>
        <p:txBody>
          <a:bodyPr wrap="square" lIns="0" tIns="0" rIns="0" bIns="0" rtlCol="0" anchor="ctr"/>
          <a:lstStyle/>
          <a:p>
            <a:pPr indent="0" marL="0">
              <a:buNone/>
            </a:pPr>
            <a:r>
              <a:rPr lang="en-US" sz="850" i="1" dirty="0">
                <a:solidFill>
                  <a:srgbClr val="3A4A58"/>
                </a:solidFill>
                <a:latin typeface="Calibri" pitchFamily="34" charset="0"/>
                <a:ea typeface="Calibri" pitchFamily="34" charset="-122"/>
                <a:cs typeface="Calibri" pitchFamily="34" charset="-120"/>
              </a:rPr>
              <a:t>The following risks have been identified and mitigated through the proposed architecture. Residual risk in each case is assessed as Low.</a:t>
            </a:r>
            <a:endParaRPr lang="en-US" sz="850" dirty="0"/>
          </a:p>
        </p:txBody>
      </p:sp>
      <p:sp>
        <p:nvSpPr>
          <p:cNvPr id="6" name="Shape 4"/>
          <p:cNvSpPr/>
          <p:nvPr/>
        </p:nvSpPr>
        <p:spPr>
          <a:xfrm>
            <a:off x="274320" y="804672"/>
            <a:ext cx="2194560" cy="292608"/>
          </a:xfrm>
          <a:prstGeom prst="rect">
            <a:avLst/>
          </a:prstGeom>
          <a:solidFill>
            <a:srgbClr val="263446"/>
          </a:solidFill>
          <a:ln w="6350">
            <a:solidFill>
              <a:srgbClr val="FFFFFF"/>
            </a:solidFill>
            <a:prstDash val="solid"/>
          </a:ln>
        </p:spPr>
      </p:sp>
      <p:sp>
        <p:nvSpPr>
          <p:cNvPr id="7" name="Text 5"/>
          <p:cNvSpPr/>
          <p:nvPr/>
        </p:nvSpPr>
        <p:spPr>
          <a:xfrm>
            <a:off x="329184" y="804672"/>
            <a:ext cx="212140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Risk</a:t>
            </a:r>
            <a:endParaRPr lang="en-US" sz="750" dirty="0"/>
          </a:p>
        </p:txBody>
      </p:sp>
      <p:sp>
        <p:nvSpPr>
          <p:cNvPr id="8" name="Shape 6"/>
          <p:cNvSpPr/>
          <p:nvPr/>
        </p:nvSpPr>
        <p:spPr>
          <a:xfrm>
            <a:off x="2487168" y="804672"/>
            <a:ext cx="1280160" cy="292608"/>
          </a:xfrm>
          <a:prstGeom prst="rect">
            <a:avLst/>
          </a:prstGeom>
          <a:solidFill>
            <a:srgbClr val="263446"/>
          </a:solidFill>
          <a:ln w="6350">
            <a:solidFill>
              <a:srgbClr val="FFFFFF"/>
            </a:solidFill>
            <a:prstDash val="solid"/>
          </a:ln>
        </p:spPr>
      </p:sp>
      <p:sp>
        <p:nvSpPr>
          <p:cNvPr id="9" name="Text 7"/>
          <p:cNvSpPr/>
          <p:nvPr/>
        </p:nvSpPr>
        <p:spPr>
          <a:xfrm>
            <a:off x="2542032" y="804672"/>
            <a:ext cx="120700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Category</a:t>
            </a:r>
            <a:endParaRPr lang="en-US" sz="750" dirty="0"/>
          </a:p>
        </p:txBody>
      </p:sp>
      <p:sp>
        <p:nvSpPr>
          <p:cNvPr id="10" name="Shape 8"/>
          <p:cNvSpPr/>
          <p:nvPr/>
        </p:nvSpPr>
        <p:spPr>
          <a:xfrm>
            <a:off x="3785616" y="804672"/>
            <a:ext cx="1097280" cy="292608"/>
          </a:xfrm>
          <a:prstGeom prst="rect">
            <a:avLst/>
          </a:prstGeom>
          <a:solidFill>
            <a:srgbClr val="263446"/>
          </a:solidFill>
          <a:ln w="6350">
            <a:solidFill>
              <a:srgbClr val="FFFFFF"/>
            </a:solidFill>
            <a:prstDash val="solid"/>
          </a:ln>
        </p:spPr>
      </p:sp>
      <p:sp>
        <p:nvSpPr>
          <p:cNvPr id="11" name="Text 9"/>
          <p:cNvSpPr/>
          <p:nvPr/>
        </p:nvSpPr>
        <p:spPr>
          <a:xfrm>
            <a:off x="3840480" y="804672"/>
            <a:ext cx="102412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Inherent Risk</a:t>
            </a:r>
            <a:endParaRPr lang="en-US" sz="750" dirty="0"/>
          </a:p>
        </p:txBody>
      </p:sp>
      <p:sp>
        <p:nvSpPr>
          <p:cNvPr id="12" name="Shape 10"/>
          <p:cNvSpPr/>
          <p:nvPr/>
        </p:nvSpPr>
        <p:spPr>
          <a:xfrm>
            <a:off x="4901184" y="804672"/>
            <a:ext cx="4754880" cy="292608"/>
          </a:xfrm>
          <a:prstGeom prst="rect">
            <a:avLst/>
          </a:prstGeom>
          <a:solidFill>
            <a:srgbClr val="263446"/>
          </a:solidFill>
          <a:ln w="6350">
            <a:solidFill>
              <a:srgbClr val="FFFFFF"/>
            </a:solidFill>
            <a:prstDash val="solid"/>
          </a:ln>
        </p:spPr>
      </p:sp>
      <p:sp>
        <p:nvSpPr>
          <p:cNvPr id="13" name="Text 11"/>
          <p:cNvSpPr/>
          <p:nvPr/>
        </p:nvSpPr>
        <p:spPr>
          <a:xfrm>
            <a:off x="4956048" y="804672"/>
            <a:ext cx="468172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Control Measures</a:t>
            </a:r>
            <a:endParaRPr lang="en-US" sz="750" dirty="0"/>
          </a:p>
        </p:txBody>
      </p:sp>
      <p:sp>
        <p:nvSpPr>
          <p:cNvPr id="14" name="Shape 12"/>
          <p:cNvSpPr/>
          <p:nvPr/>
        </p:nvSpPr>
        <p:spPr>
          <a:xfrm>
            <a:off x="9674352" y="804672"/>
            <a:ext cx="1097280" cy="292608"/>
          </a:xfrm>
          <a:prstGeom prst="rect">
            <a:avLst/>
          </a:prstGeom>
          <a:solidFill>
            <a:srgbClr val="263446"/>
          </a:solidFill>
          <a:ln w="6350">
            <a:solidFill>
              <a:srgbClr val="FFFFFF"/>
            </a:solidFill>
            <a:prstDash val="solid"/>
          </a:ln>
        </p:spPr>
      </p:sp>
      <p:sp>
        <p:nvSpPr>
          <p:cNvPr id="15" name="Text 13"/>
          <p:cNvSpPr/>
          <p:nvPr/>
        </p:nvSpPr>
        <p:spPr>
          <a:xfrm>
            <a:off x="9729216" y="804672"/>
            <a:ext cx="102412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Residual Risk</a:t>
            </a:r>
            <a:endParaRPr lang="en-US" sz="750" dirty="0"/>
          </a:p>
        </p:txBody>
      </p:sp>
      <p:sp>
        <p:nvSpPr>
          <p:cNvPr id="16" name="Shape 14"/>
          <p:cNvSpPr/>
          <p:nvPr/>
        </p:nvSpPr>
        <p:spPr>
          <a:xfrm>
            <a:off x="10789920" y="804672"/>
            <a:ext cx="1097280" cy="292608"/>
          </a:xfrm>
          <a:prstGeom prst="rect">
            <a:avLst/>
          </a:prstGeom>
          <a:solidFill>
            <a:srgbClr val="263446"/>
          </a:solidFill>
          <a:ln w="6350">
            <a:solidFill>
              <a:srgbClr val="FFFFFF"/>
            </a:solidFill>
            <a:prstDash val="solid"/>
          </a:ln>
        </p:spPr>
      </p:sp>
      <p:sp>
        <p:nvSpPr>
          <p:cNvPr id="17" name="Text 15"/>
          <p:cNvSpPr/>
          <p:nvPr/>
        </p:nvSpPr>
        <p:spPr>
          <a:xfrm>
            <a:off x="10844784" y="804672"/>
            <a:ext cx="1024128" cy="292608"/>
          </a:xfrm>
          <a:prstGeom prst="rect">
            <a:avLst/>
          </a:prstGeom>
          <a:noFill/>
          <a:ln/>
        </p:spPr>
        <p:txBody>
          <a:bodyPr wrap="square" lIns="0" tIns="0" rIns="0" bIns="0" rtlCol="0" anchor="ctr"/>
          <a:lstStyle/>
          <a:p>
            <a:pPr indent="0" marL="0">
              <a:buNone/>
            </a:pPr>
            <a:r>
              <a:rPr lang="en-US" sz="750" b="1" dirty="0">
                <a:solidFill>
                  <a:srgbClr val="D0DCE8"/>
                </a:solidFill>
                <a:latin typeface="Calibri" pitchFamily="34" charset="0"/>
                <a:ea typeface="Calibri" pitchFamily="34" charset="-122"/>
                <a:cs typeface="Calibri" pitchFamily="34" charset="-120"/>
              </a:rPr>
              <a:t>Owner</a:t>
            </a:r>
            <a:endParaRPr lang="en-US" sz="750" dirty="0"/>
          </a:p>
        </p:txBody>
      </p:sp>
      <p:sp>
        <p:nvSpPr>
          <p:cNvPr id="18" name="Shape 16"/>
          <p:cNvSpPr/>
          <p:nvPr/>
        </p:nvSpPr>
        <p:spPr>
          <a:xfrm>
            <a:off x="274320" y="1097280"/>
            <a:ext cx="11612880" cy="658368"/>
          </a:xfrm>
          <a:prstGeom prst="rect">
            <a:avLst/>
          </a:prstGeom>
          <a:solidFill>
            <a:srgbClr val="FFFFFF"/>
          </a:solidFill>
          <a:ln w="6350">
            <a:solidFill>
              <a:srgbClr val="D8DADE"/>
            </a:solidFill>
            <a:prstDash val="solid"/>
          </a:ln>
        </p:spPr>
      </p:sp>
      <p:sp>
        <p:nvSpPr>
          <p:cNvPr id="19" name="Text 17"/>
          <p:cNvSpPr/>
          <p:nvPr/>
        </p:nvSpPr>
        <p:spPr>
          <a:xfrm>
            <a:off x="329184" y="1133856"/>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PII Data Breach</a:t>
            </a:r>
            <a:endParaRPr lang="en-US" sz="750" dirty="0"/>
          </a:p>
        </p:txBody>
      </p:sp>
      <p:sp>
        <p:nvSpPr>
          <p:cNvPr id="20" name="Text 18"/>
          <p:cNvSpPr/>
          <p:nvPr/>
        </p:nvSpPr>
        <p:spPr>
          <a:xfrm>
            <a:off x="2542032" y="1133856"/>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Security</a:t>
            </a:r>
            <a:endParaRPr lang="en-US" sz="700" dirty="0"/>
          </a:p>
        </p:txBody>
      </p:sp>
      <p:sp>
        <p:nvSpPr>
          <p:cNvPr id="21" name="Shape 19"/>
          <p:cNvSpPr/>
          <p:nvPr/>
        </p:nvSpPr>
        <p:spPr>
          <a:xfrm>
            <a:off x="3840480" y="1261872"/>
            <a:ext cx="914400" cy="256032"/>
          </a:xfrm>
          <a:prstGeom prst="rect">
            <a:avLst/>
          </a:prstGeom>
          <a:solidFill>
            <a:srgbClr val="A85A50"/>
          </a:solidFill>
          <a:ln w="12700">
            <a:solidFill>
              <a:srgbClr val="A85A50"/>
            </a:solidFill>
            <a:prstDash val="solid"/>
          </a:ln>
        </p:spPr>
      </p:sp>
      <p:sp>
        <p:nvSpPr>
          <p:cNvPr id="22" name="Text 20"/>
          <p:cNvSpPr/>
          <p:nvPr/>
        </p:nvSpPr>
        <p:spPr>
          <a:xfrm>
            <a:off x="3840480" y="1261872"/>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23" name="Text 21"/>
          <p:cNvSpPr/>
          <p:nvPr/>
        </p:nvSpPr>
        <p:spPr>
          <a:xfrm>
            <a:off x="4956048" y="1124712"/>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AES-128/GCM field-level encryption at rest; TLS 1.2+ in transit; VPC Service Controls perimeter; no public IPs on data services; PII masked in all log output.</a:t>
            </a:r>
            <a:endParaRPr lang="en-US" sz="680" dirty="0"/>
          </a:p>
        </p:txBody>
      </p:sp>
      <p:sp>
        <p:nvSpPr>
          <p:cNvPr id="24" name="Shape 22"/>
          <p:cNvSpPr/>
          <p:nvPr/>
        </p:nvSpPr>
        <p:spPr>
          <a:xfrm>
            <a:off x="9729216" y="1261872"/>
            <a:ext cx="914400" cy="256032"/>
          </a:xfrm>
          <a:prstGeom prst="rect">
            <a:avLst/>
          </a:prstGeom>
          <a:solidFill>
            <a:srgbClr val="4D8A5C"/>
          </a:solidFill>
          <a:ln w="12700">
            <a:solidFill>
              <a:srgbClr val="4D8A5C"/>
            </a:solidFill>
            <a:prstDash val="solid"/>
          </a:ln>
        </p:spPr>
      </p:sp>
      <p:sp>
        <p:nvSpPr>
          <p:cNvPr id="25" name="Text 23"/>
          <p:cNvSpPr/>
          <p:nvPr/>
        </p:nvSpPr>
        <p:spPr>
          <a:xfrm>
            <a:off x="9729216" y="1261872"/>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26" name="Text 24"/>
          <p:cNvSpPr/>
          <p:nvPr/>
        </p:nvSpPr>
        <p:spPr>
          <a:xfrm>
            <a:off x="10844784" y="1133856"/>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CISO</a:t>
            </a:r>
            <a:endParaRPr lang="en-US" sz="700" dirty="0"/>
          </a:p>
        </p:txBody>
      </p:sp>
      <p:sp>
        <p:nvSpPr>
          <p:cNvPr id="27" name="Shape 25"/>
          <p:cNvSpPr/>
          <p:nvPr/>
        </p:nvSpPr>
        <p:spPr>
          <a:xfrm>
            <a:off x="274320" y="1755648"/>
            <a:ext cx="11612880" cy="658368"/>
          </a:xfrm>
          <a:prstGeom prst="rect">
            <a:avLst/>
          </a:prstGeom>
          <a:solidFill>
            <a:srgbClr val="F0F2F4"/>
          </a:solidFill>
          <a:ln w="6350">
            <a:solidFill>
              <a:srgbClr val="D8DADE"/>
            </a:solidFill>
            <a:prstDash val="solid"/>
          </a:ln>
        </p:spPr>
      </p:sp>
      <p:sp>
        <p:nvSpPr>
          <p:cNvPr id="28" name="Text 26"/>
          <p:cNvSpPr/>
          <p:nvPr/>
        </p:nvSpPr>
        <p:spPr>
          <a:xfrm>
            <a:off x="329184" y="1792224"/>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Unauthorised Access</a:t>
            </a:r>
            <a:endParaRPr lang="en-US" sz="750" dirty="0"/>
          </a:p>
        </p:txBody>
      </p:sp>
      <p:sp>
        <p:nvSpPr>
          <p:cNvPr id="29" name="Text 27"/>
          <p:cNvSpPr/>
          <p:nvPr/>
        </p:nvSpPr>
        <p:spPr>
          <a:xfrm>
            <a:off x="2542032" y="1792224"/>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Security</a:t>
            </a:r>
            <a:endParaRPr lang="en-US" sz="700" dirty="0"/>
          </a:p>
        </p:txBody>
      </p:sp>
      <p:sp>
        <p:nvSpPr>
          <p:cNvPr id="30" name="Shape 28"/>
          <p:cNvSpPr/>
          <p:nvPr/>
        </p:nvSpPr>
        <p:spPr>
          <a:xfrm>
            <a:off x="3840480" y="1920240"/>
            <a:ext cx="914400" cy="256032"/>
          </a:xfrm>
          <a:prstGeom prst="rect">
            <a:avLst/>
          </a:prstGeom>
          <a:solidFill>
            <a:srgbClr val="A85A50"/>
          </a:solidFill>
          <a:ln w="12700">
            <a:solidFill>
              <a:srgbClr val="A85A50"/>
            </a:solidFill>
            <a:prstDash val="solid"/>
          </a:ln>
        </p:spPr>
      </p:sp>
      <p:sp>
        <p:nvSpPr>
          <p:cNvPr id="31" name="Text 29"/>
          <p:cNvSpPr/>
          <p:nvPr/>
        </p:nvSpPr>
        <p:spPr>
          <a:xfrm>
            <a:off x="3840480" y="1920240"/>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32" name="Text 30"/>
          <p:cNvSpPr/>
          <p:nvPr/>
        </p:nvSpPr>
        <p:spPr>
          <a:xfrm>
            <a:off x="4956048" y="1783080"/>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OAuth 2.0 Client Credentials enforced at API Gateway; Workload Identity (no static keys); Cloud Armor WAF at ingress; least-privilege IAM roles per service account.</a:t>
            </a:r>
            <a:endParaRPr lang="en-US" sz="680" dirty="0"/>
          </a:p>
        </p:txBody>
      </p:sp>
      <p:sp>
        <p:nvSpPr>
          <p:cNvPr id="33" name="Shape 31"/>
          <p:cNvSpPr/>
          <p:nvPr/>
        </p:nvSpPr>
        <p:spPr>
          <a:xfrm>
            <a:off x="9729216" y="1920240"/>
            <a:ext cx="914400" cy="256032"/>
          </a:xfrm>
          <a:prstGeom prst="rect">
            <a:avLst/>
          </a:prstGeom>
          <a:solidFill>
            <a:srgbClr val="4D8A5C"/>
          </a:solidFill>
          <a:ln w="12700">
            <a:solidFill>
              <a:srgbClr val="4D8A5C"/>
            </a:solidFill>
            <a:prstDash val="solid"/>
          </a:ln>
        </p:spPr>
      </p:sp>
      <p:sp>
        <p:nvSpPr>
          <p:cNvPr id="34" name="Text 32"/>
          <p:cNvSpPr/>
          <p:nvPr/>
        </p:nvSpPr>
        <p:spPr>
          <a:xfrm>
            <a:off x="9729216" y="1920240"/>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35" name="Text 33"/>
          <p:cNvSpPr/>
          <p:nvPr/>
        </p:nvSpPr>
        <p:spPr>
          <a:xfrm>
            <a:off x="10844784" y="1792224"/>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CISO</a:t>
            </a:r>
            <a:endParaRPr lang="en-US" sz="700" dirty="0"/>
          </a:p>
        </p:txBody>
      </p:sp>
      <p:sp>
        <p:nvSpPr>
          <p:cNvPr id="36" name="Shape 34"/>
          <p:cNvSpPr/>
          <p:nvPr/>
        </p:nvSpPr>
        <p:spPr>
          <a:xfrm>
            <a:off x="274320" y="2414016"/>
            <a:ext cx="11612880" cy="658368"/>
          </a:xfrm>
          <a:prstGeom prst="rect">
            <a:avLst/>
          </a:prstGeom>
          <a:solidFill>
            <a:srgbClr val="FFFFFF"/>
          </a:solidFill>
          <a:ln w="6350">
            <a:solidFill>
              <a:srgbClr val="D8DADE"/>
            </a:solidFill>
            <a:prstDash val="solid"/>
          </a:ln>
        </p:spPr>
      </p:sp>
      <p:sp>
        <p:nvSpPr>
          <p:cNvPr id="37" name="Text 35"/>
          <p:cNvSpPr/>
          <p:nvPr/>
        </p:nvSpPr>
        <p:spPr>
          <a:xfrm>
            <a:off x="329184" y="2450592"/>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Service Unavailability</a:t>
            </a:r>
            <a:endParaRPr lang="en-US" sz="750" dirty="0"/>
          </a:p>
        </p:txBody>
      </p:sp>
      <p:sp>
        <p:nvSpPr>
          <p:cNvPr id="38" name="Text 36"/>
          <p:cNvSpPr/>
          <p:nvPr/>
        </p:nvSpPr>
        <p:spPr>
          <a:xfrm>
            <a:off x="2542032" y="2450592"/>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Operational</a:t>
            </a:r>
            <a:endParaRPr lang="en-US" sz="700" dirty="0"/>
          </a:p>
        </p:txBody>
      </p:sp>
      <p:sp>
        <p:nvSpPr>
          <p:cNvPr id="39" name="Shape 37"/>
          <p:cNvSpPr/>
          <p:nvPr/>
        </p:nvSpPr>
        <p:spPr>
          <a:xfrm>
            <a:off x="3840480" y="2578608"/>
            <a:ext cx="914400" cy="256032"/>
          </a:xfrm>
          <a:prstGeom prst="rect">
            <a:avLst/>
          </a:prstGeom>
          <a:solidFill>
            <a:srgbClr val="B8924A"/>
          </a:solidFill>
          <a:ln w="12700">
            <a:solidFill>
              <a:srgbClr val="B8924A"/>
            </a:solidFill>
            <a:prstDash val="solid"/>
          </a:ln>
        </p:spPr>
      </p:sp>
      <p:sp>
        <p:nvSpPr>
          <p:cNvPr id="40" name="Text 38"/>
          <p:cNvSpPr/>
          <p:nvPr/>
        </p:nvSpPr>
        <p:spPr>
          <a:xfrm>
            <a:off x="3840480" y="2578608"/>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41" name="Text 39"/>
          <p:cNvSpPr/>
          <p:nvPr/>
        </p:nvSpPr>
        <p:spPr>
          <a:xfrm>
            <a:off x="4956048" y="2441448"/>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Cloud SQL HA with automated failover and read replica; GKE HPA min 2 pods; PodDisruptionBudget; 99.9% GCP uptime SLA; async Pub/Sub decouples downstream delivery.</a:t>
            </a:r>
            <a:endParaRPr lang="en-US" sz="680" dirty="0"/>
          </a:p>
        </p:txBody>
      </p:sp>
      <p:sp>
        <p:nvSpPr>
          <p:cNvPr id="42" name="Shape 40"/>
          <p:cNvSpPr/>
          <p:nvPr/>
        </p:nvSpPr>
        <p:spPr>
          <a:xfrm>
            <a:off x="9729216" y="2578608"/>
            <a:ext cx="914400" cy="256032"/>
          </a:xfrm>
          <a:prstGeom prst="rect">
            <a:avLst/>
          </a:prstGeom>
          <a:solidFill>
            <a:srgbClr val="4D8A5C"/>
          </a:solidFill>
          <a:ln w="12700">
            <a:solidFill>
              <a:srgbClr val="4D8A5C"/>
            </a:solidFill>
            <a:prstDash val="solid"/>
          </a:ln>
        </p:spPr>
      </p:sp>
      <p:sp>
        <p:nvSpPr>
          <p:cNvPr id="43" name="Text 41"/>
          <p:cNvSpPr/>
          <p:nvPr/>
        </p:nvSpPr>
        <p:spPr>
          <a:xfrm>
            <a:off x="9729216" y="2578608"/>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44" name="Text 42"/>
          <p:cNvSpPr/>
          <p:nvPr/>
        </p:nvSpPr>
        <p:spPr>
          <a:xfrm>
            <a:off x="10844784" y="2450592"/>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Engineering</a:t>
            </a:r>
            <a:endParaRPr lang="en-US" sz="700" dirty="0"/>
          </a:p>
        </p:txBody>
      </p:sp>
      <p:sp>
        <p:nvSpPr>
          <p:cNvPr id="45" name="Shape 43"/>
          <p:cNvSpPr/>
          <p:nvPr/>
        </p:nvSpPr>
        <p:spPr>
          <a:xfrm>
            <a:off x="274320" y="3072384"/>
            <a:ext cx="11612880" cy="658368"/>
          </a:xfrm>
          <a:prstGeom prst="rect">
            <a:avLst/>
          </a:prstGeom>
          <a:solidFill>
            <a:srgbClr val="F0F2F4"/>
          </a:solidFill>
          <a:ln w="6350">
            <a:solidFill>
              <a:srgbClr val="D8DADE"/>
            </a:solidFill>
            <a:prstDash val="solid"/>
          </a:ln>
        </p:spPr>
      </p:sp>
      <p:sp>
        <p:nvSpPr>
          <p:cNvPr id="46" name="Text 44"/>
          <p:cNvSpPr/>
          <p:nvPr/>
        </p:nvSpPr>
        <p:spPr>
          <a:xfrm>
            <a:off x="329184" y="3108960"/>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Regulatory Non-Compliance</a:t>
            </a:r>
            <a:endParaRPr lang="en-US" sz="750" dirty="0"/>
          </a:p>
        </p:txBody>
      </p:sp>
      <p:sp>
        <p:nvSpPr>
          <p:cNvPr id="47" name="Text 45"/>
          <p:cNvSpPr/>
          <p:nvPr/>
        </p:nvSpPr>
        <p:spPr>
          <a:xfrm>
            <a:off x="2542032" y="3108960"/>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Compliance</a:t>
            </a:r>
            <a:endParaRPr lang="en-US" sz="700" dirty="0"/>
          </a:p>
        </p:txBody>
      </p:sp>
      <p:sp>
        <p:nvSpPr>
          <p:cNvPr id="48" name="Shape 46"/>
          <p:cNvSpPr/>
          <p:nvPr/>
        </p:nvSpPr>
        <p:spPr>
          <a:xfrm>
            <a:off x="3840480" y="3236976"/>
            <a:ext cx="914400" cy="256032"/>
          </a:xfrm>
          <a:prstGeom prst="rect">
            <a:avLst/>
          </a:prstGeom>
          <a:solidFill>
            <a:srgbClr val="A85A50"/>
          </a:solidFill>
          <a:ln w="12700">
            <a:solidFill>
              <a:srgbClr val="A85A50"/>
            </a:solidFill>
            <a:prstDash val="solid"/>
          </a:ln>
        </p:spPr>
      </p:sp>
      <p:sp>
        <p:nvSpPr>
          <p:cNvPr id="49" name="Text 47"/>
          <p:cNvSpPr/>
          <p:nvPr/>
        </p:nvSpPr>
        <p:spPr>
          <a:xfrm>
            <a:off x="3840480" y="3236976"/>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50" name="Text 48"/>
          <p:cNvSpPr/>
          <p:nvPr/>
        </p:nvSpPr>
        <p:spPr>
          <a:xfrm>
            <a:off x="4956048" y="3099816"/>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Immutable audit trail in BigQuery with 7-year retention; CMEK encryption satisfies data residency; automated ON_HOLD routing prevents un-reviewed high-risk approvals.</a:t>
            </a:r>
            <a:endParaRPr lang="en-US" sz="680" dirty="0"/>
          </a:p>
        </p:txBody>
      </p:sp>
      <p:sp>
        <p:nvSpPr>
          <p:cNvPr id="51" name="Shape 49"/>
          <p:cNvSpPr/>
          <p:nvPr/>
        </p:nvSpPr>
        <p:spPr>
          <a:xfrm>
            <a:off x="9729216" y="3236976"/>
            <a:ext cx="914400" cy="256032"/>
          </a:xfrm>
          <a:prstGeom prst="rect">
            <a:avLst/>
          </a:prstGeom>
          <a:solidFill>
            <a:srgbClr val="4D8A5C"/>
          </a:solidFill>
          <a:ln w="12700">
            <a:solidFill>
              <a:srgbClr val="4D8A5C"/>
            </a:solidFill>
            <a:prstDash val="solid"/>
          </a:ln>
        </p:spPr>
      </p:sp>
      <p:sp>
        <p:nvSpPr>
          <p:cNvPr id="52" name="Text 50"/>
          <p:cNvSpPr/>
          <p:nvPr/>
        </p:nvSpPr>
        <p:spPr>
          <a:xfrm>
            <a:off x="9729216" y="3236976"/>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53" name="Text 51"/>
          <p:cNvSpPr/>
          <p:nvPr/>
        </p:nvSpPr>
        <p:spPr>
          <a:xfrm>
            <a:off x="10844784" y="3108960"/>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Compliance</a:t>
            </a:r>
            <a:endParaRPr lang="en-US" sz="700" dirty="0"/>
          </a:p>
        </p:txBody>
      </p:sp>
      <p:sp>
        <p:nvSpPr>
          <p:cNvPr id="54" name="Shape 52"/>
          <p:cNvSpPr/>
          <p:nvPr/>
        </p:nvSpPr>
        <p:spPr>
          <a:xfrm>
            <a:off x="274320" y="3730752"/>
            <a:ext cx="11612880" cy="658368"/>
          </a:xfrm>
          <a:prstGeom prst="rect">
            <a:avLst/>
          </a:prstGeom>
          <a:solidFill>
            <a:srgbClr val="FFFFFF"/>
          </a:solidFill>
          <a:ln w="6350">
            <a:solidFill>
              <a:srgbClr val="D8DADE"/>
            </a:solidFill>
            <a:prstDash val="solid"/>
          </a:ln>
        </p:spPr>
      </p:sp>
      <p:sp>
        <p:nvSpPr>
          <p:cNvPr id="55" name="Text 53"/>
          <p:cNvSpPr/>
          <p:nvPr/>
        </p:nvSpPr>
        <p:spPr>
          <a:xfrm>
            <a:off x="329184" y="3767328"/>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Third-Party API Failure</a:t>
            </a:r>
            <a:endParaRPr lang="en-US" sz="750" dirty="0"/>
          </a:p>
        </p:txBody>
      </p:sp>
      <p:sp>
        <p:nvSpPr>
          <p:cNvPr id="56" name="Text 54"/>
          <p:cNvSpPr/>
          <p:nvPr/>
        </p:nvSpPr>
        <p:spPr>
          <a:xfrm>
            <a:off x="2542032" y="3767328"/>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Operational</a:t>
            </a:r>
            <a:endParaRPr lang="en-US" sz="700" dirty="0"/>
          </a:p>
        </p:txBody>
      </p:sp>
      <p:sp>
        <p:nvSpPr>
          <p:cNvPr id="57" name="Shape 55"/>
          <p:cNvSpPr/>
          <p:nvPr/>
        </p:nvSpPr>
        <p:spPr>
          <a:xfrm>
            <a:off x="3840480" y="3895344"/>
            <a:ext cx="914400" cy="256032"/>
          </a:xfrm>
          <a:prstGeom prst="rect">
            <a:avLst/>
          </a:prstGeom>
          <a:solidFill>
            <a:srgbClr val="B8924A"/>
          </a:solidFill>
          <a:ln w="12700">
            <a:solidFill>
              <a:srgbClr val="B8924A"/>
            </a:solidFill>
            <a:prstDash val="solid"/>
          </a:ln>
        </p:spPr>
      </p:sp>
      <p:sp>
        <p:nvSpPr>
          <p:cNvPr id="58" name="Text 56"/>
          <p:cNvSpPr/>
          <p:nvPr/>
        </p:nvSpPr>
        <p:spPr>
          <a:xfrm>
            <a:off x="3840480" y="3895344"/>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59" name="Text 57"/>
          <p:cNvSpPr/>
          <p:nvPr/>
        </p:nvSpPr>
        <p:spPr>
          <a:xfrm>
            <a:off x="4956048" y="3758184"/>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CompletableFuture orchestration with independent timeouts per upstream (KYC-NCA, NLS, CRRE); exponential back-off retry (3 attempts); dead-letter queue for failed webhooks.</a:t>
            </a:r>
            <a:endParaRPr lang="en-US" sz="680" dirty="0"/>
          </a:p>
        </p:txBody>
      </p:sp>
      <p:sp>
        <p:nvSpPr>
          <p:cNvPr id="60" name="Shape 58"/>
          <p:cNvSpPr/>
          <p:nvPr/>
        </p:nvSpPr>
        <p:spPr>
          <a:xfrm>
            <a:off x="9729216" y="3895344"/>
            <a:ext cx="914400" cy="256032"/>
          </a:xfrm>
          <a:prstGeom prst="rect">
            <a:avLst/>
          </a:prstGeom>
          <a:solidFill>
            <a:srgbClr val="4D8A5C"/>
          </a:solidFill>
          <a:ln w="12700">
            <a:solidFill>
              <a:srgbClr val="4D8A5C"/>
            </a:solidFill>
            <a:prstDash val="solid"/>
          </a:ln>
        </p:spPr>
      </p:sp>
      <p:sp>
        <p:nvSpPr>
          <p:cNvPr id="61" name="Text 59"/>
          <p:cNvSpPr/>
          <p:nvPr/>
        </p:nvSpPr>
        <p:spPr>
          <a:xfrm>
            <a:off x="9729216" y="3895344"/>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62" name="Text 60"/>
          <p:cNvSpPr/>
          <p:nvPr/>
        </p:nvSpPr>
        <p:spPr>
          <a:xfrm>
            <a:off x="10844784" y="3767328"/>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Engineering</a:t>
            </a:r>
            <a:endParaRPr lang="en-US" sz="700" dirty="0"/>
          </a:p>
        </p:txBody>
      </p:sp>
      <p:sp>
        <p:nvSpPr>
          <p:cNvPr id="63" name="Shape 61"/>
          <p:cNvSpPr/>
          <p:nvPr/>
        </p:nvSpPr>
        <p:spPr>
          <a:xfrm>
            <a:off x="274320" y="4389120"/>
            <a:ext cx="11612880" cy="658368"/>
          </a:xfrm>
          <a:prstGeom prst="rect">
            <a:avLst/>
          </a:prstGeom>
          <a:solidFill>
            <a:srgbClr val="F0F2F4"/>
          </a:solidFill>
          <a:ln w="6350">
            <a:solidFill>
              <a:srgbClr val="D8DADE"/>
            </a:solidFill>
            <a:prstDash val="solid"/>
          </a:ln>
        </p:spPr>
      </p:sp>
      <p:sp>
        <p:nvSpPr>
          <p:cNvPr id="64" name="Text 62"/>
          <p:cNvSpPr/>
          <p:nvPr/>
        </p:nvSpPr>
        <p:spPr>
          <a:xfrm>
            <a:off x="329184" y="4425696"/>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Secret / Key Compromise</a:t>
            </a:r>
            <a:endParaRPr lang="en-US" sz="750" dirty="0"/>
          </a:p>
        </p:txBody>
      </p:sp>
      <p:sp>
        <p:nvSpPr>
          <p:cNvPr id="65" name="Text 63"/>
          <p:cNvSpPr/>
          <p:nvPr/>
        </p:nvSpPr>
        <p:spPr>
          <a:xfrm>
            <a:off x="2542032" y="4425696"/>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Security</a:t>
            </a:r>
            <a:endParaRPr lang="en-US" sz="700" dirty="0"/>
          </a:p>
        </p:txBody>
      </p:sp>
      <p:sp>
        <p:nvSpPr>
          <p:cNvPr id="66" name="Shape 64"/>
          <p:cNvSpPr/>
          <p:nvPr/>
        </p:nvSpPr>
        <p:spPr>
          <a:xfrm>
            <a:off x="3840480" y="4553712"/>
            <a:ext cx="914400" cy="256032"/>
          </a:xfrm>
          <a:prstGeom prst="rect">
            <a:avLst/>
          </a:prstGeom>
          <a:solidFill>
            <a:srgbClr val="B8924A"/>
          </a:solidFill>
          <a:ln w="12700">
            <a:solidFill>
              <a:srgbClr val="B8924A"/>
            </a:solidFill>
            <a:prstDash val="solid"/>
          </a:ln>
        </p:spPr>
      </p:sp>
      <p:sp>
        <p:nvSpPr>
          <p:cNvPr id="67" name="Text 65"/>
          <p:cNvSpPr/>
          <p:nvPr/>
        </p:nvSpPr>
        <p:spPr>
          <a:xfrm>
            <a:off x="3840480" y="4553712"/>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68" name="Text 66"/>
          <p:cNvSpPr/>
          <p:nvPr/>
        </p:nvSpPr>
        <p:spPr>
          <a:xfrm>
            <a:off x="4956048" y="4416552"/>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All secrets held exclusively in Secret Manager (never in code or environment variables); Cloud KMS CMEK with automatic rotation; access audited via Cloud Logging.</a:t>
            </a:r>
            <a:endParaRPr lang="en-US" sz="680" dirty="0"/>
          </a:p>
        </p:txBody>
      </p:sp>
      <p:sp>
        <p:nvSpPr>
          <p:cNvPr id="69" name="Shape 67"/>
          <p:cNvSpPr/>
          <p:nvPr/>
        </p:nvSpPr>
        <p:spPr>
          <a:xfrm>
            <a:off x="9729216" y="4553712"/>
            <a:ext cx="914400" cy="256032"/>
          </a:xfrm>
          <a:prstGeom prst="rect">
            <a:avLst/>
          </a:prstGeom>
          <a:solidFill>
            <a:srgbClr val="4D8A5C"/>
          </a:solidFill>
          <a:ln w="12700">
            <a:solidFill>
              <a:srgbClr val="4D8A5C"/>
            </a:solidFill>
            <a:prstDash val="solid"/>
          </a:ln>
        </p:spPr>
      </p:sp>
      <p:sp>
        <p:nvSpPr>
          <p:cNvPr id="70" name="Text 68"/>
          <p:cNvSpPr/>
          <p:nvPr/>
        </p:nvSpPr>
        <p:spPr>
          <a:xfrm>
            <a:off x="9729216" y="4553712"/>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71" name="Text 69"/>
          <p:cNvSpPr/>
          <p:nvPr/>
        </p:nvSpPr>
        <p:spPr>
          <a:xfrm>
            <a:off x="10844784" y="4425696"/>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CISO</a:t>
            </a:r>
            <a:endParaRPr lang="en-US" sz="700" dirty="0"/>
          </a:p>
        </p:txBody>
      </p:sp>
      <p:sp>
        <p:nvSpPr>
          <p:cNvPr id="72" name="Shape 70"/>
          <p:cNvSpPr/>
          <p:nvPr/>
        </p:nvSpPr>
        <p:spPr>
          <a:xfrm>
            <a:off x="274320" y="5047488"/>
            <a:ext cx="11612880" cy="658368"/>
          </a:xfrm>
          <a:prstGeom prst="rect">
            <a:avLst/>
          </a:prstGeom>
          <a:solidFill>
            <a:srgbClr val="FFFFFF"/>
          </a:solidFill>
          <a:ln w="6350">
            <a:solidFill>
              <a:srgbClr val="D8DADE"/>
            </a:solidFill>
            <a:prstDash val="solid"/>
          </a:ln>
        </p:spPr>
      </p:sp>
      <p:sp>
        <p:nvSpPr>
          <p:cNvPr id="73" name="Text 71"/>
          <p:cNvSpPr/>
          <p:nvPr/>
        </p:nvSpPr>
        <p:spPr>
          <a:xfrm>
            <a:off x="329184" y="5084064"/>
            <a:ext cx="2084832" cy="585216"/>
          </a:xfrm>
          <a:prstGeom prst="rect">
            <a:avLst/>
          </a:prstGeom>
          <a:noFill/>
          <a:ln/>
        </p:spPr>
        <p:txBody>
          <a:bodyPr wrap="square" lIns="0" tIns="0" rIns="0" bIns="0" rtlCol="0" anchor="ctr"/>
          <a:lstStyle/>
          <a:p>
            <a:pPr indent="0" marL="0">
              <a:buNone/>
            </a:pPr>
            <a:r>
              <a:rPr lang="en-US" sz="750" b="1" dirty="0">
                <a:solidFill>
                  <a:srgbClr val="2C3E50"/>
                </a:solidFill>
                <a:latin typeface="Calibri" pitchFamily="34" charset="0"/>
                <a:ea typeface="Calibri" pitchFamily="34" charset="-122"/>
                <a:cs typeface="Calibri" pitchFamily="34" charset="-120"/>
              </a:rPr>
              <a:t>Data Exfiltration</a:t>
            </a:r>
            <a:endParaRPr lang="en-US" sz="750" dirty="0"/>
          </a:p>
        </p:txBody>
      </p:sp>
      <p:sp>
        <p:nvSpPr>
          <p:cNvPr id="74" name="Text 72"/>
          <p:cNvSpPr/>
          <p:nvPr/>
        </p:nvSpPr>
        <p:spPr>
          <a:xfrm>
            <a:off x="2542032" y="5084064"/>
            <a:ext cx="117043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Security</a:t>
            </a:r>
            <a:endParaRPr lang="en-US" sz="700" dirty="0"/>
          </a:p>
        </p:txBody>
      </p:sp>
      <p:sp>
        <p:nvSpPr>
          <p:cNvPr id="75" name="Shape 73"/>
          <p:cNvSpPr/>
          <p:nvPr/>
        </p:nvSpPr>
        <p:spPr>
          <a:xfrm>
            <a:off x="3840480" y="5212080"/>
            <a:ext cx="914400" cy="256032"/>
          </a:xfrm>
          <a:prstGeom prst="rect">
            <a:avLst/>
          </a:prstGeom>
          <a:solidFill>
            <a:srgbClr val="B8924A"/>
          </a:solidFill>
          <a:ln w="12700">
            <a:solidFill>
              <a:srgbClr val="B8924A"/>
            </a:solidFill>
            <a:prstDash val="solid"/>
          </a:ln>
        </p:spPr>
      </p:sp>
      <p:sp>
        <p:nvSpPr>
          <p:cNvPr id="76" name="Text 74"/>
          <p:cNvSpPr/>
          <p:nvPr/>
        </p:nvSpPr>
        <p:spPr>
          <a:xfrm>
            <a:off x="3840480" y="5212080"/>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77" name="Text 75"/>
          <p:cNvSpPr/>
          <p:nvPr/>
        </p:nvSpPr>
        <p:spPr>
          <a:xfrm>
            <a:off x="4956048" y="5074920"/>
            <a:ext cx="4645152" cy="603504"/>
          </a:xfrm>
          <a:prstGeom prst="rect">
            <a:avLst/>
          </a:prstGeom>
          <a:noFill/>
          <a:ln/>
        </p:spPr>
        <p:txBody>
          <a:bodyPr wrap="square" lIns="0" tIns="0" rIns="0" bIns="0" rtlCol="0" anchor="ctr"/>
          <a:lstStyle/>
          <a:p>
            <a:pPr indent="0" marL="0">
              <a:buNone/>
            </a:pPr>
            <a:r>
              <a:rPr lang="en-US" sz="680" dirty="0">
                <a:solidFill>
                  <a:srgbClr val="3A4A58"/>
                </a:solidFill>
                <a:latin typeface="Calibri" pitchFamily="34" charset="0"/>
                <a:ea typeface="Calibri" pitchFamily="34" charset="-122"/>
                <a:cs typeface="Calibri" pitchFamily="34" charset="-120"/>
              </a:rPr>
              <a:t>VPC Service Controls access perimeter restricts egress; Workload Identity limits pod permissions to declared APIs only; all outbound calls are logged and alertable.</a:t>
            </a:r>
            <a:endParaRPr lang="en-US" sz="680" dirty="0"/>
          </a:p>
        </p:txBody>
      </p:sp>
      <p:sp>
        <p:nvSpPr>
          <p:cNvPr id="78" name="Shape 76"/>
          <p:cNvSpPr/>
          <p:nvPr/>
        </p:nvSpPr>
        <p:spPr>
          <a:xfrm>
            <a:off x="9729216" y="5212080"/>
            <a:ext cx="914400" cy="256032"/>
          </a:xfrm>
          <a:prstGeom prst="rect">
            <a:avLst/>
          </a:prstGeom>
          <a:solidFill>
            <a:srgbClr val="4D8A5C"/>
          </a:solidFill>
          <a:ln w="12700">
            <a:solidFill>
              <a:srgbClr val="4D8A5C"/>
            </a:solidFill>
            <a:prstDash val="solid"/>
          </a:ln>
        </p:spPr>
      </p:sp>
      <p:sp>
        <p:nvSpPr>
          <p:cNvPr id="79" name="Text 77"/>
          <p:cNvSpPr/>
          <p:nvPr/>
        </p:nvSpPr>
        <p:spPr>
          <a:xfrm>
            <a:off x="9729216" y="5212080"/>
            <a:ext cx="91440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80" name="Text 78"/>
          <p:cNvSpPr/>
          <p:nvPr/>
        </p:nvSpPr>
        <p:spPr>
          <a:xfrm>
            <a:off x="10844784" y="5084064"/>
            <a:ext cx="987552" cy="585216"/>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CISO</a:t>
            </a:r>
            <a:endParaRPr lang="en-US" sz="700" dirty="0"/>
          </a:p>
        </p:txBody>
      </p:sp>
      <p:sp>
        <p:nvSpPr>
          <p:cNvPr id="81" name="Text 79"/>
          <p:cNvSpPr/>
          <p:nvPr/>
        </p:nvSpPr>
        <p:spPr>
          <a:xfrm>
            <a:off x="274320" y="6601968"/>
            <a:ext cx="11612880" cy="164592"/>
          </a:xfrm>
          <a:prstGeom prst="rect">
            <a:avLst/>
          </a:prstGeom>
          <a:noFill/>
          <a:ln/>
        </p:spPr>
        <p:txBody>
          <a:bodyPr wrap="square" lIns="0" tIns="0" rIns="0" bIns="0" rtlCol="0" anchor="ctr"/>
          <a:lstStyle/>
          <a:p>
            <a:pPr algn="ctr" indent="0" marL="0">
              <a:buNone/>
            </a:pPr>
            <a:r>
              <a:rPr lang="en-US" sz="700" dirty="0">
                <a:solidFill>
                  <a:srgbClr val="9AA4AE"/>
                </a:solidFill>
                <a:latin typeface="Calibri" pitchFamily="34" charset="0"/>
                <a:ea typeface="Calibri" pitchFamily="34" charset="-122"/>
                <a:cs typeface="Calibri" pitchFamily="34" charset="-120"/>
              </a:rPr>
              <a:t>INTERNAL — CONFIDENTIAL</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Solution Architecture — GCP</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Shape 3"/>
          <p:cNvSpPr/>
          <p:nvPr/>
        </p:nvSpPr>
        <p:spPr>
          <a:xfrm>
            <a:off x="45720" y="384048"/>
            <a:ext cx="1143000" cy="6263640"/>
          </a:xfrm>
          <a:prstGeom prst="rect">
            <a:avLst/>
          </a:prstGeom>
          <a:solidFill>
            <a:srgbClr val="E9EBED"/>
          </a:solidFill>
          <a:ln w="12700">
            <a:solidFill>
              <a:srgbClr val="B0B7BF"/>
            </a:solidFill>
            <a:prstDash val="solid"/>
          </a:ln>
        </p:spPr>
      </p:sp>
      <p:sp>
        <p:nvSpPr>
          <p:cNvPr id="6" name="Text 4"/>
          <p:cNvSpPr/>
          <p:nvPr/>
        </p:nvSpPr>
        <p:spPr>
          <a:xfrm>
            <a:off x="45720" y="384048"/>
            <a:ext cx="1143000" cy="329184"/>
          </a:xfrm>
          <a:prstGeom prst="rect">
            <a:avLst/>
          </a:prstGeom>
          <a:noFill/>
          <a:ln/>
        </p:spPr>
        <p:txBody>
          <a:bodyPr wrap="square" lIns="0" tIns="0" rIns="0" bIns="0" rtlCol="0" anchor="ctr"/>
          <a:lstStyle/>
          <a:p>
            <a:pPr algn="ctr" indent="0" marL="0">
              <a:buNone/>
            </a:pPr>
            <a:r>
              <a:rPr lang="en-US" sz="700" b="1" dirty="0">
                <a:solidFill>
                  <a:srgbClr val="4A5560"/>
                </a:solidFill>
                <a:latin typeface="Calibri" pitchFamily="34" charset="0"/>
                <a:ea typeface="Calibri" pitchFamily="34" charset="-122"/>
                <a:cs typeface="Calibri" pitchFamily="34" charset="-120"/>
              </a:rPr>
              <a:t>External</a:t>
            </a:r>
            <a:endParaRPr lang="en-US" sz="700" dirty="0"/>
          </a:p>
          <a:p>
            <a:pPr algn="ctr" indent="0" marL="0">
              <a:buNone/>
            </a:pPr>
            <a:r>
              <a:rPr lang="en-US" sz="700" b="1" dirty="0">
                <a:solidFill>
                  <a:srgbClr val="4A5560"/>
                </a:solidFill>
                <a:latin typeface="Calibri" pitchFamily="34" charset="0"/>
                <a:ea typeface="Calibri" pitchFamily="34" charset="-122"/>
                <a:cs typeface="Calibri" pitchFamily="34" charset="-120"/>
              </a:rPr>
              <a:t>Systems</a:t>
            </a:r>
            <a:endParaRPr lang="en-US" sz="700" dirty="0"/>
          </a:p>
        </p:txBody>
      </p:sp>
      <p:sp>
        <p:nvSpPr>
          <p:cNvPr id="7" name="Shape 5"/>
          <p:cNvSpPr/>
          <p:nvPr/>
        </p:nvSpPr>
        <p:spPr>
          <a:xfrm>
            <a:off x="109728" y="786384"/>
            <a:ext cx="1014984" cy="365760"/>
          </a:xfrm>
          <a:prstGeom prst="rect">
            <a:avLst/>
          </a:prstGeom>
          <a:solidFill>
            <a:srgbClr val="496E96"/>
          </a:solidFill>
          <a:ln w="12700">
            <a:solidFill>
              <a:srgbClr val="FFFFFF"/>
            </a:solidFill>
            <a:prstDash val="solid"/>
          </a:ln>
        </p:spPr>
      </p:sp>
      <p:sp>
        <p:nvSpPr>
          <p:cNvPr id="8" name="Text 6"/>
          <p:cNvSpPr/>
          <p:nvPr/>
        </p:nvSpPr>
        <p:spPr>
          <a:xfrm>
            <a:off x="109728" y="786384"/>
            <a:ext cx="1014984" cy="3657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EIS Gateway</a:t>
            </a:r>
            <a:endParaRPr lang="en-US" sz="650" dirty="0"/>
          </a:p>
        </p:txBody>
      </p:sp>
      <p:sp>
        <p:nvSpPr>
          <p:cNvPr id="9" name="Shape 7"/>
          <p:cNvSpPr/>
          <p:nvPr/>
        </p:nvSpPr>
        <p:spPr>
          <a:xfrm>
            <a:off x="109728" y="1225296"/>
            <a:ext cx="1014984" cy="365760"/>
          </a:xfrm>
          <a:prstGeom prst="rect">
            <a:avLst/>
          </a:prstGeom>
          <a:solidFill>
            <a:srgbClr val="496E96"/>
          </a:solidFill>
          <a:ln w="12700">
            <a:solidFill>
              <a:srgbClr val="FFFFFF"/>
            </a:solidFill>
            <a:prstDash val="solid"/>
          </a:ln>
        </p:spPr>
      </p:sp>
      <p:sp>
        <p:nvSpPr>
          <p:cNvPr id="10" name="Text 8"/>
          <p:cNvSpPr/>
          <p:nvPr/>
        </p:nvSpPr>
        <p:spPr>
          <a:xfrm>
            <a:off x="109728" y="1225296"/>
            <a:ext cx="1014984" cy="3657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InvestiFi Gateway</a:t>
            </a:r>
            <a:endParaRPr lang="en-US" sz="650" dirty="0"/>
          </a:p>
        </p:txBody>
      </p:sp>
      <p:sp>
        <p:nvSpPr>
          <p:cNvPr id="11" name="Shape 9"/>
          <p:cNvSpPr/>
          <p:nvPr/>
        </p:nvSpPr>
        <p:spPr>
          <a:xfrm>
            <a:off x="109728" y="1828800"/>
            <a:ext cx="1014984" cy="365760"/>
          </a:xfrm>
          <a:prstGeom prst="rect">
            <a:avLst/>
          </a:prstGeom>
          <a:solidFill>
            <a:srgbClr val="9A6A30"/>
          </a:solidFill>
          <a:ln w="12700">
            <a:solidFill>
              <a:srgbClr val="FFFFFF"/>
            </a:solidFill>
            <a:prstDash val="solid"/>
          </a:ln>
        </p:spPr>
      </p:sp>
      <p:sp>
        <p:nvSpPr>
          <p:cNvPr id="12" name="Text 10"/>
          <p:cNvSpPr/>
          <p:nvPr/>
        </p:nvSpPr>
        <p:spPr>
          <a:xfrm>
            <a:off x="109728" y="1828800"/>
            <a:ext cx="1014984" cy="3657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KYC-NCA</a:t>
            </a:r>
            <a:endParaRPr lang="en-US" sz="650" dirty="0"/>
          </a:p>
        </p:txBody>
      </p:sp>
      <p:sp>
        <p:nvSpPr>
          <p:cNvPr id="13" name="Shape 11"/>
          <p:cNvSpPr/>
          <p:nvPr/>
        </p:nvSpPr>
        <p:spPr>
          <a:xfrm>
            <a:off x="109728" y="2267712"/>
            <a:ext cx="1014984" cy="365760"/>
          </a:xfrm>
          <a:prstGeom prst="rect">
            <a:avLst/>
          </a:prstGeom>
          <a:solidFill>
            <a:srgbClr val="9A6A30"/>
          </a:solidFill>
          <a:ln w="12700">
            <a:solidFill>
              <a:srgbClr val="FFFFFF"/>
            </a:solidFill>
            <a:prstDash val="solid"/>
          </a:ln>
        </p:spPr>
      </p:sp>
      <p:sp>
        <p:nvSpPr>
          <p:cNvPr id="14" name="Text 12"/>
          <p:cNvSpPr/>
          <p:nvPr/>
        </p:nvSpPr>
        <p:spPr>
          <a:xfrm>
            <a:off x="109728" y="2267712"/>
            <a:ext cx="1014984" cy="3657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NLS / NRTS</a:t>
            </a:r>
            <a:endParaRPr lang="en-US" sz="650" dirty="0"/>
          </a:p>
        </p:txBody>
      </p:sp>
      <p:sp>
        <p:nvSpPr>
          <p:cNvPr id="15" name="Shape 13"/>
          <p:cNvSpPr/>
          <p:nvPr/>
        </p:nvSpPr>
        <p:spPr>
          <a:xfrm>
            <a:off x="109728" y="2706624"/>
            <a:ext cx="1014984" cy="365760"/>
          </a:xfrm>
          <a:prstGeom prst="rect">
            <a:avLst/>
          </a:prstGeom>
          <a:solidFill>
            <a:srgbClr val="9A6A30"/>
          </a:solidFill>
          <a:ln w="12700">
            <a:solidFill>
              <a:srgbClr val="FFFFFF"/>
            </a:solidFill>
            <a:prstDash val="solid"/>
          </a:ln>
        </p:spPr>
      </p:sp>
      <p:sp>
        <p:nvSpPr>
          <p:cNvPr id="16" name="Text 14"/>
          <p:cNvSpPr/>
          <p:nvPr/>
        </p:nvSpPr>
        <p:spPr>
          <a:xfrm>
            <a:off x="109728" y="2706624"/>
            <a:ext cx="1014984" cy="36576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CRRE</a:t>
            </a:r>
            <a:endParaRPr lang="en-US" sz="650" dirty="0"/>
          </a:p>
        </p:txBody>
      </p:sp>
      <p:sp>
        <p:nvSpPr>
          <p:cNvPr id="17" name="Shape 15"/>
          <p:cNvSpPr/>
          <p:nvPr/>
        </p:nvSpPr>
        <p:spPr>
          <a:xfrm>
            <a:off x="1261872" y="384048"/>
            <a:ext cx="10853928" cy="6263640"/>
          </a:xfrm>
          <a:prstGeom prst="rect">
            <a:avLst/>
          </a:prstGeom>
          <a:solidFill>
            <a:srgbClr val="FAFBFC"/>
          </a:solidFill>
          <a:ln w="19050">
            <a:solidFill>
              <a:srgbClr val="7A9EC0"/>
            </a:solidFill>
            <a:prstDash val="solid"/>
          </a:ln>
        </p:spPr>
      </p:sp>
      <p:sp>
        <p:nvSpPr>
          <p:cNvPr id="18" name="Text 16"/>
          <p:cNvSpPr/>
          <p:nvPr/>
        </p:nvSpPr>
        <p:spPr>
          <a:xfrm>
            <a:off x="1371600" y="402336"/>
            <a:ext cx="2011680" cy="182880"/>
          </a:xfrm>
          <a:prstGeom prst="rect">
            <a:avLst/>
          </a:prstGeom>
          <a:noFill/>
          <a:ln/>
        </p:spPr>
        <p:txBody>
          <a:bodyPr wrap="square" lIns="0" tIns="0" rIns="0" bIns="0" rtlCol="0" anchor="ctr"/>
          <a:lstStyle/>
          <a:p>
            <a:pPr indent="0" marL="0">
              <a:buNone/>
            </a:pPr>
            <a:r>
              <a:rPr lang="en-US" sz="700" b="1" dirty="0">
                <a:solidFill>
                  <a:srgbClr val="7A9EC0"/>
                </a:solidFill>
                <a:latin typeface="Calibri" pitchFamily="34" charset="0"/>
                <a:ea typeface="Calibri" pitchFamily="34" charset="-122"/>
                <a:cs typeface="Calibri" pitchFamily="34" charset="-120"/>
              </a:rPr>
              <a:t>GCP Project</a:t>
            </a:r>
            <a:endParaRPr lang="en-US" sz="700" dirty="0"/>
          </a:p>
        </p:txBody>
      </p:sp>
      <p:sp>
        <p:nvSpPr>
          <p:cNvPr id="19" name="Shape 17"/>
          <p:cNvSpPr/>
          <p:nvPr/>
        </p:nvSpPr>
        <p:spPr>
          <a:xfrm>
            <a:off x="1353312" y="612648"/>
            <a:ext cx="1737360" cy="457200"/>
          </a:xfrm>
          <a:prstGeom prst="rect">
            <a:avLst/>
          </a:prstGeom>
          <a:solidFill>
            <a:srgbClr val="A85A50"/>
          </a:solidFill>
          <a:ln w="12700">
            <a:solidFill>
              <a:srgbClr val="FFFFFF"/>
            </a:solidFill>
            <a:prstDash val="solid"/>
          </a:ln>
        </p:spPr>
      </p:sp>
      <p:sp>
        <p:nvSpPr>
          <p:cNvPr id="20" name="Text 18"/>
          <p:cNvSpPr/>
          <p:nvPr/>
        </p:nvSpPr>
        <p:spPr>
          <a:xfrm>
            <a:off x="1353312" y="612648"/>
            <a:ext cx="1737360" cy="457200"/>
          </a:xfrm>
          <a:prstGeom prst="rect">
            <a:avLst/>
          </a:prstGeom>
          <a:noFill/>
          <a:ln/>
        </p:spPr>
        <p:txBody>
          <a:bodyPr wrap="square" lIns="0" tIns="0" rIns="0" bIns="0" rtlCol="0" anchor="ctr"/>
          <a:lstStyle/>
          <a:p>
            <a:pPr algn="ctr" indent="0" marL="0">
              <a:buNone/>
            </a:pPr>
            <a:r>
              <a:rPr lang="en-US" sz="700" b="1" dirty="0">
                <a:solidFill>
                  <a:srgbClr val="F0E8E8"/>
                </a:solidFill>
                <a:latin typeface="Calibri" pitchFamily="34" charset="0"/>
                <a:ea typeface="Calibri" pitchFamily="34" charset="-122"/>
                <a:cs typeface="Calibri" pitchFamily="34" charset="-120"/>
              </a:rPr>
              <a:t>Cloud Armor</a:t>
            </a:r>
            <a:endParaRPr lang="en-US" sz="700" dirty="0"/>
          </a:p>
          <a:p>
            <a:pPr algn="ctr" indent="0" marL="0">
              <a:buNone/>
            </a:pPr>
            <a:r>
              <a:rPr lang="en-US" sz="700" b="1" dirty="0">
                <a:solidFill>
                  <a:srgbClr val="F0E8E8"/>
                </a:solidFill>
                <a:latin typeface="Calibri" pitchFamily="34" charset="0"/>
                <a:ea typeface="Calibri" pitchFamily="34" charset="-122"/>
                <a:cs typeface="Calibri" pitchFamily="34" charset="-120"/>
              </a:rPr>
              <a:t>(WAF)</a:t>
            </a:r>
            <a:endParaRPr lang="en-US" sz="700" dirty="0"/>
          </a:p>
        </p:txBody>
      </p:sp>
      <p:sp>
        <p:nvSpPr>
          <p:cNvPr id="21" name="Shape 19"/>
          <p:cNvSpPr/>
          <p:nvPr/>
        </p:nvSpPr>
        <p:spPr>
          <a:xfrm>
            <a:off x="3182112" y="612648"/>
            <a:ext cx="1920240" cy="457200"/>
          </a:xfrm>
          <a:prstGeom prst="rect">
            <a:avLst/>
          </a:prstGeom>
          <a:solidFill>
            <a:srgbClr val="9A524A"/>
          </a:solidFill>
          <a:ln w="12700">
            <a:solidFill>
              <a:srgbClr val="FFFFFF"/>
            </a:solidFill>
            <a:prstDash val="solid"/>
          </a:ln>
        </p:spPr>
      </p:sp>
      <p:sp>
        <p:nvSpPr>
          <p:cNvPr id="22" name="Text 20"/>
          <p:cNvSpPr/>
          <p:nvPr/>
        </p:nvSpPr>
        <p:spPr>
          <a:xfrm>
            <a:off x="3182112" y="612648"/>
            <a:ext cx="1920240" cy="457200"/>
          </a:xfrm>
          <a:prstGeom prst="rect">
            <a:avLst/>
          </a:prstGeom>
          <a:noFill/>
          <a:ln/>
        </p:spPr>
        <p:txBody>
          <a:bodyPr wrap="square" lIns="0" tIns="0" rIns="0" bIns="0" rtlCol="0" anchor="ctr"/>
          <a:lstStyle/>
          <a:p>
            <a:pPr algn="ctr" indent="0" marL="0">
              <a:buNone/>
            </a:pPr>
            <a:r>
              <a:rPr lang="en-US" sz="700" b="1" dirty="0">
                <a:solidFill>
                  <a:srgbClr val="F0E8E8"/>
                </a:solidFill>
                <a:latin typeface="Calibri" pitchFamily="34" charset="0"/>
                <a:ea typeface="Calibri" pitchFamily="34" charset="-122"/>
                <a:cs typeface="Calibri" pitchFamily="34" charset="-120"/>
              </a:rPr>
              <a:t>Global HTTPS</a:t>
            </a:r>
            <a:endParaRPr lang="en-US" sz="700" dirty="0"/>
          </a:p>
          <a:p>
            <a:pPr algn="ctr" indent="0" marL="0">
              <a:buNone/>
            </a:pPr>
            <a:r>
              <a:rPr lang="en-US" sz="700" b="1" dirty="0">
                <a:solidFill>
                  <a:srgbClr val="F0E8E8"/>
                </a:solidFill>
                <a:latin typeface="Calibri" pitchFamily="34" charset="0"/>
                <a:ea typeface="Calibri" pitchFamily="34" charset="-122"/>
                <a:cs typeface="Calibri" pitchFamily="34" charset="-120"/>
              </a:rPr>
              <a:t>Load Balancer</a:t>
            </a:r>
            <a:endParaRPr lang="en-US" sz="700" dirty="0"/>
          </a:p>
        </p:txBody>
      </p:sp>
      <p:sp>
        <p:nvSpPr>
          <p:cNvPr id="23" name="Shape 21"/>
          <p:cNvSpPr/>
          <p:nvPr/>
        </p:nvSpPr>
        <p:spPr>
          <a:xfrm>
            <a:off x="5193792" y="612648"/>
            <a:ext cx="1920240" cy="457200"/>
          </a:xfrm>
          <a:prstGeom prst="rect">
            <a:avLst/>
          </a:prstGeom>
          <a:solidFill>
            <a:srgbClr val="8F4D46"/>
          </a:solidFill>
          <a:ln w="12700">
            <a:solidFill>
              <a:srgbClr val="FFFFFF"/>
            </a:solidFill>
            <a:prstDash val="solid"/>
          </a:ln>
        </p:spPr>
      </p:sp>
      <p:sp>
        <p:nvSpPr>
          <p:cNvPr id="24" name="Text 22"/>
          <p:cNvSpPr/>
          <p:nvPr/>
        </p:nvSpPr>
        <p:spPr>
          <a:xfrm>
            <a:off x="5193792" y="612648"/>
            <a:ext cx="1920240" cy="457200"/>
          </a:xfrm>
          <a:prstGeom prst="rect">
            <a:avLst/>
          </a:prstGeom>
          <a:noFill/>
          <a:ln/>
        </p:spPr>
        <p:txBody>
          <a:bodyPr wrap="square" lIns="0" tIns="0" rIns="0" bIns="0" rtlCol="0" anchor="ctr"/>
          <a:lstStyle/>
          <a:p>
            <a:pPr algn="ctr" indent="0" marL="0">
              <a:buNone/>
            </a:pPr>
            <a:r>
              <a:rPr lang="en-US" sz="700" b="1" dirty="0">
                <a:solidFill>
                  <a:srgbClr val="F0E8E8"/>
                </a:solidFill>
                <a:latin typeface="Calibri" pitchFamily="34" charset="0"/>
                <a:ea typeface="Calibri" pitchFamily="34" charset="-122"/>
                <a:cs typeface="Calibri" pitchFamily="34" charset="-120"/>
              </a:rPr>
              <a:t>Google-managed</a:t>
            </a:r>
            <a:endParaRPr lang="en-US" sz="700" dirty="0"/>
          </a:p>
          <a:p>
            <a:pPr algn="ctr" indent="0" marL="0">
              <a:buNone/>
            </a:pPr>
            <a:r>
              <a:rPr lang="en-US" sz="700" b="1" dirty="0">
                <a:solidFill>
                  <a:srgbClr val="F0E8E8"/>
                </a:solidFill>
                <a:latin typeface="Calibri" pitchFamily="34" charset="0"/>
                <a:ea typeface="Calibri" pitchFamily="34" charset="-122"/>
                <a:cs typeface="Calibri" pitchFamily="34" charset="-120"/>
              </a:rPr>
              <a:t>SSL Certificates</a:t>
            </a:r>
            <a:endParaRPr lang="en-US" sz="700" dirty="0"/>
          </a:p>
        </p:txBody>
      </p:sp>
      <p:sp>
        <p:nvSpPr>
          <p:cNvPr id="25" name="Shape 23"/>
          <p:cNvSpPr/>
          <p:nvPr/>
        </p:nvSpPr>
        <p:spPr>
          <a:xfrm>
            <a:off x="9436608" y="612648"/>
            <a:ext cx="1170432" cy="457200"/>
          </a:xfrm>
          <a:prstGeom prst="rect">
            <a:avLst/>
          </a:prstGeom>
          <a:solidFill>
            <a:srgbClr val="B8924A"/>
          </a:solidFill>
          <a:ln w="12700">
            <a:solidFill>
              <a:srgbClr val="9A7A3A"/>
            </a:solidFill>
            <a:prstDash val="solid"/>
          </a:ln>
        </p:spPr>
      </p:sp>
      <p:sp>
        <p:nvSpPr>
          <p:cNvPr id="26" name="Text 24"/>
          <p:cNvSpPr/>
          <p:nvPr/>
        </p:nvSpPr>
        <p:spPr>
          <a:xfrm>
            <a:off x="9436608" y="612648"/>
            <a:ext cx="1170432" cy="457200"/>
          </a:xfrm>
          <a:prstGeom prst="rect">
            <a:avLst/>
          </a:prstGeom>
          <a:noFill/>
          <a:ln/>
        </p:spPr>
        <p:txBody>
          <a:bodyPr wrap="square" lIns="0" tIns="0" rIns="0" bIns="0" rtlCol="0" anchor="ctr"/>
          <a:lstStyle/>
          <a:p>
            <a:pPr algn="ctr" indent="0" marL="0">
              <a:buNone/>
            </a:pPr>
            <a:r>
              <a:rPr lang="en-US" sz="700" b="1" dirty="0">
                <a:solidFill>
                  <a:srgbClr val="F5EDD8"/>
                </a:solidFill>
                <a:latin typeface="Calibri" pitchFamily="34" charset="0"/>
                <a:ea typeface="Calibri" pitchFamily="34" charset="-122"/>
                <a:cs typeface="Calibri" pitchFamily="34" charset="-120"/>
              </a:rPr>
              <a:t>Artifact</a:t>
            </a:r>
            <a:endParaRPr lang="en-US" sz="700" dirty="0"/>
          </a:p>
          <a:p>
            <a:pPr algn="ctr" indent="0" marL="0">
              <a:buNone/>
            </a:pPr>
            <a:r>
              <a:rPr lang="en-US" sz="700" b="1" dirty="0">
                <a:solidFill>
                  <a:srgbClr val="F5EDD8"/>
                </a:solidFill>
                <a:latin typeface="Calibri" pitchFamily="34" charset="0"/>
                <a:ea typeface="Calibri" pitchFamily="34" charset="-122"/>
                <a:cs typeface="Calibri" pitchFamily="34" charset="-120"/>
              </a:rPr>
              <a:t>Registry</a:t>
            </a:r>
            <a:endParaRPr lang="en-US" sz="700" dirty="0"/>
          </a:p>
        </p:txBody>
      </p:sp>
      <p:sp>
        <p:nvSpPr>
          <p:cNvPr id="27" name="Shape 25"/>
          <p:cNvSpPr/>
          <p:nvPr/>
        </p:nvSpPr>
        <p:spPr>
          <a:xfrm>
            <a:off x="10716768" y="612648"/>
            <a:ext cx="1170432" cy="457200"/>
          </a:xfrm>
          <a:prstGeom prst="rect">
            <a:avLst/>
          </a:prstGeom>
          <a:solidFill>
            <a:srgbClr val="B8924A"/>
          </a:solidFill>
          <a:ln w="12700">
            <a:solidFill>
              <a:srgbClr val="9A7A3A"/>
            </a:solidFill>
            <a:prstDash val="solid"/>
          </a:ln>
        </p:spPr>
      </p:sp>
      <p:sp>
        <p:nvSpPr>
          <p:cNvPr id="28" name="Text 26"/>
          <p:cNvSpPr/>
          <p:nvPr/>
        </p:nvSpPr>
        <p:spPr>
          <a:xfrm>
            <a:off x="10716768" y="612648"/>
            <a:ext cx="1170432" cy="457200"/>
          </a:xfrm>
          <a:prstGeom prst="rect">
            <a:avLst/>
          </a:prstGeom>
          <a:noFill/>
          <a:ln/>
        </p:spPr>
        <p:txBody>
          <a:bodyPr wrap="square" lIns="0" tIns="0" rIns="0" bIns="0" rtlCol="0" anchor="ctr"/>
          <a:lstStyle/>
          <a:p>
            <a:pPr algn="ctr" indent="0" marL="0">
              <a:buNone/>
            </a:pPr>
            <a:r>
              <a:rPr lang="en-US" sz="700" b="1" dirty="0">
                <a:solidFill>
                  <a:srgbClr val="F5EDD8"/>
                </a:solidFill>
                <a:latin typeface="Calibri" pitchFamily="34" charset="0"/>
                <a:ea typeface="Calibri" pitchFamily="34" charset="-122"/>
                <a:cs typeface="Calibri" pitchFamily="34" charset="-120"/>
              </a:rPr>
              <a:t>Cloud</a:t>
            </a:r>
            <a:endParaRPr lang="en-US" sz="700" dirty="0"/>
          </a:p>
          <a:p>
            <a:pPr algn="ctr" indent="0" marL="0">
              <a:buNone/>
            </a:pPr>
            <a:r>
              <a:rPr lang="en-US" sz="700" b="1" dirty="0">
                <a:solidFill>
                  <a:srgbClr val="F5EDD8"/>
                </a:solidFill>
                <a:latin typeface="Calibri" pitchFamily="34" charset="0"/>
                <a:ea typeface="Calibri" pitchFamily="34" charset="-122"/>
                <a:cs typeface="Calibri" pitchFamily="34" charset="-120"/>
              </a:rPr>
              <a:t>Build</a:t>
            </a:r>
            <a:endParaRPr lang="en-US" sz="700" dirty="0"/>
          </a:p>
        </p:txBody>
      </p:sp>
      <p:sp>
        <p:nvSpPr>
          <p:cNvPr id="29" name="Shape 27"/>
          <p:cNvSpPr/>
          <p:nvPr/>
        </p:nvSpPr>
        <p:spPr>
          <a:xfrm>
            <a:off x="1353312" y="1143000"/>
            <a:ext cx="7589520" cy="2450592"/>
          </a:xfrm>
          <a:prstGeom prst="rect">
            <a:avLst/>
          </a:prstGeom>
          <a:solidFill>
            <a:srgbClr val="E6EDF5"/>
          </a:solidFill>
          <a:ln w="15240">
            <a:solidFill>
              <a:srgbClr val="7A9EC0"/>
            </a:solidFill>
            <a:prstDash val="solid"/>
          </a:ln>
        </p:spPr>
      </p:sp>
      <p:sp>
        <p:nvSpPr>
          <p:cNvPr id="30" name="Text 28"/>
          <p:cNvSpPr/>
          <p:nvPr/>
        </p:nvSpPr>
        <p:spPr>
          <a:xfrm>
            <a:off x="1426464" y="1170432"/>
            <a:ext cx="2743200" cy="182880"/>
          </a:xfrm>
          <a:prstGeom prst="rect">
            <a:avLst/>
          </a:prstGeom>
          <a:noFill/>
          <a:ln/>
        </p:spPr>
        <p:txBody>
          <a:bodyPr wrap="square" lIns="0" tIns="0" rIns="0" bIns="0" rtlCol="0" anchor="ctr"/>
          <a:lstStyle/>
          <a:p>
            <a:pPr indent="0" marL="0">
              <a:buNone/>
            </a:pPr>
            <a:r>
              <a:rPr lang="en-US" sz="700" b="1" dirty="0">
                <a:solidFill>
                  <a:srgbClr val="4A6E90"/>
                </a:solidFill>
                <a:latin typeface="Calibri" pitchFamily="34" charset="0"/>
                <a:ea typeface="Calibri" pitchFamily="34" charset="-122"/>
                <a:cs typeface="Calibri" pitchFamily="34" charset="-120"/>
              </a:rPr>
              <a:t>VPC — kyc-vpc</a:t>
            </a:r>
            <a:endParaRPr lang="en-US" sz="700" dirty="0"/>
          </a:p>
        </p:txBody>
      </p:sp>
      <p:sp>
        <p:nvSpPr>
          <p:cNvPr id="31" name="Shape 29"/>
          <p:cNvSpPr/>
          <p:nvPr/>
        </p:nvSpPr>
        <p:spPr>
          <a:xfrm>
            <a:off x="1444752" y="1389888"/>
            <a:ext cx="4919472" cy="2029968"/>
          </a:xfrm>
          <a:prstGeom prst="rect">
            <a:avLst/>
          </a:prstGeom>
          <a:solidFill>
            <a:srgbClr val="DBE8F5"/>
          </a:solidFill>
          <a:ln w="12700">
            <a:solidFill>
              <a:srgbClr val="5578A0"/>
            </a:solidFill>
            <a:prstDash val="solid"/>
          </a:ln>
        </p:spPr>
      </p:sp>
      <p:sp>
        <p:nvSpPr>
          <p:cNvPr id="32" name="Text 30"/>
          <p:cNvSpPr/>
          <p:nvPr/>
        </p:nvSpPr>
        <p:spPr>
          <a:xfrm>
            <a:off x="1508760" y="1417320"/>
            <a:ext cx="4736592" cy="182880"/>
          </a:xfrm>
          <a:prstGeom prst="rect">
            <a:avLst/>
          </a:prstGeom>
          <a:noFill/>
          <a:ln/>
        </p:spPr>
        <p:txBody>
          <a:bodyPr wrap="square" lIns="0" tIns="0" rIns="0" bIns="0" rtlCol="0" anchor="ctr"/>
          <a:lstStyle/>
          <a:p>
            <a:pPr indent="0" marL="0">
              <a:buNone/>
            </a:pPr>
            <a:r>
              <a:rPr lang="en-US" sz="700" b="1" dirty="0">
                <a:solidFill>
                  <a:srgbClr val="415E82"/>
                </a:solidFill>
                <a:latin typeface="Calibri" pitchFamily="34" charset="0"/>
                <a:ea typeface="Calibri" pitchFamily="34" charset="-122"/>
                <a:cs typeface="Calibri" pitchFamily="34" charset="-120"/>
              </a:rPr>
              <a:t>GKE Autopilot Cluster</a:t>
            </a:r>
            <a:endParaRPr lang="en-US" sz="700" dirty="0"/>
          </a:p>
        </p:txBody>
      </p:sp>
      <p:sp>
        <p:nvSpPr>
          <p:cNvPr id="33" name="Shape 31"/>
          <p:cNvSpPr/>
          <p:nvPr/>
        </p:nvSpPr>
        <p:spPr>
          <a:xfrm>
            <a:off x="1536192" y="1664208"/>
            <a:ext cx="1444752" cy="402336"/>
          </a:xfrm>
          <a:prstGeom prst="rect">
            <a:avLst/>
          </a:prstGeom>
          <a:solidFill>
            <a:srgbClr val="5578A0"/>
          </a:solidFill>
          <a:ln w="12700">
            <a:solidFill>
              <a:srgbClr val="415E82"/>
            </a:solidFill>
            <a:prstDash val="solid"/>
          </a:ln>
        </p:spPr>
      </p:sp>
      <p:sp>
        <p:nvSpPr>
          <p:cNvPr id="34" name="Text 32"/>
          <p:cNvSpPr/>
          <p:nvPr/>
        </p:nvSpPr>
        <p:spPr>
          <a:xfrm>
            <a:off x="1536192" y="166420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API Gateway</a:t>
            </a:r>
            <a:endParaRPr lang="en-US" sz="650" dirty="0"/>
          </a:p>
        </p:txBody>
      </p:sp>
      <p:sp>
        <p:nvSpPr>
          <p:cNvPr id="35" name="Shape 33"/>
          <p:cNvSpPr/>
          <p:nvPr/>
        </p:nvSpPr>
        <p:spPr>
          <a:xfrm>
            <a:off x="3054096" y="1664208"/>
            <a:ext cx="1444752" cy="402336"/>
          </a:xfrm>
          <a:prstGeom prst="rect">
            <a:avLst/>
          </a:prstGeom>
          <a:solidFill>
            <a:srgbClr val="5578A0"/>
          </a:solidFill>
          <a:ln w="12700">
            <a:solidFill>
              <a:srgbClr val="415E82"/>
            </a:solidFill>
            <a:prstDash val="solid"/>
          </a:ln>
        </p:spPr>
      </p:sp>
      <p:sp>
        <p:nvSpPr>
          <p:cNvPr id="36" name="Text 34"/>
          <p:cNvSpPr/>
          <p:nvPr/>
        </p:nvSpPr>
        <p:spPr>
          <a:xfrm>
            <a:off x="3054096" y="166420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Eureka</a:t>
            </a:r>
            <a:endParaRPr lang="en-US" sz="650" dirty="0"/>
          </a:p>
          <a:p>
            <a:pPr algn="ctr" indent="0" marL="0">
              <a:buNone/>
            </a:pPr>
            <a:r>
              <a:rPr lang="en-US" sz="650" b="1" dirty="0">
                <a:solidFill>
                  <a:srgbClr val="EAF0F8"/>
                </a:solidFill>
                <a:latin typeface="Calibri" pitchFamily="34" charset="0"/>
                <a:ea typeface="Calibri" pitchFamily="34" charset="-122"/>
                <a:cs typeface="Calibri" pitchFamily="34" charset="-120"/>
              </a:rPr>
              <a:t>(Service Reg.)</a:t>
            </a:r>
            <a:endParaRPr lang="en-US" sz="650" dirty="0"/>
          </a:p>
        </p:txBody>
      </p:sp>
      <p:sp>
        <p:nvSpPr>
          <p:cNvPr id="37" name="Shape 35"/>
          <p:cNvSpPr/>
          <p:nvPr/>
        </p:nvSpPr>
        <p:spPr>
          <a:xfrm>
            <a:off x="4572000" y="1664208"/>
            <a:ext cx="1444752" cy="402336"/>
          </a:xfrm>
          <a:prstGeom prst="rect">
            <a:avLst/>
          </a:prstGeom>
          <a:solidFill>
            <a:srgbClr val="5578A0"/>
          </a:solidFill>
          <a:ln w="12700">
            <a:solidFill>
              <a:srgbClr val="415E82"/>
            </a:solidFill>
            <a:prstDash val="solid"/>
          </a:ln>
        </p:spPr>
      </p:sp>
      <p:sp>
        <p:nvSpPr>
          <p:cNvPr id="38" name="Text 36"/>
          <p:cNvSpPr/>
          <p:nvPr/>
        </p:nvSpPr>
        <p:spPr>
          <a:xfrm>
            <a:off x="4572000" y="166420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Keycloak</a:t>
            </a:r>
            <a:endParaRPr lang="en-US" sz="650" dirty="0"/>
          </a:p>
          <a:p>
            <a:pPr algn="ctr" indent="0" marL="0">
              <a:buNone/>
            </a:pPr>
            <a:r>
              <a:rPr lang="en-US" sz="650" b="1" dirty="0">
                <a:solidFill>
                  <a:srgbClr val="EAF0F8"/>
                </a:solidFill>
                <a:latin typeface="Calibri" pitchFamily="34" charset="0"/>
                <a:ea typeface="Calibri" pitchFamily="34" charset="-122"/>
                <a:cs typeface="Calibri" pitchFamily="34" charset="-120"/>
              </a:rPr>
              <a:t>(OAuth 2.0)</a:t>
            </a:r>
            <a:endParaRPr lang="en-US" sz="650" dirty="0"/>
          </a:p>
        </p:txBody>
      </p:sp>
      <p:sp>
        <p:nvSpPr>
          <p:cNvPr id="39" name="Shape 37"/>
          <p:cNvSpPr/>
          <p:nvPr/>
        </p:nvSpPr>
        <p:spPr>
          <a:xfrm>
            <a:off x="1536192" y="2167128"/>
            <a:ext cx="1444752" cy="402336"/>
          </a:xfrm>
          <a:prstGeom prst="rect">
            <a:avLst/>
          </a:prstGeom>
          <a:solidFill>
            <a:srgbClr val="415E82"/>
          </a:solidFill>
          <a:ln w="19050">
            <a:solidFill>
              <a:srgbClr val="33507A"/>
            </a:solidFill>
            <a:prstDash val="solid"/>
          </a:ln>
        </p:spPr>
      </p:sp>
      <p:sp>
        <p:nvSpPr>
          <p:cNvPr id="40" name="Text 38"/>
          <p:cNvSpPr/>
          <p:nvPr/>
        </p:nvSpPr>
        <p:spPr>
          <a:xfrm>
            <a:off x="1536192" y="216712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kyc-orchestration ✦</a:t>
            </a:r>
            <a:endParaRPr lang="en-US" sz="650" dirty="0"/>
          </a:p>
        </p:txBody>
      </p:sp>
      <p:sp>
        <p:nvSpPr>
          <p:cNvPr id="41" name="Shape 39"/>
          <p:cNvSpPr/>
          <p:nvPr/>
        </p:nvSpPr>
        <p:spPr>
          <a:xfrm>
            <a:off x="3054096" y="2167128"/>
            <a:ext cx="1444752" cy="402336"/>
          </a:xfrm>
          <a:prstGeom prst="rect">
            <a:avLst/>
          </a:prstGeom>
          <a:solidFill>
            <a:srgbClr val="5578A0"/>
          </a:solidFill>
          <a:ln w="12700">
            <a:solidFill>
              <a:srgbClr val="415E82"/>
            </a:solidFill>
            <a:prstDash val="solid"/>
          </a:ln>
        </p:spPr>
      </p:sp>
      <p:sp>
        <p:nvSpPr>
          <p:cNvPr id="42" name="Text 40"/>
          <p:cNvSpPr/>
          <p:nvPr/>
        </p:nvSpPr>
        <p:spPr>
          <a:xfrm>
            <a:off x="3054096" y="216712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screening-service</a:t>
            </a:r>
            <a:endParaRPr lang="en-US" sz="650" dirty="0"/>
          </a:p>
        </p:txBody>
      </p:sp>
      <p:sp>
        <p:nvSpPr>
          <p:cNvPr id="43" name="Shape 41"/>
          <p:cNvSpPr/>
          <p:nvPr/>
        </p:nvSpPr>
        <p:spPr>
          <a:xfrm>
            <a:off x="4572000" y="2167128"/>
            <a:ext cx="1444752" cy="402336"/>
          </a:xfrm>
          <a:prstGeom prst="rect">
            <a:avLst/>
          </a:prstGeom>
          <a:solidFill>
            <a:srgbClr val="5578A0"/>
          </a:solidFill>
          <a:ln w="12700">
            <a:solidFill>
              <a:srgbClr val="415E82"/>
            </a:solidFill>
            <a:prstDash val="solid"/>
          </a:ln>
        </p:spPr>
      </p:sp>
      <p:sp>
        <p:nvSpPr>
          <p:cNvPr id="44" name="Text 42"/>
          <p:cNvSpPr/>
          <p:nvPr/>
        </p:nvSpPr>
        <p:spPr>
          <a:xfrm>
            <a:off x="4572000" y="216712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risk-service</a:t>
            </a:r>
            <a:endParaRPr lang="en-US" sz="650" dirty="0"/>
          </a:p>
        </p:txBody>
      </p:sp>
      <p:sp>
        <p:nvSpPr>
          <p:cNvPr id="45" name="Shape 43"/>
          <p:cNvSpPr/>
          <p:nvPr/>
        </p:nvSpPr>
        <p:spPr>
          <a:xfrm>
            <a:off x="6089904" y="2167128"/>
            <a:ext cx="1444752" cy="402336"/>
          </a:xfrm>
          <a:prstGeom prst="rect">
            <a:avLst/>
          </a:prstGeom>
          <a:solidFill>
            <a:srgbClr val="5578A0"/>
          </a:solidFill>
          <a:ln w="12700">
            <a:solidFill>
              <a:srgbClr val="415E82"/>
            </a:solidFill>
            <a:prstDash val="solid"/>
          </a:ln>
        </p:spPr>
      </p:sp>
      <p:sp>
        <p:nvSpPr>
          <p:cNvPr id="46" name="Text 44"/>
          <p:cNvSpPr/>
          <p:nvPr/>
        </p:nvSpPr>
        <p:spPr>
          <a:xfrm>
            <a:off x="6089904" y="2167128"/>
            <a:ext cx="1444752" cy="402336"/>
          </a:xfrm>
          <a:prstGeom prst="rect">
            <a:avLst/>
          </a:prstGeom>
          <a:noFill/>
          <a:ln/>
        </p:spPr>
        <p:txBody>
          <a:bodyPr wrap="square" lIns="0" tIns="0" rIns="0" bIns="0" rtlCol="0" anchor="ctr"/>
          <a:lstStyle/>
          <a:p>
            <a:pPr algn="ctr" indent="0" marL="0">
              <a:buNone/>
            </a:pPr>
            <a:r>
              <a:rPr lang="en-US" sz="650" b="1" dirty="0">
                <a:solidFill>
                  <a:srgbClr val="EAF0F8"/>
                </a:solidFill>
                <a:latin typeface="Calibri" pitchFamily="34" charset="0"/>
                <a:ea typeface="Calibri" pitchFamily="34" charset="-122"/>
                <a:cs typeface="Calibri" pitchFamily="34" charset="-120"/>
              </a:rPr>
              <a:t>viewer</a:t>
            </a:r>
            <a:endParaRPr lang="en-US" sz="650" dirty="0"/>
          </a:p>
        </p:txBody>
      </p:sp>
      <p:sp>
        <p:nvSpPr>
          <p:cNvPr id="47" name="Text 45"/>
          <p:cNvSpPr/>
          <p:nvPr/>
        </p:nvSpPr>
        <p:spPr>
          <a:xfrm>
            <a:off x="1508760" y="2624328"/>
            <a:ext cx="4736592" cy="182880"/>
          </a:xfrm>
          <a:prstGeom prst="rect">
            <a:avLst/>
          </a:prstGeom>
          <a:noFill/>
          <a:ln/>
        </p:spPr>
        <p:txBody>
          <a:bodyPr wrap="square" lIns="0" tIns="0" rIns="0" bIns="0" rtlCol="0" anchor="ctr"/>
          <a:lstStyle/>
          <a:p>
            <a:pPr algn="ctr" indent="0" marL="0">
              <a:buNone/>
            </a:pPr>
            <a:r>
              <a:rPr lang="en-US" sz="600" i="1" dirty="0">
                <a:solidFill>
                  <a:srgbClr val="5578A0"/>
                </a:solidFill>
                <a:latin typeface="Calibri" pitchFamily="34" charset="0"/>
                <a:ea typeface="Calibri" pitchFamily="34" charset="-122"/>
                <a:cs typeface="Calibri" pitchFamily="34" charset="-120"/>
              </a:rPr>
              <a:t>HPA: min 2 → max 10 pods  |  PodDisruptionBudget</a:t>
            </a:r>
            <a:endParaRPr lang="en-US" sz="600" dirty="0"/>
          </a:p>
        </p:txBody>
      </p:sp>
      <p:sp>
        <p:nvSpPr>
          <p:cNvPr id="48" name="Shape 46"/>
          <p:cNvSpPr/>
          <p:nvPr/>
        </p:nvSpPr>
        <p:spPr>
          <a:xfrm>
            <a:off x="6492240" y="1389888"/>
            <a:ext cx="2340864" cy="2029968"/>
          </a:xfrm>
          <a:prstGeom prst="rect">
            <a:avLst/>
          </a:prstGeom>
          <a:solidFill>
            <a:srgbClr val="ECEDF2"/>
          </a:solidFill>
          <a:ln w="12700">
            <a:solidFill>
              <a:srgbClr val="B0B7BF"/>
            </a:solidFill>
            <a:prstDash val="solid"/>
          </a:ln>
        </p:spPr>
      </p:sp>
      <p:sp>
        <p:nvSpPr>
          <p:cNvPr id="49" name="Text 47"/>
          <p:cNvSpPr/>
          <p:nvPr/>
        </p:nvSpPr>
        <p:spPr>
          <a:xfrm>
            <a:off x="6547104" y="1417320"/>
            <a:ext cx="2194560" cy="182880"/>
          </a:xfrm>
          <a:prstGeom prst="rect">
            <a:avLst/>
          </a:prstGeom>
          <a:noFill/>
          <a:ln/>
        </p:spPr>
        <p:txBody>
          <a:bodyPr wrap="square" lIns="0" tIns="0" rIns="0" bIns="0" rtlCol="0" anchor="ctr"/>
          <a:lstStyle/>
          <a:p>
            <a:pPr indent="0" marL="0">
              <a:buNone/>
            </a:pPr>
            <a:r>
              <a:rPr lang="en-US" sz="700" b="1" dirty="0">
                <a:solidFill>
                  <a:srgbClr val="4A5560"/>
                </a:solidFill>
                <a:latin typeface="Calibri" pitchFamily="34" charset="0"/>
                <a:ea typeface="Calibri" pitchFamily="34" charset="-122"/>
                <a:cs typeface="Calibri" pitchFamily="34" charset="-120"/>
              </a:rPr>
              <a:t>Data Layer</a:t>
            </a:r>
            <a:endParaRPr lang="en-US" sz="700" dirty="0"/>
          </a:p>
        </p:txBody>
      </p:sp>
      <p:sp>
        <p:nvSpPr>
          <p:cNvPr id="50" name="Shape 48"/>
          <p:cNvSpPr/>
          <p:nvPr/>
        </p:nvSpPr>
        <p:spPr>
          <a:xfrm>
            <a:off x="6565392" y="1636776"/>
            <a:ext cx="2157984" cy="512064"/>
          </a:xfrm>
          <a:prstGeom prst="rect">
            <a:avLst/>
          </a:prstGeom>
          <a:solidFill>
            <a:srgbClr val="706898"/>
          </a:solidFill>
          <a:ln w="12700">
            <a:solidFill>
              <a:srgbClr val="5C5480"/>
            </a:solidFill>
            <a:prstDash val="solid"/>
          </a:ln>
        </p:spPr>
      </p:sp>
      <p:sp>
        <p:nvSpPr>
          <p:cNvPr id="51" name="Text 49"/>
          <p:cNvSpPr/>
          <p:nvPr/>
        </p:nvSpPr>
        <p:spPr>
          <a:xfrm>
            <a:off x="6565392" y="1636776"/>
            <a:ext cx="2157984" cy="281635"/>
          </a:xfrm>
          <a:prstGeom prst="rect">
            <a:avLst/>
          </a:prstGeom>
          <a:noFill/>
          <a:ln/>
        </p:spPr>
        <p:txBody>
          <a:bodyPr wrap="square" lIns="0" tIns="0" rIns="0" bIns="0" rtlCol="0" anchor="b"/>
          <a:lstStyle/>
          <a:p>
            <a:pPr algn="ctr" indent="0" marL="0">
              <a:buNone/>
            </a:pPr>
            <a:r>
              <a:rPr lang="en-US" sz="650" b="1" dirty="0">
                <a:solidFill>
                  <a:srgbClr val="F0EEF5"/>
                </a:solidFill>
                <a:latin typeface="Calibri" pitchFamily="34" charset="0"/>
                <a:ea typeface="Calibri" pitchFamily="34" charset="-122"/>
                <a:cs typeface="Calibri" pitchFamily="34" charset="-120"/>
              </a:rPr>
              <a:t>Cloud SQL</a:t>
            </a:r>
            <a:endParaRPr lang="en-US" sz="650" dirty="0"/>
          </a:p>
          <a:p>
            <a:pPr algn="ctr" indent="0" marL="0">
              <a:buNone/>
            </a:pPr>
            <a:r>
              <a:rPr lang="en-US" sz="650" b="1" dirty="0">
                <a:solidFill>
                  <a:srgbClr val="F0EEF5"/>
                </a:solidFill>
                <a:latin typeface="Calibri" pitchFamily="34" charset="0"/>
                <a:ea typeface="Calibri" pitchFamily="34" charset="-122"/>
                <a:cs typeface="Calibri" pitchFamily="34" charset="-120"/>
              </a:rPr>
              <a:t>PostgreSQL 15 (HA)</a:t>
            </a:r>
            <a:endParaRPr lang="en-US" sz="650" dirty="0"/>
          </a:p>
        </p:txBody>
      </p:sp>
      <p:sp>
        <p:nvSpPr>
          <p:cNvPr id="52" name="Text 50"/>
          <p:cNvSpPr/>
          <p:nvPr/>
        </p:nvSpPr>
        <p:spPr>
          <a:xfrm>
            <a:off x="6565392" y="1918411"/>
            <a:ext cx="2157984" cy="230429"/>
          </a:xfrm>
          <a:prstGeom prst="rect">
            <a:avLst/>
          </a:prstGeom>
          <a:noFill/>
          <a:ln/>
        </p:spPr>
        <p:txBody>
          <a:bodyPr wrap="square" lIns="0" tIns="0" rIns="0" bIns="0" rtlCol="0" anchor="t"/>
          <a:lstStyle/>
          <a:p>
            <a:pPr algn="ctr" indent="0" marL="0">
              <a:buNone/>
            </a:pPr>
            <a:r>
              <a:rPr lang="en-US" sz="550" dirty="0">
                <a:solidFill>
                  <a:srgbClr val="D8D4E6"/>
                </a:solidFill>
                <a:latin typeface="Calibri" pitchFamily="34" charset="0"/>
                <a:ea typeface="Calibri" pitchFamily="34" charset="-122"/>
                <a:cs typeface="Calibri" pitchFamily="34" charset="-120"/>
              </a:rPr>
              <a:t>CMEK · Private IP · Read Replica</a:t>
            </a:r>
            <a:endParaRPr lang="en-US" sz="550" dirty="0"/>
          </a:p>
        </p:txBody>
      </p:sp>
      <p:sp>
        <p:nvSpPr>
          <p:cNvPr id="53" name="Shape 51"/>
          <p:cNvSpPr/>
          <p:nvPr/>
        </p:nvSpPr>
        <p:spPr>
          <a:xfrm>
            <a:off x="6565392" y="2203704"/>
            <a:ext cx="2157984" cy="457200"/>
          </a:xfrm>
          <a:prstGeom prst="rect">
            <a:avLst/>
          </a:prstGeom>
          <a:solidFill>
            <a:srgbClr val="9E5656"/>
          </a:solidFill>
          <a:ln w="12700">
            <a:solidFill>
              <a:srgbClr val="834646"/>
            </a:solidFill>
            <a:prstDash val="solid"/>
          </a:ln>
        </p:spPr>
      </p:sp>
      <p:sp>
        <p:nvSpPr>
          <p:cNvPr id="54" name="Text 52"/>
          <p:cNvSpPr/>
          <p:nvPr/>
        </p:nvSpPr>
        <p:spPr>
          <a:xfrm>
            <a:off x="6565392" y="2203704"/>
            <a:ext cx="2157984" cy="251460"/>
          </a:xfrm>
          <a:prstGeom prst="rect">
            <a:avLst/>
          </a:prstGeom>
          <a:noFill/>
          <a:ln/>
        </p:spPr>
        <p:txBody>
          <a:bodyPr wrap="square" lIns="0" tIns="0" rIns="0" bIns="0" rtlCol="0" anchor="b"/>
          <a:lstStyle/>
          <a:p>
            <a:pPr algn="ctr" indent="0" marL="0">
              <a:buNone/>
            </a:pPr>
            <a:r>
              <a:rPr lang="en-US" sz="650" b="1" dirty="0">
                <a:solidFill>
                  <a:srgbClr val="F0EEF5"/>
                </a:solidFill>
                <a:latin typeface="Calibri" pitchFamily="34" charset="0"/>
                <a:ea typeface="Calibri" pitchFamily="34" charset="-122"/>
                <a:cs typeface="Calibri" pitchFamily="34" charset="-120"/>
              </a:rPr>
              <a:t>Memorystore Redis</a:t>
            </a:r>
            <a:endParaRPr lang="en-US" sz="650" dirty="0"/>
          </a:p>
        </p:txBody>
      </p:sp>
      <p:sp>
        <p:nvSpPr>
          <p:cNvPr id="55" name="Text 53"/>
          <p:cNvSpPr/>
          <p:nvPr/>
        </p:nvSpPr>
        <p:spPr>
          <a:xfrm>
            <a:off x="6565392" y="2455164"/>
            <a:ext cx="2157984" cy="205740"/>
          </a:xfrm>
          <a:prstGeom prst="rect">
            <a:avLst/>
          </a:prstGeom>
          <a:noFill/>
          <a:ln/>
        </p:spPr>
        <p:txBody>
          <a:bodyPr wrap="square" lIns="0" tIns="0" rIns="0" bIns="0" rtlCol="0" anchor="t"/>
          <a:lstStyle/>
          <a:p>
            <a:pPr algn="ctr" indent="0" marL="0">
              <a:buNone/>
            </a:pPr>
            <a:r>
              <a:rPr lang="en-US" sz="550" dirty="0">
                <a:solidFill>
                  <a:srgbClr val="D8D4E6"/>
                </a:solidFill>
                <a:latin typeface="Calibri" pitchFamily="34" charset="0"/>
                <a:ea typeface="Calibri" pitchFamily="34" charset="-122"/>
                <a:cs typeface="Calibri" pitchFamily="34" charset="-120"/>
              </a:rPr>
              <a:t>Idempotency · Token cache</a:t>
            </a:r>
            <a:endParaRPr lang="en-US" sz="550" dirty="0"/>
          </a:p>
        </p:txBody>
      </p:sp>
      <p:sp>
        <p:nvSpPr>
          <p:cNvPr id="56" name="Shape 54"/>
          <p:cNvSpPr/>
          <p:nvPr/>
        </p:nvSpPr>
        <p:spPr>
          <a:xfrm>
            <a:off x="6565392" y="2734056"/>
            <a:ext cx="2157984" cy="438912"/>
          </a:xfrm>
          <a:prstGeom prst="rect">
            <a:avLst/>
          </a:prstGeom>
          <a:solidFill>
            <a:srgbClr val="4D8A5C"/>
          </a:solidFill>
          <a:ln w="12700">
            <a:solidFill>
              <a:srgbClr val="3C6E49"/>
            </a:solidFill>
            <a:prstDash val="solid"/>
          </a:ln>
        </p:spPr>
      </p:sp>
      <p:sp>
        <p:nvSpPr>
          <p:cNvPr id="57" name="Text 55"/>
          <p:cNvSpPr/>
          <p:nvPr/>
        </p:nvSpPr>
        <p:spPr>
          <a:xfrm>
            <a:off x="6565392" y="2734056"/>
            <a:ext cx="2157984" cy="241402"/>
          </a:xfrm>
          <a:prstGeom prst="rect">
            <a:avLst/>
          </a:prstGeom>
          <a:noFill/>
          <a:ln/>
        </p:spPr>
        <p:txBody>
          <a:bodyPr wrap="square" lIns="0" tIns="0" rIns="0" bIns="0" rtlCol="0" anchor="b"/>
          <a:lstStyle/>
          <a:p>
            <a:pPr algn="ctr" indent="0" marL="0">
              <a:buNone/>
            </a:pPr>
            <a:r>
              <a:rPr lang="en-US" sz="650" b="1" dirty="0">
                <a:solidFill>
                  <a:srgbClr val="F0EEF5"/>
                </a:solidFill>
                <a:latin typeface="Calibri" pitchFamily="34" charset="0"/>
                <a:ea typeface="Calibri" pitchFamily="34" charset="-122"/>
                <a:cs typeface="Calibri" pitchFamily="34" charset="-120"/>
              </a:rPr>
              <a:t>Cloud Storage</a:t>
            </a:r>
            <a:endParaRPr lang="en-US" sz="650" dirty="0"/>
          </a:p>
        </p:txBody>
      </p:sp>
      <p:sp>
        <p:nvSpPr>
          <p:cNvPr id="58" name="Text 56"/>
          <p:cNvSpPr/>
          <p:nvPr/>
        </p:nvSpPr>
        <p:spPr>
          <a:xfrm>
            <a:off x="6565392" y="2975458"/>
            <a:ext cx="2157984" cy="197510"/>
          </a:xfrm>
          <a:prstGeom prst="rect">
            <a:avLst/>
          </a:prstGeom>
          <a:noFill/>
          <a:ln/>
        </p:spPr>
        <p:txBody>
          <a:bodyPr wrap="square" lIns="0" tIns="0" rIns="0" bIns="0" rtlCol="0" anchor="t"/>
          <a:lstStyle/>
          <a:p>
            <a:pPr algn="ctr" indent="0" marL="0">
              <a:buNone/>
            </a:pPr>
            <a:r>
              <a:rPr lang="en-US" sz="550" dirty="0">
                <a:solidFill>
                  <a:srgbClr val="D8D4E6"/>
                </a:solidFill>
                <a:latin typeface="Calibri" pitchFamily="34" charset="0"/>
                <a:ea typeface="Calibri" pitchFamily="34" charset="-122"/>
                <a:cs typeface="Calibri" pitchFamily="34" charset="-120"/>
              </a:rPr>
              <a:t>NLS Feedback · Audit Exports</a:t>
            </a:r>
            <a:endParaRPr lang="en-US" sz="550" dirty="0"/>
          </a:p>
        </p:txBody>
      </p:sp>
      <p:sp>
        <p:nvSpPr>
          <p:cNvPr id="59" name="Shape 57"/>
          <p:cNvSpPr/>
          <p:nvPr/>
        </p:nvSpPr>
        <p:spPr>
          <a:xfrm>
            <a:off x="9034272" y="1143000"/>
            <a:ext cx="3017520" cy="2450592"/>
          </a:xfrm>
          <a:prstGeom prst="rect">
            <a:avLst/>
          </a:prstGeom>
          <a:solidFill>
            <a:srgbClr val="E8F3F5"/>
          </a:solidFill>
          <a:ln w="15240">
            <a:solidFill>
              <a:srgbClr val="3D8090"/>
            </a:solidFill>
            <a:prstDash val="solid"/>
          </a:ln>
        </p:spPr>
      </p:sp>
      <p:sp>
        <p:nvSpPr>
          <p:cNvPr id="60" name="Text 58"/>
          <p:cNvSpPr/>
          <p:nvPr/>
        </p:nvSpPr>
        <p:spPr>
          <a:xfrm>
            <a:off x="9098280" y="1170432"/>
            <a:ext cx="2926080" cy="182880"/>
          </a:xfrm>
          <a:prstGeom prst="rect">
            <a:avLst/>
          </a:prstGeom>
          <a:noFill/>
          <a:ln/>
        </p:spPr>
        <p:txBody>
          <a:bodyPr wrap="square" lIns="0" tIns="0" rIns="0" bIns="0" rtlCol="0" anchor="ctr"/>
          <a:lstStyle/>
          <a:p>
            <a:pPr indent="0" marL="0">
              <a:buNone/>
            </a:pPr>
            <a:r>
              <a:rPr lang="en-US" sz="700" b="1" dirty="0">
                <a:solidFill>
                  <a:srgbClr val="3D8090"/>
                </a:solidFill>
                <a:latin typeface="Calibri" pitchFamily="34" charset="0"/>
                <a:ea typeface="Calibri" pitchFamily="34" charset="-122"/>
                <a:cs typeface="Calibri" pitchFamily="34" charset="-120"/>
              </a:rPr>
              <a:t>Secrets &amp; Identity</a:t>
            </a:r>
            <a:endParaRPr lang="en-US" sz="700" dirty="0"/>
          </a:p>
        </p:txBody>
      </p:sp>
      <p:sp>
        <p:nvSpPr>
          <p:cNvPr id="61" name="Shape 59"/>
          <p:cNvSpPr/>
          <p:nvPr/>
        </p:nvSpPr>
        <p:spPr>
          <a:xfrm>
            <a:off x="9125712" y="1399032"/>
            <a:ext cx="2834640" cy="493776"/>
          </a:xfrm>
          <a:prstGeom prst="rect">
            <a:avLst/>
          </a:prstGeom>
          <a:solidFill>
            <a:srgbClr val="3D8090"/>
          </a:solidFill>
          <a:ln w="12700">
            <a:solidFill>
              <a:srgbClr val="2E6372"/>
            </a:solidFill>
            <a:prstDash val="solid"/>
          </a:ln>
        </p:spPr>
      </p:sp>
      <p:sp>
        <p:nvSpPr>
          <p:cNvPr id="62" name="Text 60"/>
          <p:cNvSpPr/>
          <p:nvPr/>
        </p:nvSpPr>
        <p:spPr>
          <a:xfrm>
            <a:off x="9125712" y="1399032"/>
            <a:ext cx="2834640" cy="256764"/>
          </a:xfrm>
          <a:prstGeom prst="rect">
            <a:avLst/>
          </a:prstGeom>
          <a:noFill/>
          <a:ln/>
        </p:spPr>
        <p:txBody>
          <a:bodyPr wrap="square" lIns="0" tIns="0" rIns="0" bIns="0" rtlCol="0" anchor="b"/>
          <a:lstStyle/>
          <a:p>
            <a:pPr algn="ctr" indent="0" marL="0">
              <a:buNone/>
            </a:pPr>
            <a:r>
              <a:rPr lang="en-US" sz="700" b="1" dirty="0">
                <a:solidFill>
                  <a:srgbClr val="E0EEF2"/>
                </a:solidFill>
                <a:latin typeface="Calibri" pitchFamily="34" charset="0"/>
                <a:ea typeface="Calibri" pitchFamily="34" charset="-122"/>
                <a:cs typeface="Calibri" pitchFamily="34" charset="-120"/>
              </a:rPr>
              <a:t>Secret Manager</a:t>
            </a:r>
            <a:endParaRPr lang="en-US" sz="700" dirty="0"/>
          </a:p>
        </p:txBody>
      </p:sp>
      <p:sp>
        <p:nvSpPr>
          <p:cNvPr id="63" name="Text 61"/>
          <p:cNvSpPr/>
          <p:nvPr/>
        </p:nvSpPr>
        <p:spPr>
          <a:xfrm>
            <a:off x="9125712" y="1655796"/>
            <a:ext cx="2834640" cy="237012"/>
          </a:xfrm>
          <a:prstGeom prst="rect">
            <a:avLst/>
          </a:prstGeom>
          <a:noFill/>
          <a:ln/>
        </p:spPr>
        <p:txBody>
          <a:bodyPr wrap="square" lIns="0" tIns="0" rIns="0" bIns="0" rtlCol="0" anchor="t"/>
          <a:lstStyle/>
          <a:p>
            <a:pPr algn="ctr" indent="0" marL="0">
              <a:buNone/>
            </a:pPr>
            <a:r>
              <a:rPr lang="en-US" sz="550" dirty="0">
                <a:solidFill>
                  <a:srgbClr val="A8CEDA"/>
                </a:solidFill>
                <a:latin typeface="Calibri" pitchFamily="34" charset="0"/>
                <a:ea typeface="Calibri" pitchFamily="34" charset="-122"/>
                <a:cs typeface="Calibri" pitchFamily="34" charset="-120"/>
              </a:rPr>
              <a:t>HASHIDS_SALT · AES key</a:t>
            </a:r>
            <a:endParaRPr lang="en-US" sz="550" dirty="0"/>
          </a:p>
          <a:p>
            <a:pPr algn="ctr" indent="0" marL="0">
              <a:buNone/>
            </a:pPr>
            <a:r>
              <a:rPr lang="en-US" sz="550" dirty="0">
                <a:solidFill>
                  <a:srgbClr val="A8CEDA"/>
                </a:solidFill>
                <a:latin typeface="Calibri" pitchFamily="34" charset="0"/>
                <a:ea typeface="Calibri" pitchFamily="34" charset="-122"/>
                <a:cs typeface="Calibri" pitchFamily="34" charset="-120"/>
              </a:rPr>
              <a:t>OAuth secrets · API keys</a:t>
            </a:r>
            <a:endParaRPr lang="en-US" sz="550" dirty="0"/>
          </a:p>
        </p:txBody>
      </p:sp>
      <p:sp>
        <p:nvSpPr>
          <p:cNvPr id="64" name="Shape 62"/>
          <p:cNvSpPr/>
          <p:nvPr/>
        </p:nvSpPr>
        <p:spPr>
          <a:xfrm>
            <a:off x="9125712" y="1956816"/>
            <a:ext cx="2834640" cy="438912"/>
          </a:xfrm>
          <a:prstGeom prst="rect">
            <a:avLst/>
          </a:prstGeom>
          <a:solidFill>
            <a:srgbClr val="3D8090"/>
          </a:solidFill>
          <a:ln w="12700">
            <a:solidFill>
              <a:srgbClr val="2E6372"/>
            </a:solidFill>
            <a:prstDash val="solid"/>
          </a:ln>
        </p:spPr>
      </p:sp>
      <p:sp>
        <p:nvSpPr>
          <p:cNvPr id="65" name="Text 63"/>
          <p:cNvSpPr/>
          <p:nvPr/>
        </p:nvSpPr>
        <p:spPr>
          <a:xfrm>
            <a:off x="9125712" y="1956816"/>
            <a:ext cx="2834640" cy="228234"/>
          </a:xfrm>
          <a:prstGeom prst="rect">
            <a:avLst/>
          </a:prstGeom>
          <a:noFill/>
          <a:ln/>
        </p:spPr>
        <p:txBody>
          <a:bodyPr wrap="square" lIns="0" tIns="0" rIns="0" bIns="0" rtlCol="0" anchor="b"/>
          <a:lstStyle/>
          <a:p>
            <a:pPr algn="ctr" indent="0" marL="0">
              <a:buNone/>
            </a:pPr>
            <a:r>
              <a:rPr lang="en-US" sz="700" b="1" dirty="0">
                <a:solidFill>
                  <a:srgbClr val="E0EEF2"/>
                </a:solidFill>
                <a:latin typeface="Calibri" pitchFamily="34" charset="0"/>
                <a:ea typeface="Calibri" pitchFamily="34" charset="-122"/>
                <a:cs typeface="Calibri" pitchFamily="34" charset="-120"/>
              </a:rPr>
              <a:t>Cloud KMS</a:t>
            </a:r>
            <a:endParaRPr lang="en-US" sz="700" dirty="0"/>
          </a:p>
        </p:txBody>
      </p:sp>
      <p:sp>
        <p:nvSpPr>
          <p:cNvPr id="66" name="Text 64"/>
          <p:cNvSpPr/>
          <p:nvPr/>
        </p:nvSpPr>
        <p:spPr>
          <a:xfrm>
            <a:off x="9125712" y="2185050"/>
            <a:ext cx="2834640" cy="210678"/>
          </a:xfrm>
          <a:prstGeom prst="rect">
            <a:avLst/>
          </a:prstGeom>
          <a:noFill/>
          <a:ln/>
        </p:spPr>
        <p:txBody>
          <a:bodyPr wrap="square" lIns="0" tIns="0" rIns="0" bIns="0" rtlCol="0" anchor="t"/>
          <a:lstStyle/>
          <a:p>
            <a:pPr algn="ctr" indent="0" marL="0">
              <a:buNone/>
            </a:pPr>
            <a:r>
              <a:rPr lang="en-US" sz="550" dirty="0">
                <a:solidFill>
                  <a:srgbClr val="A8CEDA"/>
                </a:solidFill>
                <a:latin typeface="Calibri" pitchFamily="34" charset="0"/>
                <a:ea typeface="Calibri" pitchFamily="34" charset="-122"/>
                <a:cs typeface="Calibri" pitchFamily="34" charset="-120"/>
              </a:rPr>
              <a:t>CMEK for Cloud SQL &amp; Storage</a:t>
            </a:r>
            <a:endParaRPr lang="en-US" sz="550" dirty="0"/>
          </a:p>
        </p:txBody>
      </p:sp>
      <p:sp>
        <p:nvSpPr>
          <p:cNvPr id="67" name="Shape 65"/>
          <p:cNvSpPr/>
          <p:nvPr/>
        </p:nvSpPr>
        <p:spPr>
          <a:xfrm>
            <a:off x="9125712" y="2459736"/>
            <a:ext cx="2834640" cy="438912"/>
          </a:xfrm>
          <a:prstGeom prst="rect">
            <a:avLst/>
          </a:prstGeom>
          <a:solidFill>
            <a:srgbClr val="3D8090"/>
          </a:solidFill>
          <a:ln w="12700">
            <a:solidFill>
              <a:srgbClr val="2E6372"/>
            </a:solidFill>
            <a:prstDash val="solid"/>
          </a:ln>
        </p:spPr>
      </p:sp>
      <p:sp>
        <p:nvSpPr>
          <p:cNvPr id="68" name="Text 66"/>
          <p:cNvSpPr/>
          <p:nvPr/>
        </p:nvSpPr>
        <p:spPr>
          <a:xfrm>
            <a:off x="9125712" y="2459736"/>
            <a:ext cx="2834640" cy="228234"/>
          </a:xfrm>
          <a:prstGeom prst="rect">
            <a:avLst/>
          </a:prstGeom>
          <a:noFill/>
          <a:ln/>
        </p:spPr>
        <p:txBody>
          <a:bodyPr wrap="square" lIns="0" tIns="0" rIns="0" bIns="0" rtlCol="0" anchor="b"/>
          <a:lstStyle/>
          <a:p>
            <a:pPr algn="ctr" indent="0" marL="0">
              <a:buNone/>
            </a:pPr>
            <a:r>
              <a:rPr lang="en-US" sz="700" b="1" dirty="0">
                <a:solidFill>
                  <a:srgbClr val="E0EEF2"/>
                </a:solidFill>
                <a:latin typeface="Calibri" pitchFamily="34" charset="0"/>
                <a:ea typeface="Calibri" pitchFamily="34" charset="-122"/>
                <a:cs typeface="Calibri" pitchFamily="34" charset="-120"/>
              </a:rPr>
              <a:t>Workload Identity</a:t>
            </a:r>
            <a:endParaRPr lang="en-US" sz="700" dirty="0"/>
          </a:p>
        </p:txBody>
      </p:sp>
      <p:sp>
        <p:nvSpPr>
          <p:cNvPr id="69" name="Text 67"/>
          <p:cNvSpPr/>
          <p:nvPr/>
        </p:nvSpPr>
        <p:spPr>
          <a:xfrm>
            <a:off x="9125712" y="2687970"/>
            <a:ext cx="2834640" cy="210678"/>
          </a:xfrm>
          <a:prstGeom prst="rect">
            <a:avLst/>
          </a:prstGeom>
          <a:noFill/>
          <a:ln/>
        </p:spPr>
        <p:txBody>
          <a:bodyPr wrap="square" lIns="0" tIns="0" rIns="0" bIns="0" rtlCol="0" anchor="t"/>
          <a:lstStyle/>
          <a:p>
            <a:pPr algn="ctr" indent="0" marL="0">
              <a:buNone/>
            </a:pPr>
            <a:r>
              <a:rPr lang="en-US" sz="550" dirty="0">
                <a:solidFill>
                  <a:srgbClr val="A8CEDA"/>
                </a:solidFill>
                <a:latin typeface="Calibri" pitchFamily="34" charset="0"/>
                <a:ea typeface="Calibri" pitchFamily="34" charset="-122"/>
                <a:cs typeface="Calibri" pitchFamily="34" charset="-120"/>
              </a:rPr>
              <a:t>No static JSON keys in pods</a:t>
            </a:r>
            <a:endParaRPr lang="en-US" sz="550" dirty="0"/>
          </a:p>
        </p:txBody>
      </p:sp>
      <p:sp>
        <p:nvSpPr>
          <p:cNvPr id="70" name="Shape 68"/>
          <p:cNvSpPr/>
          <p:nvPr/>
        </p:nvSpPr>
        <p:spPr>
          <a:xfrm>
            <a:off x="9125712" y="2962656"/>
            <a:ext cx="2834640" cy="438912"/>
          </a:xfrm>
          <a:prstGeom prst="rect">
            <a:avLst/>
          </a:prstGeom>
          <a:solidFill>
            <a:srgbClr val="3D8090"/>
          </a:solidFill>
          <a:ln w="12700">
            <a:solidFill>
              <a:srgbClr val="2E6372"/>
            </a:solidFill>
            <a:prstDash val="solid"/>
          </a:ln>
        </p:spPr>
      </p:sp>
      <p:sp>
        <p:nvSpPr>
          <p:cNvPr id="71" name="Text 69"/>
          <p:cNvSpPr/>
          <p:nvPr/>
        </p:nvSpPr>
        <p:spPr>
          <a:xfrm>
            <a:off x="9125712" y="2962656"/>
            <a:ext cx="2834640" cy="228234"/>
          </a:xfrm>
          <a:prstGeom prst="rect">
            <a:avLst/>
          </a:prstGeom>
          <a:noFill/>
          <a:ln/>
        </p:spPr>
        <p:txBody>
          <a:bodyPr wrap="square" lIns="0" tIns="0" rIns="0" bIns="0" rtlCol="0" anchor="b"/>
          <a:lstStyle/>
          <a:p>
            <a:pPr algn="ctr" indent="0" marL="0">
              <a:buNone/>
            </a:pPr>
            <a:r>
              <a:rPr lang="en-US" sz="700" b="1" dirty="0">
                <a:solidFill>
                  <a:srgbClr val="E0EEF2"/>
                </a:solidFill>
                <a:latin typeface="Calibri" pitchFamily="34" charset="0"/>
                <a:ea typeface="Calibri" pitchFamily="34" charset="-122"/>
                <a:cs typeface="Calibri" pitchFamily="34" charset="-120"/>
              </a:rPr>
              <a:t>VPC Service Controls</a:t>
            </a:r>
            <a:endParaRPr lang="en-US" sz="700" dirty="0"/>
          </a:p>
        </p:txBody>
      </p:sp>
      <p:sp>
        <p:nvSpPr>
          <p:cNvPr id="72" name="Text 70"/>
          <p:cNvSpPr/>
          <p:nvPr/>
        </p:nvSpPr>
        <p:spPr>
          <a:xfrm>
            <a:off x="9125712" y="3190890"/>
            <a:ext cx="2834640" cy="210678"/>
          </a:xfrm>
          <a:prstGeom prst="rect">
            <a:avLst/>
          </a:prstGeom>
          <a:noFill/>
          <a:ln/>
        </p:spPr>
        <p:txBody>
          <a:bodyPr wrap="square" lIns="0" tIns="0" rIns="0" bIns="0" rtlCol="0" anchor="t"/>
          <a:lstStyle/>
          <a:p>
            <a:pPr algn="ctr" indent="0" marL="0">
              <a:buNone/>
            </a:pPr>
            <a:r>
              <a:rPr lang="en-US" sz="550" dirty="0">
                <a:solidFill>
                  <a:srgbClr val="A8CEDA"/>
                </a:solidFill>
                <a:latin typeface="Calibri" pitchFamily="34" charset="0"/>
                <a:ea typeface="Calibri" pitchFamily="34" charset="-122"/>
                <a:cs typeface="Calibri" pitchFamily="34" charset="-120"/>
              </a:rPr>
              <a:t>Data exfiltration perimeter</a:t>
            </a:r>
            <a:endParaRPr lang="en-US" sz="550" dirty="0"/>
          </a:p>
        </p:txBody>
      </p:sp>
      <p:sp>
        <p:nvSpPr>
          <p:cNvPr id="73" name="Shape 71"/>
          <p:cNvSpPr/>
          <p:nvPr/>
        </p:nvSpPr>
        <p:spPr>
          <a:xfrm>
            <a:off x="1353312" y="3657600"/>
            <a:ext cx="10689336" cy="768096"/>
          </a:xfrm>
          <a:prstGeom prst="rect">
            <a:avLst/>
          </a:prstGeom>
          <a:solidFill>
            <a:srgbClr val="F5EFE6"/>
          </a:solidFill>
          <a:ln w="12700">
            <a:solidFill>
              <a:srgbClr val="A8783C"/>
            </a:solidFill>
            <a:prstDash val="solid"/>
          </a:ln>
        </p:spPr>
      </p:sp>
      <p:sp>
        <p:nvSpPr>
          <p:cNvPr id="74" name="Text 72"/>
          <p:cNvSpPr/>
          <p:nvPr/>
        </p:nvSpPr>
        <p:spPr>
          <a:xfrm>
            <a:off x="1426464" y="3694176"/>
            <a:ext cx="3657600" cy="182880"/>
          </a:xfrm>
          <a:prstGeom prst="rect">
            <a:avLst/>
          </a:prstGeom>
          <a:noFill/>
          <a:ln/>
        </p:spPr>
        <p:txBody>
          <a:bodyPr wrap="square" lIns="0" tIns="0" rIns="0" bIns="0" rtlCol="0" anchor="ctr"/>
          <a:lstStyle/>
          <a:p>
            <a:pPr indent="0" marL="0">
              <a:buNone/>
            </a:pPr>
            <a:r>
              <a:rPr lang="en-US" sz="700" b="1" dirty="0">
                <a:solidFill>
                  <a:srgbClr val="A8783C"/>
                </a:solidFill>
                <a:latin typeface="Calibri" pitchFamily="34" charset="0"/>
                <a:ea typeface="Calibri" pitchFamily="34" charset="-122"/>
                <a:cs typeface="Calibri" pitchFamily="34" charset="-120"/>
              </a:rPr>
              <a:t>Async &amp; Scheduling</a:t>
            </a:r>
            <a:endParaRPr lang="en-US" sz="700" dirty="0"/>
          </a:p>
        </p:txBody>
      </p:sp>
      <p:sp>
        <p:nvSpPr>
          <p:cNvPr id="75" name="Shape 73"/>
          <p:cNvSpPr/>
          <p:nvPr/>
        </p:nvSpPr>
        <p:spPr>
          <a:xfrm>
            <a:off x="1444752" y="3904488"/>
            <a:ext cx="5833872" cy="448056"/>
          </a:xfrm>
          <a:prstGeom prst="rect">
            <a:avLst/>
          </a:prstGeom>
          <a:solidFill>
            <a:srgbClr val="A8783C"/>
          </a:solidFill>
          <a:ln w="12700">
            <a:solidFill>
              <a:srgbClr val="8A6028"/>
            </a:solidFill>
            <a:prstDash val="solid"/>
          </a:ln>
        </p:spPr>
      </p:sp>
      <p:sp>
        <p:nvSpPr>
          <p:cNvPr id="76" name="Text 74"/>
          <p:cNvSpPr/>
          <p:nvPr/>
        </p:nvSpPr>
        <p:spPr>
          <a:xfrm>
            <a:off x="1444752" y="3904488"/>
            <a:ext cx="1828800" cy="448056"/>
          </a:xfrm>
          <a:prstGeom prst="rect">
            <a:avLst/>
          </a:prstGeom>
          <a:noFill/>
          <a:ln/>
        </p:spPr>
        <p:txBody>
          <a:bodyPr wrap="square" lIns="0" tIns="0" rIns="0" bIns="0" rtlCol="0" anchor="ctr"/>
          <a:lstStyle/>
          <a:p>
            <a:pPr algn="ctr" indent="0" marL="0">
              <a:buNone/>
            </a:pPr>
            <a:r>
              <a:rPr lang="en-US" sz="700" b="1" dirty="0">
                <a:solidFill>
                  <a:srgbClr val="F0E8D8"/>
                </a:solidFill>
                <a:latin typeface="Calibri" pitchFamily="34" charset="0"/>
                <a:ea typeface="Calibri" pitchFamily="34" charset="-122"/>
                <a:cs typeface="Calibri" pitchFamily="34" charset="-120"/>
              </a:rPr>
              <a:t>Cloud Pub/Sub</a:t>
            </a:r>
            <a:endParaRPr lang="en-US" sz="700" dirty="0"/>
          </a:p>
        </p:txBody>
      </p:sp>
      <p:sp>
        <p:nvSpPr>
          <p:cNvPr id="77" name="Text 75"/>
          <p:cNvSpPr/>
          <p:nvPr/>
        </p:nvSpPr>
        <p:spPr>
          <a:xfrm>
            <a:off x="3364992" y="3904488"/>
            <a:ext cx="3913632" cy="448056"/>
          </a:xfrm>
          <a:prstGeom prst="rect">
            <a:avLst/>
          </a:prstGeom>
          <a:noFill/>
          <a:ln/>
        </p:spPr>
        <p:txBody>
          <a:bodyPr wrap="square" lIns="0" tIns="0" rIns="0" bIns="0" rtlCol="0" anchor="ctr"/>
          <a:lstStyle/>
          <a:p>
            <a:pPr indent="0" marL="0">
              <a:buNone/>
            </a:pPr>
            <a:r>
              <a:rPr lang="en-US" sz="550" dirty="0">
                <a:solidFill>
                  <a:srgbClr val="E8D8B8"/>
                </a:solidFill>
                <a:latin typeface="Calibri" pitchFamily="34" charset="0"/>
                <a:ea typeface="Calibri" pitchFamily="34" charset="-122"/>
                <a:cs typeface="Calibri" pitchFamily="34" charset="-120"/>
              </a:rPr>
              <a:t>kyc-webhook-delivery  |  kyc-webhook-deadletter  |  kyc-nls-feedback  |  kyc-case-poll-trigger  |  kyc-audit-events</a:t>
            </a:r>
            <a:endParaRPr lang="en-US" sz="550" dirty="0"/>
          </a:p>
        </p:txBody>
      </p:sp>
      <p:sp>
        <p:nvSpPr>
          <p:cNvPr id="78" name="Shape 76"/>
          <p:cNvSpPr/>
          <p:nvPr/>
        </p:nvSpPr>
        <p:spPr>
          <a:xfrm>
            <a:off x="7388352" y="3904488"/>
            <a:ext cx="4480560" cy="448056"/>
          </a:xfrm>
          <a:prstGeom prst="rect">
            <a:avLst/>
          </a:prstGeom>
          <a:solidFill>
            <a:srgbClr val="B8884C"/>
          </a:solidFill>
          <a:ln w="12700">
            <a:solidFill>
              <a:srgbClr val="A8783C"/>
            </a:solidFill>
            <a:prstDash val="solid"/>
          </a:ln>
        </p:spPr>
      </p:sp>
      <p:sp>
        <p:nvSpPr>
          <p:cNvPr id="79" name="Text 77"/>
          <p:cNvSpPr/>
          <p:nvPr/>
        </p:nvSpPr>
        <p:spPr>
          <a:xfrm>
            <a:off x="7388352" y="3904488"/>
            <a:ext cx="1828800" cy="448056"/>
          </a:xfrm>
          <a:prstGeom prst="rect">
            <a:avLst/>
          </a:prstGeom>
          <a:noFill/>
          <a:ln/>
        </p:spPr>
        <p:txBody>
          <a:bodyPr wrap="square" lIns="0" tIns="0" rIns="0" bIns="0" rtlCol="0" anchor="ctr"/>
          <a:lstStyle/>
          <a:p>
            <a:pPr algn="ctr" indent="0" marL="0">
              <a:buNone/>
            </a:pPr>
            <a:r>
              <a:rPr lang="en-US" sz="700" b="1" dirty="0">
                <a:solidFill>
                  <a:srgbClr val="F0E8D8"/>
                </a:solidFill>
                <a:latin typeface="Calibri" pitchFamily="34" charset="0"/>
                <a:ea typeface="Calibri" pitchFamily="34" charset="-122"/>
                <a:cs typeface="Calibri" pitchFamily="34" charset="-120"/>
              </a:rPr>
              <a:t>Cloud Scheduler</a:t>
            </a:r>
            <a:endParaRPr lang="en-US" sz="700" dirty="0"/>
          </a:p>
        </p:txBody>
      </p:sp>
      <p:sp>
        <p:nvSpPr>
          <p:cNvPr id="80" name="Text 78"/>
          <p:cNvSpPr/>
          <p:nvPr/>
        </p:nvSpPr>
        <p:spPr>
          <a:xfrm>
            <a:off x="9262872" y="3904488"/>
            <a:ext cx="2578608" cy="448056"/>
          </a:xfrm>
          <a:prstGeom prst="rect">
            <a:avLst/>
          </a:prstGeom>
          <a:noFill/>
          <a:ln/>
        </p:spPr>
        <p:txBody>
          <a:bodyPr wrap="square" lIns="0" tIns="0" rIns="0" bIns="0" rtlCol="0" anchor="ctr"/>
          <a:lstStyle/>
          <a:p>
            <a:pPr indent="0" marL="0">
              <a:buNone/>
            </a:pPr>
            <a:r>
              <a:rPr lang="en-US" sz="550" dirty="0">
                <a:solidFill>
                  <a:srgbClr val="E8D8B8"/>
                </a:solidFill>
                <a:latin typeface="Calibri" pitchFamily="34" charset="0"/>
                <a:ea typeface="Calibri" pitchFamily="34" charset="-122"/>
                <a:cs typeface="Calibri" pitchFamily="34" charset="-120"/>
              </a:rPr>
              <a:t>NLS poll (*/5 min)  |  Case finalization poll  |  SLA breach check (hourly)</a:t>
            </a:r>
            <a:endParaRPr lang="en-US" sz="550" dirty="0"/>
          </a:p>
        </p:txBody>
      </p:sp>
      <p:sp>
        <p:nvSpPr>
          <p:cNvPr id="81" name="Shape 79"/>
          <p:cNvSpPr/>
          <p:nvPr/>
        </p:nvSpPr>
        <p:spPr>
          <a:xfrm>
            <a:off x="1353312" y="4498848"/>
            <a:ext cx="10689336" cy="694944"/>
          </a:xfrm>
          <a:prstGeom prst="rect">
            <a:avLst/>
          </a:prstGeom>
          <a:solidFill>
            <a:srgbClr val="EAF3EC"/>
          </a:solidFill>
          <a:ln w="12700">
            <a:solidFill>
              <a:srgbClr val="457A52"/>
            </a:solidFill>
            <a:prstDash val="solid"/>
          </a:ln>
        </p:spPr>
      </p:sp>
      <p:sp>
        <p:nvSpPr>
          <p:cNvPr id="82" name="Text 80"/>
          <p:cNvSpPr/>
          <p:nvPr/>
        </p:nvSpPr>
        <p:spPr>
          <a:xfrm>
            <a:off x="1426464" y="4535424"/>
            <a:ext cx="2743200" cy="182880"/>
          </a:xfrm>
          <a:prstGeom prst="rect">
            <a:avLst/>
          </a:prstGeom>
          <a:noFill/>
          <a:ln/>
        </p:spPr>
        <p:txBody>
          <a:bodyPr wrap="square" lIns="0" tIns="0" rIns="0" bIns="0" rtlCol="0" anchor="ctr"/>
          <a:lstStyle/>
          <a:p>
            <a:pPr indent="0" marL="0">
              <a:buNone/>
            </a:pPr>
            <a:r>
              <a:rPr lang="en-US" sz="700" b="1" dirty="0">
                <a:solidFill>
                  <a:srgbClr val="457A52"/>
                </a:solidFill>
                <a:latin typeface="Calibri" pitchFamily="34" charset="0"/>
                <a:ea typeface="Calibri" pitchFamily="34" charset="-122"/>
                <a:cs typeface="Calibri" pitchFamily="34" charset="-120"/>
              </a:rPr>
              <a:t>Observability</a:t>
            </a:r>
            <a:endParaRPr lang="en-US" sz="700" dirty="0"/>
          </a:p>
        </p:txBody>
      </p:sp>
      <p:sp>
        <p:nvSpPr>
          <p:cNvPr id="83" name="Shape 81"/>
          <p:cNvSpPr/>
          <p:nvPr/>
        </p:nvSpPr>
        <p:spPr>
          <a:xfrm>
            <a:off x="1444752" y="4727448"/>
            <a:ext cx="2011680" cy="402336"/>
          </a:xfrm>
          <a:prstGeom prst="rect">
            <a:avLst/>
          </a:prstGeom>
          <a:solidFill>
            <a:srgbClr val="457A52"/>
          </a:solidFill>
          <a:ln w="12700">
            <a:solidFill>
              <a:srgbClr val="355E3F"/>
            </a:solidFill>
            <a:prstDash val="solid"/>
          </a:ln>
        </p:spPr>
      </p:sp>
      <p:sp>
        <p:nvSpPr>
          <p:cNvPr id="84" name="Text 82"/>
          <p:cNvSpPr/>
          <p:nvPr/>
        </p:nvSpPr>
        <p:spPr>
          <a:xfrm>
            <a:off x="1444752" y="4727448"/>
            <a:ext cx="2011680" cy="210312"/>
          </a:xfrm>
          <a:prstGeom prst="rect">
            <a:avLst/>
          </a:prstGeom>
          <a:noFill/>
          <a:ln/>
        </p:spPr>
        <p:txBody>
          <a:bodyPr wrap="square" lIns="0" tIns="0" rIns="0" bIns="0" rtlCol="0" anchor="ctr"/>
          <a:lstStyle/>
          <a:p>
            <a:pPr algn="ctr" indent="0" marL="0">
              <a:buNone/>
            </a:pPr>
            <a:r>
              <a:rPr lang="en-US" sz="650" b="1" dirty="0">
                <a:solidFill>
                  <a:srgbClr val="E0EEE2"/>
                </a:solidFill>
                <a:latin typeface="Calibri" pitchFamily="34" charset="0"/>
                <a:ea typeface="Calibri" pitchFamily="34" charset="-122"/>
                <a:cs typeface="Calibri" pitchFamily="34" charset="-120"/>
              </a:rPr>
              <a:t>Cloud Monitoring</a:t>
            </a:r>
            <a:endParaRPr lang="en-US" sz="650" dirty="0"/>
          </a:p>
        </p:txBody>
      </p:sp>
      <p:sp>
        <p:nvSpPr>
          <p:cNvPr id="85" name="Text 83"/>
          <p:cNvSpPr/>
          <p:nvPr/>
        </p:nvSpPr>
        <p:spPr>
          <a:xfrm>
            <a:off x="1444752" y="4928616"/>
            <a:ext cx="2011680" cy="201168"/>
          </a:xfrm>
          <a:prstGeom prst="rect">
            <a:avLst/>
          </a:prstGeom>
          <a:noFill/>
          <a:ln/>
        </p:spPr>
        <p:txBody>
          <a:bodyPr wrap="square" lIns="0" tIns="0" rIns="0" bIns="0" rtlCol="0" anchor="t"/>
          <a:lstStyle/>
          <a:p>
            <a:pPr algn="ctr" indent="0" marL="0">
              <a:buNone/>
            </a:pPr>
            <a:r>
              <a:rPr lang="en-US" sz="550" dirty="0">
                <a:solidFill>
                  <a:srgbClr val="A8C8AC"/>
                </a:solidFill>
                <a:latin typeface="Calibri" pitchFamily="34" charset="0"/>
                <a:ea typeface="Calibri" pitchFamily="34" charset="-122"/>
                <a:cs typeface="Calibri" pitchFamily="34" charset="-120"/>
              </a:rPr>
              <a:t>Metrics · Alerting policies</a:t>
            </a:r>
            <a:endParaRPr lang="en-US" sz="550" dirty="0"/>
          </a:p>
        </p:txBody>
      </p:sp>
      <p:sp>
        <p:nvSpPr>
          <p:cNvPr id="86" name="Shape 84"/>
          <p:cNvSpPr/>
          <p:nvPr/>
        </p:nvSpPr>
        <p:spPr>
          <a:xfrm>
            <a:off x="3547872" y="4727448"/>
            <a:ext cx="2011680" cy="402336"/>
          </a:xfrm>
          <a:prstGeom prst="rect">
            <a:avLst/>
          </a:prstGeom>
          <a:solidFill>
            <a:srgbClr val="457A52"/>
          </a:solidFill>
          <a:ln w="12700">
            <a:solidFill>
              <a:srgbClr val="355E3F"/>
            </a:solidFill>
            <a:prstDash val="solid"/>
          </a:ln>
        </p:spPr>
      </p:sp>
      <p:sp>
        <p:nvSpPr>
          <p:cNvPr id="87" name="Text 85"/>
          <p:cNvSpPr/>
          <p:nvPr/>
        </p:nvSpPr>
        <p:spPr>
          <a:xfrm>
            <a:off x="3547872" y="4727448"/>
            <a:ext cx="2011680" cy="210312"/>
          </a:xfrm>
          <a:prstGeom prst="rect">
            <a:avLst/>
          </a:prstGeom>
          <a:noFill/>
          <a:ln/>
        </p:spPr>
        <p:txBody>
          <a:bodyPr wrap="square" lIns="0" tIns="0" rIns="0" bIns="0" rtlCol="0" anchor="ctr"/>
          <a:lstStyle/>
          <a:p>
            <a:pPr algn="ctr" indent="0" marL="0">
              <a:buNone/>
            </a:pPr>
            <a:r>
              <a:rPr lang="en-US" sz="650" b="1" dirty="0">
                <a:solidFill>
                  <a:srgbClr val="E0EEE2"/>
                </a:solidFill>
                <a:latin typeface="Calibri" pitchFamily="34" charset="0"/>
                <a:ea typeface="Calibri" pitchFamily="34" charset="-122"/>
                <a:cs typeface="Calibri" pitchFamily="34" charset="-120"/>
              </a:rPr>
              <a:t>Cloud Trace</a:t>
            </a:r>
            <a:endParaRPr lang="en-US" sz="650" dirty="0"/>
          </a:p>
        </p:txBody>
      </p:sp>
      <p:sp>
        <p:nvSpPr>
          <p:cNvPr id="88" name="Text 86"/>
          <p:cNvSpPr/>
          <p:nvPr/>
        </p:nvSpPr>
        <p:spPr>
          <a:xfrm>
            <a:off x="3547872" y="4928616"/>
            <a:ext cx="2011680" cy="201168"/>
          </a:xfrm>
          <a:prstGeom prst="rect">
            <a:avLst/>
          </a:prstGeom>
          <a:noFill/>
          <a:ln/>
        </p:spPr>
        <p:txBody>
          <a:bodyPr wrap="square" lIns="0" tIns="0" rIns="0" bIns="0" rtlCol="0" anchor="t"/>
          <a:lstStyle/>
          <a:p>
            <a:pPr algn="ctr" indent="0" marL="0">
              <a:buNone/>
            </a:pPr>
            <a:r>
              <a:rPr lang="en-US" sz="550" dirty="0">
                <a:solidFill>
                  <a:srgbClr val="A8C8AC"/>
                </a:solidFill>
                <a:latin typeface="Calibri" pitchFamily="34" charset="0"/>
                <a:ea typeface="Calibri" pitchFamily="34" charset="-122"/>
                <a:cs typeface="Calibri" pitchFamily="34" charset="-120"/>
              </a:rPr>
              <a:t>traceId · End-to-end tracing</a:t>
            </a:r>
            <a:endParaRPr lang="en-US" sz="550" dirty="0"/>
          </a:p>
        </p:txBody>
      </p:sp>
      <p:sp>
        <p:nvSpPr>
          <p:cNvPr id="89" name="Shape 87"/>
          <p:cNvSpPr/>
          <p:nvPr/>
        </p:nvSpPr>
        <p:spPr>
          <a:xfrm>
            <a:off x="5650992" y="4727448"/>
            <a:ext cx="2011680" cy="402336"/>
          </a:xfrm>
          <a:prstGeom prst="rect">
            <a:avLst/>
          </a:prstGeom>
          <a:solidFill>
            <a:srgbClr val="457A52"/>
          </a:solidFill>
          <a:ln w="12700">
            <a:solidFill>
              <a:srgbClr val="355E3F"/>
            </a:solidFill>
            <a:prstDash val="solid"/>
          </a:ln>
        </p:spPr>
      </p:sp>
      <p:sp>
        <p:nvSpPr>
          <p:cNvPr id="90" name="Text 88"/>
          <p:cNvSpPr/>
          <p:nvPr/>
        </p:nvSpPr>
        <p:spPr>
          <a:xfrm>
            <a:off x="5650992" y="4727448"/>
            <a:ext cx="2011680" cy="210312"/>
          </a:xfrm>
          <a:prstGeom prst="rect">
            <a:avLst/>
          </a:prstGeom>
          <a:noFill/>
          <a:ln/>
        </p:spPr>
        <p:txBody>
          <a:bodyPr wrap="square" lIns="0" tIns="0" rIns="0" bIns="0" rtlCol="0" anchor="ctr"/>
          <a:lstStyle/>
          <a:p>
            <a:pPr algn="ctr" indent="0" marL="0">
              <a:buNone/>
            </a:pPr>
            <a:r>
              <a:rPr lang="en-US" sz="650" b="1" dirty="0">
                <a:solidFill>
                  <a:srgbClr val="E0EEE2"/>
                </a:solidFill>
                <a:latin typeface="Calibri" pitchFamily="34" charset="0"/>
                <a:ea typeface="Calibri" pitchFamily="34" charset="-122"/>
                <a:cs typeface="Calibri" pitchFamily="34" charset="-120"/>
              </a:rPr>
              <a:t>Cloud Logging</a:t>
            </a:r>
            <a:endParaRPr lang="en-US" sz="650" dirty="0"/>
          </a:p>
        </p:txBody>
      </p:sp>
      <p:sp>
        <p:nvSpPr>
          <p:cNvPr id="91" name="Text 89"/>
          <p:cNvSpPr/>
          <p:nvPr/>
        </p:nvSpPr>
        <p:spPr>
          <a:xfrm>
            <a:off x="5650992" y="4928616"/>
            <a:ext cx="2011680" cy="201168"/>
          </a:xfrm>
          <a:prstGeom prst="rect">
            <a:avLst/>
          </a:prstGeom>
          <a:noFill/>
          <a:ln/>
        </p:spPr>
        <p:txBody>
          <a:bodyPr wrap="square" lIns="0" tIns="0" rIns="0" bIns="0" rtlCol="0" anchor="t"/>
          <a:lstStyle/>
          <a:p>
            <a:pPr algn="ctr" indent="0" marL="0">
              <a:buNone/>
            </a:pPr>
            <a:r>
              <a:rPr lang="en-US" sz="550" dirty="0">
                <a:solidFill>
                  <a:srgbClr val="A8C8AC"/>
                </a:solidFill>
                <a:latin typeface="Calibri" pitchFamily="34" charset="0"/>
                <a:ea typeface="Calibri" pitchFamily="34" charset="-122"/>
                <a:cs typeface="Calibri" pitchFamily="34" charset="-120"/>
              </a:rPr>
              <a:t>PII-masked structured logs</a:t>
            </a:r>
            <a:endParaRPr lang="en-US" sz="550" dirty="0"/>
          </a:p>
        </p:txBody>
      </p:sp>
      <p:sp>
        <p:nvSpPr>
          <p:cNvPr id="92" name="Shape 90"/>
          <p:cNvSpPr/>
          <p:nvPr/>
        </p:nvSpPr>
        <p:spPr>
          <a:xfrm>
            <a:off x="7754112" y="4727448"/>
            <a:ext cx="2011680" cy="402336"/>
          </a:xfrm>
          <a:prstGeom prst="rect">
            <a:avLst/>
          </a:prstGeom>
          <a:solidFill>
            <a:srgbClr val="457A52"/>
          </a:solidFill>
          <a:ln w="12700">
            <a:solidFill>
              <a:srgbClr val="355E3F"/>
            </a:solidFill>
            <a:prstDash val="solid"/>
          </a:ln>
        </p:spPr>
      </p:sp>
      <p:sp>
        <p:nvSpPr>
          <p:cNvPr id="93" name="Text 91"/>
          <p:cNvSpPr/>
          <p:nvPr/>
        </p:nvSpPr>
        <p:spPr>
          <a:xfrm>
            <a:off x="7754112" y="4727448"/>
            <a:ext cx="2011680" cy="210312"/>
          </a:xfrm>
          <a:prstGeom prst="rect">
            <a:avLst/>
          </a:prstGeom>
          <a:noFill/>
          <a:ln/>
        </p:spPr>
        <p:txBody>
          <a:bodyPr wrap="square" lIns="0" tIns="0" rIns="0" bIns="0" rtlCol="0" anchor="ctr"/>
          <a:lstStyle/>
          <a:p>
            <a:pPr algn="ctr" indent="0" marL="0">
              <a:buNone/>
            </a:pPr>
            <a:r>
              <a:rPr lang="en-US" sz="650" b="1" dirty="0">
                <a:solidFill>
                  <a:srgbClr val="E0EEE2"/>
                </a:solidFill>
                <a:latin typeface="Calibri" pitchFamily="34" charset="0"/>
                <a:ea typeface="Calibri" pitchFamily="34" charset="-122"/>
                <a:cs typeface="Calibri" pitchFamily="34" charset="-120"/>
              </a:rPr>
              <a:t>Error Reporting</a:t>
            </a:r>
            <a:endParaRPr lang="en-US" sz="650" dirty="0"/>
          </a:p>
        </p:txBody>
      </p:sp>
      <p:sp>
        <p:nvSpPr>
          <p:cNvPr id="94" name="Text 92"/>
          <p:cNvSpPr/>
          <p:nvPr/>
        </p:nvSpPr>
        <p:spPr>
          <a:xfrm>
            <a:off x="7754112" y="4928616"/>
            <a:ext cx="2011680" cy="201168"/>
          </a:xfrm>
          <a:prstGeom prst="rect">
            <a:avLst/>
          </a:prstGeom>
          <a:noFill/>
          <a:ln/>
        </p:spPr>
        <p:txBody>
          <a:bodyPr wrap="square" lIns="0" tIns="0" rIns="0" bIns="0" rtlCol="0" anchor="t"/>
          <a:lstStyle/>
          <a:p>
            <a:pPr algn="ctr" indent="0" marL="0">
              <a:buNone/>
            </a:pPr>
            <a:r>
              <a:rPr lang="en-US" sz="550" dirty="0">
                <a:solidFill>
                  <a:srgbClr val="A8C8AC"/>
                </a:solidFill>
                <a:latin typeface="Calibri" pitchFamily="34" charset="0"/>
                <a:ea typeface="Calibri" pitchFamily="34" charset="-122"/>
                <a:cs typeface="Calibri" pitchFamily="34" charset="-120"/>
              </a:rPr>
              <a:t>PagerDuty integration</a:t>
            </a:r>
            <a:endParaRPr lang="en-US" sz="550" dirty="0"/>
          </a:p>
        </p:txBody>
      </p:sp>
      <p:sp>
        <p:nvSpPr>
          <p:cNvPr id="95" name="Shape 93"/>
          <p:cNvSpPr/>
          <p:nvPr/>
        </p:nvSpPr>
        <p:spPr>
          <a:xfrm>
            <a:off x="9857232" y="4727448"/>
            <a:ext cx="2011680" cy="402336"/>
          </a:xfrm>
          <a:prstGeom prst="rect">
            <a:avLst/>
          </a:prstGeom>
          <a:solidFill>
            <a:srgbClr val="457A52"/>
          </a:solidFill>
          <a:ln w="12700">
            <a:solidFill>
              <a:srgbClr val="355E3F"/>
            </a:solidFill>
            <a:prstDash val="solid"/>
          </a:ln>
        </p:spPr>
      </p:sp>
      <p:sp>
        <p:nvSpPr>
          <p:cNvPr id="96" name="Text 94"/>
          <p:cNvSpPr/>
          <p:nvPr/>
        </p:nvSpPr>
        <p:spPr>
          <a:xfrm>
            <a:off x="9857232" y="4727448"/>
            <a:ext cx="2011680" cy="210312"/>
          </a:xfrm>
          <a:prstGeom prst="rect">
            <a:avLst/>
          </a:prstGeom>
          <a:noFill/>
          <a:ln/>
        </p:spPr>
        <p:txBody>
          <a:bodyPr wrap="square" lIns="0" tIns="0" rIns="0" bIns="0" rtlCol="0" anchor="ctr"/>
          <a:lstStyle/>
          <a:p>
            <a:pPr algn="ctr" indent="0" marL="0">
              <a:buNone/>
            </a:pPr>
            <a:r>
              <a:rPr lang="en-US" sz="650" b="1" dirty="0">
                <a:solidFill>
                  <a:srgbClr val="E0EEE2"/>
                </a:solidFill>
                <a:latin typeface="Calibri" pitchFamily="34" charset="0"/>
                <a:ea typeface="Calibri" pitchFamily="34" charset="-122"/>
                <a:cs typeface="Calibri" pitchFamily="34" charset="-120"/>
              </a:rPr>
              <a:t>BigQuery</a:t>
            </a:r>
            <a:endParaRPr lang="en-US" sz="650" dirty="0"/>
          </a:p>
        </p:txBody>
      </p:sp>
      <p:sp>
        <p:nvSpPr>
          <p:cNvPr id="97" name="Text 95"/>
          <p:cNvSpPr/>
          <p:nvPr/>
        </p:nvSpPr>
        <p:spPr>
          <a:xfrm>
            <a:off x="9857232" y="4928616"/>
            <a:ext cx="2011680" cy="201168"/>
          </a:xfrm>
          <a:prstGeom prst="rect">
            <a:avLst/>
          </a:prstGeom>
          <a:noFill/>
          <a:ln/>
        </p:spPr>
        <p:txBody>
          <a:bodyPr wrap="square" lIns="0" tIns="0" rIns="0" bIns="0" rtlCol="0" anchor="t"/>
          <a:lstStyle/>
          <a:p>
            <a:pPr algn="ctr" indent="0" marL="0">
              <a:buNone/>
            </a:pPr>
            <a:r>
              <a:rPr lang="en-US" sz="550" dirty="0">
                <a:solidFill>
                  <a:srgbClr val="A8C8AC"/>
                </a:solidFill>
                <a:latin typeface="Calibri" pitchFamily="34" charset="0"/>
                <a:ea typeface="Calibri" pitchFamily="34" charset="-122"/>
                <a:cs typeface="Calibri" pitchFamily="34" charset="-120"/>
              </a:rPr>
              <a:t>Immutable audit · Compliance</a:t>
            </a:r>
            <a:endParaRPr lang="en-US" sz="550" dirty="0"/>
          </a:p>
        </p:txBody>
      </p:sp>
      <p:sp>
        <p:nvSpPr>
          <p:cNvPr id="98" name="Shape 96"/>
          <p:cNvSpPr/>
          <p:nvPr/>
        </p:nvSpPr>
        <p:spPr>
          <a:xfrm>
            <a:off x="1353312" y="5257800"/>
            <a:ext cx="7589520" cy="329184"/>
          </a:xfrm>
          <a:prstGeom prst="rect">
            <a:avLst/>
          </a:prstGeom>
          <a:solidFill>
            <a:srgbClr val="F2EEEC"/>
          </a:solidFill>
          <a:ln w="12700">
            <a:solidFill>
              <a:srgbClr val="8A5050"/>
            </a:solidFill>
            <a:prstDash val="solid"/>
          </a:ln>
        </p:spPr>
      </p:sp>
      <p:sp>
        <p:nvSpPr>
          <p:cNvPr id="99" name="Text 97"/>
          <p:cNvSpPr/>
          <p:nvPr/>
        </p:nvSpPr>
        <p:spPr>
          <a:xfrm>
            <a:off x="1417320" y="5257800"/>
            <a:ext cx="7479792" cy="329184"/>
          </a:xfrm>
          <a:prstGeom prst="rect">
            <a:avLst/>
          </a:prstGeom>
          <a:noFill/>
          <a:ln/>
        </p:spPr>
        <p:txBody>
          <a:bodyPr wrap="square" lIns="0" tIns="0" rIns="0" bIns="0" rtlCol="0" anchor="ctr"/>
          <a:lstStyle/>
          <a:p>
            <a:pPr indent="0" marL="0">
              <a:buNone/>
            </a:pPr>
            <a:r>
              <a:rPr lang="en-US" sz="650" dirty="0">
                <a:solidFill>
                  <a:srgbClr val="6A3A3A"/>
                </a:solidFill>
                <a:latin typeface="Calibri" pitchFamily="34" charset="0"/>
                <a:ea typeface="Calibri" pitchFamily="34" charset="-122"/>
                <a:cs typeface="Calibri" pitchFamily="34" charset="-120"/>
              </a:rPr>
              <a:t>All PII encrypted AES-128/GCM at rest  |  TLS 1.2+ in transit  |  OAuth 2.0 Client Credentials  |  No public IPs on data services</a:t>
            </a:r>
            <a:endParaRPr lang="en-US" sz="650" dirty="0"/>
          </a:p>
        </p:txBody>
      </p:sp>
      <p:sp>
        <p:nvSpPr>
          <p:cNvPr id="100" name="Shape 98"/>
          <p:cNvSpPr/>
          <p:nvPr/>
        </p:nvSpPr>
        <p:spPr>
          <a:xfrm>
            <a:off x="9034272" y="5257800"/>
            <a:ext cx="3063240" cy="841248"/>
          </a:xfrm>
          <a:prstGeom prst="rect">
            <a:avLst/>
          </a:prstGeom>
          <a:solidFill>
            <a:srgbClr val="F4F5F7"/>
          </a:solidFill>
          <a:ln w="12700">
            <a:solidFill>
              <a:srgbClr val="B0B7BF"/>
            </a:solidFill>
            <a:prstDash val="solid"/>
          </a:ln>
        </p:spPr>
      </p:sp>
      <p:sp>
        <p:nvSpPr>
          <p:cNvPr id="101" name="Text 99"/>
          <p:cNvSpPr/>
          <p:nvPr/>
        </p:nvSpPr>
        <p:spPr>
          <a:xfrm>
            <a:off x="9098280" y="5276088"/>
            <a:ext cx="2926080" cy="182880"/>
          </a:xfrm>
          <a:prstGeom prst="rect">
            <a:avLst/>
          </a:prstGeom>
          <a:noFill/>
          <a:ln/>
        </p:spPr>
        <p:txBody>
          <a:bodyPr wrap="square" lIns="0" tIns="0" rIns="0" bIns="0" rtlCol="0" anchor="ctr"/>
          <a:lstStyle/>
          <a:p>
            <a:pPr indent="0" marL="0">
              <a:buNone/>
            </a:pPr>
            <a:r>
              <a:rPr lang="en-US" sz="650" b="1" dirty="0">
                <a:solidFill>
                  <a:srgbClr val="444E58"/>
                </a:solidFill>
                <a:latin typeface="Calibri" pitchFamily="34" charset="0"/>
                <a:ea typeface="Calibri" pitchFamily="34" charset="-122"/>
                <a:cs typeface="Calibri" pitchFamily="34" charset="-120"/>
              </a:rPr>
              <a:t>Legend</a:t>
            </a:r>
            <a:endParaRPr lang="en-US" sz="650" dirty="0"/>
          </a:p>
        </p:txBody>
      </p:sp>
      <p:sp>
        <p:nvSpPr>
          <p:cNvPr id="102" name="Shape 100"/>
          <p:cNvSpPr/>
          <p:nvPr/>
        </p:nvSpPr>
        <p:spPr>
          <a:xfrm>
            <a:off x="9098280" y="5486400"/>
            <a:ext cx="100584" cy="100584"/>
          </a:xfrm>
          <a:prstGeom prst="rect">
            <a:avLst/>
          </a:prstGeom>
          <a:solidFill>
            <a:srgbClr val="5578A0"/>
          </a:solidFill>
          <a:ln w="12700">
            <a:solidFill>
              <a:srgbClr val="5578A0"/>
            </a:solidFill>
            <a:prstDash val="solid"/>
          </a:ln>
        </p:spPr>
      </p:sp>
      <p:sp>
        <p:nvSpPr>
          <p:cNvPr id="103" name="Text 101"/>
          <p:cNvSpPr/>
          <p:nvPr/>
        </p:nvSpPr>
        <p:spPr>
          <a:xfrm>
            <a:off x="9235440" y="5486400"/>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Compute</a:t>
            </a:r>
            <a:endParaRPr lang="en-US" sz="580" dirty="0"/>
          </a:p>
        </p:txBody>
      </p:sp>
      <p:sp>
        <p:nvSpPr>
          <p:cNvPr id="104" name="Shape 102"/>
          <p:cNvSpPr/>
          <p:nvPr/>
        </p:nvSpPr>
        <p:spPr>
          <a:xfrm>
            <a:off x="9098280" y="5655564"/>
            <a:ext cx="100584" cy="100584"/>
          </a:xfrm>
          <a:prstGeom prst="rect">
            <a:avLst/>
          </a:prstGeom>
          <a:solidFill>
            <a:srgbClr val="706898"/>
          </a:solidFill>
          <a:ln w="12700">
            <a:solidFill>
              <a:srgbClr val="706898"/>
            </a:solidFill>
            <a:prstDash val="solid"/>
          </a:ln>
        </p:spPr>
      </p:sp>
      <p:sp>
        <p:nvSpPr>
          <p:cNvPr id="105" name="Text 103"/>
          <p:cNvSpPr/>
          <p:nvPr/>
        </p:nvSpPr>
        <p:spPr>
          <a:xfrm>
            <a:off x="9235440" y="5655564"/>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Database</a:t>
            </a:r>
            <a:endParaRPr lang="en-US" sz="580" dirty="0"/>
          </a:p>
        </p:txBody>
      </p:sp>
      <p:sp>
        <p:nvSpPr>
          <p:cNvPr id="106" name="Shape 104"/>
          <p:cNvSpPr/>
          <p:nvPr/>
        </p:nvSpPr>
        <p:spPr>
          <a:xfrm>
            <a:off x="9098280" y="5824728"/>
            <a:ext cx="100584" cy="100584"/>
          </a:xfrm>
          <a:prstGeom prst="rect">
            <a:avLst/>
          </a:prstGeom>
          <a:solidFill>
            <a:srgbClr val="A8783C"/>
          </a:solidFill>
          <a:ln w="12700">
            <a:solidFill>
              <a:srgbClr val="A8783C"/>
            </a:solidFill>
            <a:prstDash val="solid"/>
          </a:ln>
        </p:spPr>
      </p:sp>
      <p:sp>
        <p:nvSpPr>
          <p:cNvPr id="107" name="Text 105"/>
          <p:cNvSpPr/>
          <p:nvPr/>
        </p:nvSpPr>
        <p:spPr>
          <a:xfrm>
            <a:off x="9235440" y="5824728"/>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Messaging</a:t>
            </a:r>
            <a:endParaRPr lang="en-US" sz="580" dirty="0"/>
          </a:p>
        </p:txBody>
      </p:sp>
      <p:sp>
        <p:nvSpPr>
          <p:cNvPr id="108" name="Shape 106"/>
          <p:cNvSpPr/>
          <p:nvPr/>
        </p:nvSpPr>
        <p:spPr>
          <a:xfrm>
            <a:off x="9098280" y="5993892"/>
            <a:ext cx="100584" cy="100584"/>
          </a:xfrm>
          <a:prstGeom prst="rect">
            <a:avLst/>
          </a:prstGeom>
          <a:solidFill>
            <a:srgbClr val="A85A50"/>
          </a:solidFill>
          <a:ln w="12700">
            <a:solidFill>
              <a:srgbClr val="A85A50"/>
            </a:solidFill>
            <a:prstDash val="solid"/>
          </a:ln>
        </p:spPr>
      </p:sp>
      <p:sp>
        <p:nvSpPr>
          <p:cNvPr id="109" name="Text 107"/>
          <p:cNvSpPr/>
          <p:nvPr/>
        </p:nvSpPr>
        <p:spPr>
          <a:xfrm>
            <a:off x="9235440" y="5993892"/>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Security</a:t>
            </a:r>
            <a:endParaRPr lang="en-US" sz="580" dirty="0"/>
          </a:p>
        </p:txBody>
      </p:sp>
      <p:sp>
        <p:nvSpPr>
          <p:cNvPr id="110" name="Shape 108"/>
          <p:cNvSpPr/>
          <p:nvPr/>
        </p:nvSpPr>
        <p:spPr>
          <a:xfrm>
            <a:off x="10607040" y="5486400"/>
            <a:ext cx="100584" cy="100584"/>
          </a:xfrm>
          <a:prstGeom prst="rect">
            <a:avLst/>
          </a:prstGeom>
          <a:solidFill>
            <a:srgbClr val="457A52"/>
          </a:solidFill>
          <a:ln w="12700">
            <a:solidFill>
              <a:srgbClr val="457A52"/>
            </a:solidFill>
            <a:prstDash val="solid"/>
          </a:ln>
        </p:spPr>
      </p:sp>
      <p:sp>
        <p:nvSpPr>
          <p:cNvPr id="111" name="Text 109"/>
          <p:cNvSpPr/>
          <p:nvPr/>
        </p:nvSpPr>
        <p:spPr>
          <a:xfrm>
            <a:off x="10744200" y="5486400"/>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Observability</a:t>
            </a:r>
            <a:endParaRPr lang="en-US" sz="580" dirty="0"/>
          </a:p>
        </p:txBody>
      </p:sp>
      <p:sp>
        <p:nvSpPr>
          <p:cNvPr id="112" name="Shape 110"/>
          <p:cNvSpPr/>
          <p:nvPr/>
        </p:nvSpPr>
        <p:spPr>
          <a:xfrm>
            <a:off x="10607040" y="5655564"/>
            <a:ext cx="100584" cy="100584"/>
          </a:xfrm>
          <a:prstGeom prst="rect">
            <a:avLst/>
          </a:prstGeom>
          <a:solidFill>
            <a:srgbClr val="B8924A"/>
          </a:solidFill>
          <a:ln w="12700">
            <a:solidFill>
              <a:srgbClr val="B8924A"/>
            </a:solidFill>
            <a:prstDash val="solid"/>
          </a:ln>
        </p:spPr>
      </p:sp>
      <p:sp>
        <p:nvSpPr>
          <p:cNvPr id="113" name="Text 111"/>
          <p:cNvSpPr/>
          <p:nvPr/>
        </p:nvSpPr>
        <p:spPr>
          <a:xfrm>
            <a:off x="10744200" y="5655564"/>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CI/CD</a:t>
            </a:r>
            <a:endParaRPr lang="en-US" sz="580" dirty="0"/>
          </a:p>
        </p:txBody>
      </p:sp>
      <p:sp>
        <p:nvSpPr>
          <p:cNvPr id="114" name="Shape 112"/>
          <p:cNvSpPr/>
          <p:nvPr/>
        </p:nvSpPr>
        <p:spPr>
          <a:xfrm>
            <a:off x="10607040" y="5824728"/>
            <a:ext cx="100584" cy="100584"/>
          </a:xfrm>
          <a:prstGeom prst="rect">
            <a:avLst/>
          </a:prstGeom>
          <a:solidFill>
            <a:srgbClr val="3D8090"/>
          </a:solidFill>
          <a:ln w="12700">
            <a:solidFill>
              <a:srgbClr val="3D8090"/>
            </a:solidFill>
            <a:prstDash val="solid"/>
          </a:ln>
        </p:spPr>
      </p:sp>
      <p:sp>
        <p:nvSpPr>
          <p:cNvPr id="115" name="Text 113"/>
          <p:cNvSpPr/>
          <p:nvPr/>
        </p:nvSpPr>
        <p:spPr>
          <a:xfrm>
            <a:off x="10744200" y="5824728"/>
            <a:ext cx="1298448" cy="118872"/>
          </a:xfrm>
          <a:prstGeom prst="rect">
            <a:avLst/>
          </a:prstGeom>
          <a:noFill/>
          <a:ln/>
        </p:spPr>
        <p:txBody>
          <a:bodyPr wrap="square" lIns="0" tIns="0" rIns="0" bIns="0" rtlCol="0" anchor="ctr"/>
          <a:lstStyle/>
          <a:p>
            <a:pPr indent="0" marL="0">
              <a:buNone/>
            </a:pPr>
            <a:r>
              <a:rPr lang="en-US" sz="580" dirty="0">
                <a:solidFill>
                  <a:srgbClr val="3A4450"/>
                </a:solidFill>
                <a:latin typeface="Calibri" pitchFamily="34" charset="0"/>
                <a:ea typeface="Calibri" pitchFamily="34" charset="-122"/>
                <a:cs typeface="Calibri" pitchFamily="34" charset="-120"/>
              </a:rPr>
              <a:t>Identity</a:t>
            </a:r>
            <a:endParaRPr lang="en-US" sz="580" dirty="0"/>
          </a:p>
        </p:txBody>
      </p:sp>
      <p:sp>
        <p:nvSpPr>
          <p:cNvPr id="116" name="Shape 114"/>
          <p:cNvSpPr/>
          <p:nvPr/>
        </p:nvSpPr>
        <p:spPr>
          <a:xfrm>
            <a:off x="1124712" y="969264"/>
            <a:ext cx="228600" cy="0"/>
          </a:xfrm>
          <a:prstGeom prst="line">
            <a:avLst/>
          </a:prstGeom>
          <a:noFill/>
          <a:ln w="12700">
            <a:solidFill>
              <a:srgbClr val="5578A0"/>
            </a:solidFill>
            <a:prstDash val="solid"/>
          </a:ln>
        </p:spPr>
      </p:sp>
      <p:sp>
        <p:nvSpPr>
          <p:cNvPr id="117" name="Shape 115"/>
          <p:cNvSpPr/>
          <p:nvPr/>
        </p:nvSpPr>
        <p:spPr>
          <a:xfrm>
            <a:off x="1124712" y="1408176"/>
            <a:ext cx="228600" cy="0"/>
          </a:xfrm>
          <a:prstGeom prst="line">
            <a:avLst/>
          </a:prstGeom>
          <a:noFill/>
          <a:ln w="12700">
            <a:solidFill>
              <a:srgbClr val="5578A0"/>
            </a:solidFill>
            <a:prstDash val="solid"/>
          </a:ln>
        </p:spPr>
      </p:sp>
      <p:sp>
        <p:nvSpPr>
          <p:cNvPr id="118" name="Shape 116"/>
          <p:cNvSpPr/>
          <p:nvPr/>
        </p:nvSpPr>
        <p:spPr>
          <a:xfrm>
            <a:off x="1353312" y="969264"/>
            <a:ext cx="0" cy="438912"/>
          </a:xfrm>
          <a:prstGeom prst="line">
            <a:avLst/>
          </a:prstGeom>
          <a:noFill/>
          <a:ln w="12700">
            <a:solidFill>
              <a:srgbClr val="5578A0"/>
            </a:solidFill>
            <a:prstDash val="solid"/>
          </a:ln>
        </p:spPr>
      </p:sp>
      <p:sp>
        <p:nvSpPr>
          <p:cNvPr id="119" name="Text 117"/>
          <p:cNvSpPr/>
          <p:nvPr/>
        </p:nvSpPr>
        <p:spPr>
          <a:xfrm>
            <a:off x="1371600" y="795528"/>
            <a:ext cx="1005840" cy="146304"/>
          </a:xfrm>
          <a:prstGeom prst="rect">
            <a:avLst/>
          </a:prstGeom>
          <a:noFill/>
          <a:ln/>
        </p:spPr>
        <p:txBody>
          <a:bodyPr wrap="square" lIns="0" tIns="0" rIns="0" bIns="0" rtlCol="0" anchor="ctr"/>
          <a:lstStyle/>
          <a:p>
            <a:pPr indent="0" marL="0">
              <a:buNone/>
            </a:pPr>
            <a:r>
              <a:rPr lang="en-US" sz="500" dirty="0">
                <a:solidFill>
                  <a:srgbClr val="5578A0"/>
                </a:solidFill>
                <a:latin typeface="Calibri" pitchFamily="34" charset="0"/>
                <a:ea typeface="Calibri" pitchFamily="34" charset="-122"/>
                <a:cs typeface="Calibri" pitchFamily="34" charset="-120"/>
              </a:rPr>
              <a:t>HTTPS/TLS 1.2+</a:t>
            </a:r>
            <a:endParaRPr lang="en-US" sz="500" dirty="0"/>
          </a:p>
        </p:txBody>
      </p:sp>
      <p:sp>
        <p:nvSpPr>
          <p:cNvPr id="120" name="Shape 118"/>
          <p:cNvSpPr/>
          <p:nvPr/>
        </p:nvSpPr>
        <p:spPr>
          <a:xfrm>
            <a:off x="4142232" y="1069848"/>
            <a:ext cx="0" cy="795528"/>
          </a:xfrm>
          <a:prstGeom prst="line">
            <a:avLst/>
          </a:prstGeom>
          <a:noFill/>
          <a:ln w="12700">
            <a:solidFill>
              <a:srgbClr val="5578A0"/>
            </a:solidFill>
            <a:prstDash val="solid"/>
          </a:ln>
        </p:spPr>
      </p:sp>
      <p:sp>
        <p:nvSpPr>
          <p:cNvPr id="121" name="Shape 119"/>
          <p:cNvSpPr/>
          <p:nvPr/>
        </p:nvSpPr>
        <p:spPr>
          <a:xfrm>
            <a:off x="2258568" y="1865376"/>
            <a:ext cx="1883664" cy="0"/>
          </a:xfrm>
          <a:prstGeom prst="line">
            <a:avLst/>
          </a:prstGeom>
          <a:noFill/>
          <a:ln w="12700">
            <a:solidFill>
              <a:srgbClr val="5578A0"/>
            </a:solidFill>
            <a:prstDash val="solid"/>
          </a:ln>
        </p:spPr>
      </p:sp>
      <p:sp>
        <p:nvSpPr>
          <p:cNvPr id="122" name="Shape 120"/>
          <p:cNvSpPr/>
          <p:nvPr/>
        </p:nvSpPr>
        <p:spPr>
          <a:xfrm>
            <a:off x="2980944" y="2368296"/>
            <a:ext cx="3584448" cy="0"/>
          </a:xfrm>
          <a:prstGeom prst="line">
            <a:avLst/>
          </a:prstGeom>
          <a:noFill/>
          <a:ln w="10160">
            <a:solidFill>
              <a:srgbClr val="706898"/>
            </a:solidFill>
            <a:prstDash val="sysDash"/>
          </a:ln>
        </p:spPr>
      </p:sp>
      <p:sp>
        <p:nvSpPr>
          <p:cNvPr id="123" name="Text 121"/>
          <p:cNvSpPr/>
          <p:nvPr/>
        </p:nvSpPr>
        <p:spPr>
          <a:xfrm>
            <a:off x="4572000" y="2203704"/>
            <a:ext cx="1188720" cy="146304"/>
          </a:xfrm>
          <a:prstGeom prst="rect">
            <a:avLst/>
          </a:prstGeom>
          <a:noFill/>
          <a:ln/>
        </p:spPr>
        <p:txBody>
          <a:bodyPr wrap="square" lIns="0" tIns="0" rIns="0" bIns="0" rtlCol="0" anchor="ctr"/>
          <a:lstStyle/>
          <a:p>
            <a:pPr indent="0" marL="0">
              <a:buNone/>
            </a:pPr>
            <a:r>
              <a:rPr lang="en-US" sz="500" dirty="0">
                <a:solidFill>
                  <a:srgbClr val="706898"/>
                </a:solidFill>
                <a:latin typeface="Calibri" pitchFamily="34" charset="0"/>
                <a:ea typeface="Calibri" pitchFamily="34" charset="-122"/>
                <a:cs typeface="Calibri" pitchFamily="34" charset="-120"/>
              </a:rPr>
              <a:t>Auth Proxy</a:t>
            </a:r>
            <a:endParaRPr lang="en-US" sz="500" dirty="0"/>
          </a:p>
        </p:txBody>
      </p:sp>
      <p:sp>
        <p:nvSpPr>
          <p:cNvPr id="124" name="Shape 122"/>
          <p:cNvSpPr/>
          <p:nvPr/>
        </p:nvSpPr>
        <p:spPr>
          <a:xfrm>
            <a:off x="1124712" y="2011680"/>
            <a:ext cx="411480" cy="0"/>
          </a:xfrm>
          <a:prstGeom prst="line">
            <a:avLst/>
          </a:prstGeom>
          <a:noFill/>
          <a:ln w="10160">
            <a:solidFill>
              <a:srgbClr val="A87830"/>
            </a:solidFill>
            <a:prstDash val="sysDash"/>
          </a:ln>
        </p:spPr>
      </p:sp>
      <p:sp>
        <p:nvSpPr>
          <p:cNvPr id="125" name="Shape 123"/>
          <p:cNvSpPr/>
          <p:nvPr/>
        </p:nvSpPr>
        <p:spPr>
          <a:xfrm>
            <a:off x="1124712" y="2450592"/>
            <a:ext cx="411480" cy="0"/>
          </a:xfrm>
          <a:prstGeom prst="line">
            <a:avLst/>
          </a:prstGeom>
          <a:noFill/>
          <a:ln w="10160">
            <a:solidFill>
              <a:srgbClr val="A87830"/>
            </a:solidFill>
            <a:prstDash val="sysDash"/>
          </a:ln>
        </p:spPr>
      </p:sp>
      <p:sp>
        <p:nvSpPr>
          <p:cNvPr id="126" name="Shape 124"/>
          <p:cNvSpPr/>
          <p:nvPr/>
        </p:nvSpPr>
        <p:spPr>
          <a:xfrm>
            <a:off x="1124712" y="2889504"/>
            <a:ext cx="411480" cy="0"/>
          </a:xfrm>
          <a:prstGeom prst="line">
            <a:avLst/>
          </a:prstGeom>
          <a:noFill/>
          <a:ln w="10160">
            <a:solidFill>
              <a:srgbClr val="A87830"/>
            </a:solidFill>
            <a:prstDash val="sysDash"/>
          </a:ln>
        </p:spPr>
      </p:sp>
      <p:sp>
        <p:nvSpPr>
          <p:cNvPr id="127" name="Text 125"/>
          <p:cNvSpPr/>
          <p:nvPr/>
        </p:nvSpPr>
        <p:spPr>
          <a:xfrm>
            <a:off x="73152" y="2304288"/>
            <a:ext cx="1024128" cy="146304"/>
          </a:xfrm>
          <a:prstGeom prst="rect">
            <a:avLst/>
          </a:prstGeom>
          <a:noFill/>
          <a:ln/>
        </p:spPr>
        <p:txBody>
          <a:bodyPr wrap="square" lIns="0" tIns="0" rIns="0" bIns="0" rtlCol="0" anchor="ctr"/>
          <a:lstStyle/>
          <a:p>
            <a:pPr algn="ctr" indent="0" marL="0">
              <a:buNone/>
            </a:pPr>
            <a:r>
              <a:rPr lang="en-US" sz="500" dirty="0">
                <a:solidFill>
                  <a:srgbClr val="A87830"/>
                </a:solidFill>
                <a:latin typeface="Calibri" pitchFamily="34" charset="0"/>
                <a:ea typeface="Calibri" pitchFamily="34" charset="-122"/>
                <a:cs typeface="Calibri" pitchFamily="34" charset="-120"/>
              </a:rPr>
              <a:t>REST/TLS</a:t>
            </a:r>
            <a:endParaRPr lang="en-US" sz="500" dirty="0"/>
          </a:p>
        </p:txBody>
      </p:sp>
      <p:sp>
        <p:nvSpPr>
          <p:cNvPr id="128" name="Shape 126"/>
          <p:cNvSpPr/>
          <p:nvPr/>
        </p:nvSpPr>
        <p:spPr>
          <a:xfrm>
            <a:off x="2258568" y="2569464"/>
            <a:ext cx="0" cy="1563624"/>
          </a:xfrm>
          <a:prstGeom prst="line">
            <a:avLst/>
          </a:prstGeom>
          <a:noFill/>
          <a:ln w="10160">
            <a:solidFill>
              <a:srgbClr val="A8783C"/>
            </a:solidFill>
            <a:prstDash val="sysDash"/>
          </a:ln>
        </p:spPr>
      </p:sp>
      <p:sp>
        <p:nvSpPr>
          <p:cNvPr id="129" name="Text 127"/>
          <p:cNvSpPr/>
          <p:nvPr/>
        </p:nvSpPr>
        <p:spPr>
          <a:xfrm>
            <a:off x="1554480" y="3438144"/>
            <a:ext cx="1371600" cy="146304"/>
          </a:xfrm>
          <a:prstGeom prst="rect">
            <a:avLst/>
          </a:prstGeom>
          <a:noFill/>
          <a:ln/>
        </p:spPr>
        <p:txBody>
          <a:bodyPr wrap="square" lIns="0" tIns="0" rIns="0" bIns="0" rtlCol="0" anchor="ctr"/>
          <a:lstStyle/>
          <a:p>
            <a:pPr indent="0" marL="0">
              <a:buNone/>
            </a:pPr>
            <a:r>
              <a:rPr lang="en-US" sz="500" dirty="0">
                <a:solidFill>
                  <a:srgbClr val="A8783C"/>
                </a:solidFill>
                <a:latin typeface="Calibri" pitchFamily="34" charset="0"/>
                <a:ea typeface="Calibri" pitchFamily="34" charset="-122"/>
                <a:cs typeface="Calibri" pitchFamily="34" charset="-120"/>
              </a:rPr>
              <a:t>webhook events</a:t>
            </a:r>
            <a:endParaRPr lang="en-US" sz="500" dirty="0"/>
          </a:p>
        </p:txBody>
      </p:sp>
      <p:sp>
        <p:nvSpPr>
          <p:cNvPr id="130" name="Shape 128"/>
          <p:cNvSpPr/>
          <p:nvPr/>
        </p:nvSpPr>
        <p:spPr>
          <a:xfrm>
            <a:off x="3657600" y="3593592"/>
            <a:ext cx="0" cy="64008"/>
          </a:xfrm>
          <a:prstGeom prst="line">
            <a:avLst/>
          </a:prstGeom>
          <a:noFill/>
          <a:ln w="10160">
            <a:solidFill>
              <a:srgbClr val="457A52"/>
            </a:solidFill>
            <a:prstDash val="lgDash"/>
          </a:ln>
        </p:spPr>
      </p:sp>
      <p:sp>
        <p:nvSpPr>
          <p:cNvPr id="131" name="Shape 129"/>
          <p:cNvSpPr/>
          <p:nvPr/>
        </p:nvSpPr>
        <p:spPr>
          <a:xfrm>
            <a:off x="3657600" y="4425696"/>
            <a:ext cx="0" cy="73152"/>
          </a:xfrm>
          <a:prstGeom prst="line">
            <a:avLst/>
          </a:prstGeom>
          <a:noFill/>
          <a:ln w="10160">
            <a:solidFill>
              <a:srgbClr val="457A52"/>
            </a:solidFill>
            <a:prstDash val="lg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Component Reference</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Shape 3"/>
          <p:cNvSpPr/>
          <p:nvPr/>
        </p:nvSpPr>
        <p:spPr>
          <a:xfrm>
            <a:off x="137160" y="457200"/>
            <a:ext cx="3886200" cy="237744"/>
          </a:xfrm>
          <a:prstGeom prst="rect">
            <a:avLst/>
          </a:prstGeom>
          <a:solidFill>
            <a:srgbClr val="A85A50"/>
          </a:solidFill>
          <a:ln w="12700">
            <a:solidFill>
              <a:srgbClr val="A85A50"/>
            </a:solidFill>
            <a:prstDash val="solid"/>
          </a:ln>
        </p:spPr>
      </p:sp>
      <p:sp>
        <p:nvSpPr>
          <p:cNvPr id="6" name="Text 4"/>
          <p:cNvSpPr/>
          <p:nvPr/>
        </p:nvSpPr>
        <p:spPr>
          <a:xfrm>
            <a:off x="210312" y="457200"/>
            <a:ext cx="3776472" cy="237744"/>
          </a:xfrm>
          <a:prstGeom prst="rect">
            <a:avLst/>
          </a:prstGeom>
          <a:noFill/>
          <a:ln/>
        </p:spPr>
        <p:txBody>
          <a:bodyPr wrap="square" lIns="0" tIns="0" rIns="0" bIns="0" rtlCol="0" anchor="ctr"/>
          <a:lstStyle/>
          <a:p>
            <a:pPr indent="0" marL="0">
              <a:buNone/>
            </a:pPr>
            <a:r>
              <a:rPr lang="en-US" sz="750" b="1" dirty="0">
                <a:solidFill>
                  <a:srgbClr val="F0E8E8"/>
                </a:solidFill>
                <a:latin typeface="Calibri" pitchFamily="34" charset="0"/>
                <a:ea typeface="Calibri" pitchFamily="34" charset="-122"/>
                <a:cs typeface="Calibri" pitchFamily="34" charset="-120"/>
              </a:rPr>
              <a:t>Security Edge</a:t>
            </a:r>
            <a:endParaRPr lang="en-US" sz="750" dirty="0"/>
          </a:p>
        </p:txBody>
      </p:sp>
      <p:sp>
        <p:nvSpPr>
          <p:cNvPr id="7" name="Shape 5"/>
          <p:cNvSpPr/>
          <p:nvPr/>
        </p:nvSpPr>
        <p:spPr>
          <a:xfrm>
            <a:off x="137160" y="694944"/>
            <a:ext cx="3886200" cy="475488"/>
          </a:xfrm>
          <a:prstGeom prst="rect">
            <a:avLst/>
          </a:prstGeom>
          <a:solidFill>
            <a:srgbClr val="FFFFFF"/>
          </a:solidFill>
          <a:ln w="6350">
            <a:solidFill>
              <a:srgbClr val="D8DADE"/>
            </a:solidFill>
            <a:prstDash val="solid"/>
          </a:ln>
        </p:spPr>
      </p:sp>
      <p:sp>
        <p:nvSpPr>
          <p:cNvPr id="8" name="Shape 6"/>
          <p:cNvSpPr/>
          <p:nvPr/>
        </p:nvSpPr>
        <p:spPr>
          <a:xfrm>
            <a:off x="137160" y="694944"/>
            <a:ext cx="36576" cy="475488"/>
          </a:xfrm>
          <a:prstGeom prst="rect">
            <a:avLst/>
          </a:prstGeom>
          <a:solidFill>
            <a:srgbClr val="A85A50"/>
          </a:solidFill>
          <a:ln w="12700">
            <a:solidFill>
              <a:srgbClr val="A85A50"/>
            </a:solidFill>
            <a:prstDash val="solid"/>
          </a:ln>
        </p:spPr>
      </p:sp>
      <p:sp>
        <p:nvSpPr>
          <p:cNvPr id="9" name="Text 7"/>
          <p:cNvSpPr/>
          <p:nvPr/>
        </p:nvSpPr>
        <p:spPr>
          <a:xfrm>
            <a:off x="228600" y="72237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Armor (WAF)</a:t>
            </a:r>
            <a:endParaRPr lang="en-US" sz="700" dirty="0"/>
          </a:p>
        </p:txBody>
      </p:sp>
      <p:sp>
        <p:nvSpPr>
          <p:cNvPr id="10" name="Text 8"/>
          <p:cNvSpPr/>
          <p:nvPr/>
        </p:nvSpPr>
        <p:spPr>
          <a:xfrm>
            <a:off x="228600" y="87782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Layer-7 DDoS protection and OWASP rule-set; blocks malicious traffic before it reaches the load balancer.</a:t>
            </a:r>
            <a:endParaRPr lang="en-US" sz="600" dirty="0"/>
          </a:p>
        </p:txBody>
      </p:sp>
      <p:sp>
        <p:nvSpPr>
          <p:cNvPr id="11" name="Shape 9"/>
          <p:cNvSpPr/>
          <p:nvPr/>
        </p:nvSpPr>
        <p:spPr>
          <a:xfrm>
            <a:off x="137160" y="1170432"/>
            <a:ext cx="3886200" cy="475488"/>
          </a:xfrm>
          <a:prstGeom prst="rect">
            <a:avLst/>
          </a:prstGeom>
          <a:solidFill>
            <a:srgbClr val="F0F2F4"/>
          </a:solidFill>
          <a:ln w="6350">
            <a:solidFill>
              <a:srgbClr val="D8DADE"/>
            </a:solidFill>
            <a:prstDash val="solid"/>
          </a:ln>
        </p:spPr>
      </p:sp>
      <p:sp>
        <p:nvSpPr>
          <p:cNvPr id="12" name="Shape 10"/>
          <p:cNvSpPr/>
          <p:nvPr/>
        </p:nvSpPr>
        <p:spPr>
          <a:xfrm>
            <a:off x="137160" y="1170432"/>
            <a:ext cx="36576" cy="475488"/>
          </a:xfrm>
          <a:prstGeom prst="rect">
            <a:avLst/>
          </a:prstGeom>
          <a:solidFill>
            <a:srgbClr val="A85A50"/>
          </a:solidFill>
          <a:ln w="12700">
            <a:solidFill>
              <a:srgbClr val="A85A50"/>
            </a:solidFill>
            <a:prstDash val="solid"/>
          </a:ln>
        </p:spPr>
      </p:sp>
      <p:sp>
        <p:nvSpPr>
          <p:cNvPr id="13" name="Text 11"/>
          <p:cNvSpPr/>
          <p:nvPr/>
        </p:nvSpPr>
        <p:spPr>
          <a:xfrm>
            <a:off x="228600" y="119786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Global HTTPS Load Balancer</a:t>
            </a:r>
            <a:endParaRPr lang="en-US" sz="700" dirty="0"/>
          </a:p>
        </p:txBody>
      </p:sp>
      <p:sp>
        <p:nvSpPr>
          <p:cNvPr id="14" name="Text 12"/>
          <p:cNvSpPr/>
          <p:nvPr/>
        </p:nvSpPr>
        <p:spPr>
          <a:xfrm>
            <a:off x="228600" y="135331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Anycast-based HTTPS LB; routes consumer and internal traffic to the nearest GKE node pool with health checks.</a:t>
            </a:r>
            <a:endParaRPr lang="en-US" sz="600" dirty="0"/>
          </a:p>
        </p:txBody>
      </p:sp>
      <p:sp>
        <p:nvSpPr>
          <p:cNvPr id="15" name="Shape 13"/>
          <p:cNvSpPr/>
          <p:nvPr/>
        </p:nvSpPr>
        <p:spPr>
          <a:xfrm>
            <a:off x="137160" y="1645920"/>
            <a:ext cx="3886200" cy="475488"/>
          </a:xfrm>
          <a:prstGeom prst="rect">
            <a:avLst/>
          </a:prstGeom>
          <a:solidFill>
            <a:srgbClr val="FFFFFF"/>
          </a:solidFill>
          <a:ln w="6350">
            <a:solidFill>
              <a:srgbClr val="D8DADE"/>
            </a:solidFill>
            <a:prstDash val="solid"/>
          </a:ln>
        </p:spPr>
      </p:sp>
      <p:sp>
        <p:nvSpPr>
          <p:cNvPr id="16" name="Shape 14"/>
          <p:cNvSpPr/>
          <p:nvPr/>
        </p:nvSpPr>
        <p:spPr>
          <a:xfrm>
            <a:off x="137160" y="1645920"/>
            <a:ext cx="36576" cy="475488"/>
          </a:xfrm>
          <a:prstGeom prst="rect">
            <a:avLst/>
          </a:prstGeom>
          <a:solidFill>
            <a:srgbClr val="A85A50"/>
          </a:solidFill>
          <a:ln w="12700">
            <a:solidFill>
              <a:srgbClr val="A85A50"/>
            </a:solidFill>
            <a:prstDash val="solid"/>
          </a:ln>
        </p:spPr>
      </p:sp>
      <p:sp>
        <p:nvSpPr>
          <p:cNvPr id="17" name="Text 15"/>
          <p:cNvSpPr/>
          <p:nvPr/>
        </p:nvSpPr>
        <p:spPr>
          <a:xfrm>
            <a:off x="228600" y="167335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Google-managed SSL Certs</a:t>
            </a:r>
            <a:endParaRPr lang="en-US" sz="700" dirty="0"/>
          </a:p>
        </p:txBody>
      </p:sp>
      <p:sp>
        <p:nvSpPr>
          <p:cNvPr id="18" name="Text 16"/>
          <p:cNvSpPr/>
          <p:nvPr/>
        </p:nvSpPr>
        <p:spPr>
          <a:xfrm>
            <a:off x="228600" y="182880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Automatically provisioned and rotated TLS certificates; enforces TLS 1.2+ on all inbound connections.</a:t>
            </a:r>
            <a:endParaRPr lang="en-US" sz="600" dirty="0"/>
          </a:p>
        </p:txBody>
      </p:sp>
      <p:sp>
        <p:nvSpPr>
          <p:cNvPr id="19" name="Shape 17"/>
          <p:cNvSpPr/>
          <p:nvPr/>
        </p:nvSpPr>
        <p:spPr>
          <a:xfrm>
            <a:off x="137160" y="2212848"/>
            <a:ext cx="3886200" cy="237744"/>
          </a:xfrm>
          <a:prstGeom prst="rect">
            <a:avLst/>
          </a:prstGeom>
          <a:solidFill>
            <a:srgbClr val="5578A0"/>
          </a:solidFill>
          <a:ln w="12700">
            <a:solidFill>
              <a:srgbClr val="5578A0"/>
            </a:solidFill>
            <a:prstDash val="solid"/>
          </a:ln>
        </p:spPr>
      </p:sp>
      <p:sp>
        <p:nvSpPr>
          <p:cNvPr id="20" name="Text 18"/>
          <p:cNvSpPr/>
          <p:nvPr/>
        </p:nvSpPr>
        <p:spPr>
          <a:xfrm>
            <a:off x="210312" y="2212848"/>
            <a:ext cx="3776472" cy="237744"/>
          </a:xfrm>
          <a:prstGeom prst="rect">
            <a:avLst/>
          </a:prstGeom>
          <a:noFill/>
          <a:ln/>
        </p:spPr>
        <p:txBody>
          <a:bodyPr wrap="square" lIns="0" tIns="0" rIns="0" bIns="0" rtlCol="0" anchor="ctr"/>
          <a:lstStyle/>
          <a:p>
            <a:pPr indent="0" marL="0">
              <a:buNone/>
            </a:pPr>
            <a:r>
              <a:rPr lang="en-US" sz="750" b="1" dirty="0">
                <a:solidFill>
                  <a:srgbClr val="EAF0F8"/>
                </a:solidFill>
                <a:latin typeface="Calibri" pitchFamily="34" charset="0"/>
                <a:ea typeface="Calibri" pitchFamily="34" charset="-122"/>
                <a:cs typeface="Calibri" pitchFamily="34" charset="-120"/>
              </a:rPr>
              <a:t>GKE Autopilot Cluster</a:t>
            </a:r>
            <a:endParaRPr lang="en-US" sz="750" dirty="0"/>
          </a:p>
        </p:txBody>
      </p:sp>
      <p:sp>
        <p:nvSpPr>
          <p:cNvPr id="21" name="Shape 19"/>
          <p:cNvSpPr/>
          <p:nvPr/>
        </p:nvSpPr>
        <p:spPr>
          <a:xfrm>
            <a:off x="137160" y="2450592"/>
            <a:ext cx="3886200" cy="475488"/>
          </a:xfrm>
          <a:prstGeom prst="rect">
            <a:avLst/>
          </a:prstGeom>
          <a:solidFill>
            <a:srgbClr val="FFFFFF"/>
          </a:solidFill>
          <a:ln w="6350">
            <a:solidFill>
              <a:srgbClr val="D8DADE"/>
            </a:solidFill>
            <a:prstDash val="solid"/>
          </a:ln>
        </p:spPr>
      </p:sp>
      <p:sp>
        <p:nvSpPr>
          <p:cNvPr id="22" name="Shape 20"/>
          <p:cNvSpPr/>
          <p:nvPr/>
        </p:nvSpPr>
        <p:spPr>
          <a:xfrm>
            <a:off x="137160" y="2450592"/>
            <a:ext cx="36576" cy="475488"/>
          </a:xfrm>
          <a:prstGeom prst="rect">
            <a:avLst/>
          </a:prstGeom>
          <a:solidFill>
            <a:srgbClr val="5578A0"/>
          </a:solidFill>
          <a:ln w="12700">
            <a:solidFill>
              <a:srgbClr val="5578A0"/>
            </a:solidFill>
            <a:prstDash val="solid"/>
          </a:ln>
        </p:spPr>
      </p:sp>
      <p:sp>
        <p:nvSpPr>
          <p:cNvPr id="23" name="Text 21"/>
          <p:cNvSpPr/>
          <p:nvPr/>
        </p:nvSpPr>
        <p:spPr>
          <a:xfrm>
            <a:off x="228600" y="247802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API Gateway</a:t>
            </a:r>
            <a:endParaRPr lang="en-US" sz="700" dirty="0"/>
          </a:p>
        </p:txBody>
      </p:sp>
      <p:sp>
        <p:nvSpPr>
          <p:cNvPr id="24" name="Text 22"/>
          <p:cNvSpPr/>
          <p:nvPr/>
        </p:nvSpPr>
        <p:spPr>
          <a:xfrm>
            <a:off x="228600" y="263347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Single ingress point; enforces OAuth 2.0 token validation, rate limiting, and request routing to downstream services.</a:t>
            </a:r>
            <a:endParaRPr lang="en-US" sz="600" dirty="0"/>
          </a:p>
        </p:txBody>
      </p:sp>
      <p:sp>
        <p:nvSpPr>
          <p:cNvPr id="25" name="Shape 23"/>
          <p:cNvSpPr/>
          <p:nvPr/>
        </p:nvSpPr>
        <p:spPr>
          <a:xfrm>
            <a:off x="137160" y="2926080"/>
            <a:ext cx="3886200" cy="475488"/>
          </a:xfrm>
          <a:prstGeom prst="rect">
            <a:avLst/>
          </a:prstGeom>
          <a:solidFill>
            <a:srgbClr val="F0F2F4"/>
          </a:solidFill>
          <a:ln w="6350">
            <a:solidFill>
              <a:srgbClr val="D8DADE"/>
            </a:solidFill>
            <a:prstDash val="solid"/>
          </a:ln>
        </p:spPr>
      </p:sp>
      <p:sp>
        <p:nvSpPr>
          <p:cNvPr id="26" name="Shape 24"/>
          <p:cNvSpPr/>
          <p:nvPr/>
        </p:nvSpPr>
        <p:spPr>
          <a:xfrm>
            <a:off x="137160" y="2926080"/>
            <a:ext cx="36576" cy="475488"/>
          </a:xfrm>
          <a:prstGeom prst="rect">
            <a:avLst/>
          </a:prstGeom>
          <a:solidFill>
            <a:srgbClr val="5578A0"/>
          </a:solidFill>
          <a:ln w="12700">
            <a:solidFill>
              <a:srgbClr val="5578A0"/>
            </a:solidFill>
            <a:prstDash val="solid"/>
          </a:ln>
        </p:spPr>
      </p:sp>
      <p:sp>
        <p:nvSpPr>
          <p:cNvPr id="27" name="Text 25"/>
          <p:cNvSpPr/>
          <p:nvPr/>
        </p:nvSpPr>
        <p:spPr>
          <a:xfrm>
            <a:off x="228600" y="295351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Eureka (Service Registry)</a:t>
            </a:r>
            <a:endParaRPr lang="en-US" sz="700" dirty="0"/>
          </a:p>
        </p:txBody>
      </p:sp>
      <p:sp>
        <p:nvSpPr>
          <p:cNvPr id="28" name="Text 26"/>
          <p:cNvSpPr/>
          <p:nvPr/>
        </p:nvSpPr>
        <p:spPr>
          <a:xfrm>
            <a:off x="228600" y="310896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Netflix Eureka server; all microservices self-register so load-balanced RestTemplate calls resolve by name.</a:t>
            </a:r>
            <a:endParaRPr lang="en-US" sz="600" dirty="0"/>
          </a:p>
        </p:txBody>
      </p:sp>
      <p:sp>
        <p:nvSpPr>
          <p:cNvPr id="29" name="Shape 27"/>
          <p:cNvSpPr/>
          <p:nvPr/>
        </p:nvSpPr>
        <p:spPr>
          <a:xfrm>
            <a:off x="137160" y="3401568"/>
            <a:ext cx="3886200" cy="475488"/>
          </a:xfrm>
          <a:prstGeom prst="rect">
            <a:avLst/>
          </a:prstGeom>
          <a:solidFill>
            <a:srgbClr val="FFFFFF"/>
          </a:solidFill>
          <a:ln w="6350">
            <a:solidFill>
              <a:srgbClr val="D8DADE"/>
            </a:solidFill>
            <a:prstDash val="solid"/>
          </a:ln>
        </p:spPr>
      </p:sp>
      <p:sp>
        <p:nvSpPr>
          <p:cNvPr id="30" name="Shape 28"/>
          <p:cNvSpPr/>
          <p:nvPr/>
        </p:nvSpPr>
        <p:spPr>
          <a:xfrm>
            <a:off x="137160" y="3401568"/>
            <a:ext cx="36576" cy="475488"/>
          </a:xfrm>
          <a:prstGeom prst="rect">
            <a:avLst/>
          </a:prstGeom>
          <a:solidFill>
            <a:srgbClr val="5578A0"/>
          </a:solidFill>
          <a:ln w="12700">
            <a:solidFill>
              <a:srgbClr val="5578A0"/>
            </a:solidFill>
            <a:prstDash val="solid"/>
          </a:ln>
        </p:spPr>
      </p:sp>
      <p:sp>
        <p:nvSpPr>
          <p:cNvPr id="31" name="Text 29"/>
          <p:cNvSpPr/>
          <p:nvPr/>
        </p:nvSpPr>
        <p:spPr>
          <a:xfrm>
            <a:off x="228600" y="342900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Keycloak (OAuth 2.0)</a:t>
            </a:r>
            <a:endParaRPr lang="en-US" sz="700" dirty="0"/>
          </a:p>
        </p:txBody>
      </p:sp>
      <p:sp>
        <p:nvSpPr>
          <p:cNvPr id="32" name="Text 30"/>
          <p:cNvSpPr/>
          <p:nvPr/>
        </p:nvSpPr>
        <p:spPr>
          <a:xfrm>
            <a:off x="228600" y="358444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Identity provider issuing JWT access tokens via Client Credentials flow for service-to-service authentication.</a:t>
            </a:r>
            <a:endParaRPr lang="en-US" sz="600" dirty="0"/>
          </a:p>
        </p:txBody>
      </p:sp>
      <p:sp>
        <p:nvSpPr>
          <p:cNvPr id="33" name="Shape 31"/>
          <p:cNvSpPr/>
          <p:nvPr/>
        </p:nvSpPr>
        <p:spPr>
          <a:xfrm>
            <a:off x="137160" y="3877056"/>
            <a:ext cx="3886200" cy="475488"/>
          </a:xfrm>
          <a:prstGeom prst="rect">
            <a:avLst/>
          </a:prstGeom>
          <a:solidFill>
            <a:srgbClr val="F0F2F4"/>
          </a:solidFill>
          <a:ln w="6350">
            <a:solidFill>
              <a:srgbClr val="D8DADE"/>
            </a:solidFill>
            <a:prstDash val="solid"/>
          </a:ln>
        </p:spPr>
      </p:sp>
      <p:sp>
        <p:nvSpPr>
          <p:cNvPr id="34" name="Shape 32"/>
          <p:cNvSpPr/>
          <p:nvPr/>
        </p:nvSpPr>
        <p:spPr>
          <a:xfrm>
            <a:off x="137160" y="3877056"/>
            <a:ext cx="36576" cy="475488"/>
          </a:xfrm>
          <a:prstGeom prst="rect">
            <a:avLst/>
          </a:prstGeom>
          <a:solidFill>
            <a:srgbClr val="5578A0"/>
          </a:solidFill>
          <a:ln w="12700">
            <a:solidFill>
              <a:srgbClr val="5578A0"/>
            </a:solidFill>
            <a:prstDash val="solid"/>
          </a:ln>
        </p:spPr>
      </p:sp>
      <p:sp>
        <p:nvSpPr>
          <p:cNvPr id="35" name="Text 33"/>
          <p:cNvSpPr/>
          <p:nvPr/>
        </p:nvSpPr>
        <p:spPr>
          <a:xfrm>
            <a:off x="228600" y="3904488"/>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kyc-orchestration ✦</a:t>
            </a:r>
            <a:endParaRPr lang="en-US" sz="700" dirty="0"/>
          </a:p>
        </p:txBody>
      </p:sp>
      <p:sp>
        <p:nvSpPr>
          <p:cNvPr id="36" name="Text 34"/>
          <p:cNvSpPr/>
          <p:nvPr/>
        </p:nvSpPr>
        <p:spPr>
          <a:xfrm>
            <a:off x="228600" y="4059936"/>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Core service: orchestrates precheck, screening, risk and viewer calls; manages the full KYC lifecycle and webhook delivery.</a:t>
            </a:r>
            <a:endParaRPr lang="en-US" sz="600" dirty="0"/>
          </a:p>
        </p:txBody>
      </p:sp>
      <p:sp>
        <p:nvSpPr>
          <p:cNvPr id="37" name="Shape 35"/>
          <p:cNvSpPr/>
          <p:nvPr/>
        </p:nvSpPr>
        <p:spPr>
          <a:xfrm>
            <a:off x="137160" y="4352544"/>
            <a:ext cx="3886200" cy="475488"/>
          </a:xfrm>
          <a:prstGeom prst="rect">
            <a:avLst/>
          </a:prstGeom>
          <a:solidFill>
            <a:srgbClr val="FFFFFF"/>
          </a:solidFill>
          <a:ln w="6350">
            <a:solidFill>
              <a:srgbClr val="D8DADE"/>
            </a:solidFill>
            <a:prstDash val="solid"/>
          </a:ln>
        </p:spPr>
      </p:sp>
      <p:sp>
        <p:nvSpPr>
          <p:cNvPr id="38" name="Shape 36"/>
          <p:cNvSpPr/>
          <p:nvPr/>
        </p:nvSpPr>
        <p:spPr>
          <a:xfrm>
            <a:off x="137160" y="4352544"/>
            <a:ext cx="36576" cy="475488"/>
          </a:xfrm>
          <a:prstGeom prst="rect">
            <a:avLst/>
          </a:prstGeom>
          <a:solidFill>
            <a:srgbClr val="5578A0"/>
          </a:solidFill>
          <a:ln w="12700">
            <a:solidFill>
              <a:srgbClr val="5578A0"/>
            </a:solidFill>
            <a:prstDash val="solid"/>
          </a:ln>
        </p:spPr>
      </p:sp>
      <p:sp>
        <p:nvSpPr>
          <p:cNvPr id="39" name="Text 37"/>
          <p:cNvSpPr/>
          <p:nvPr/>
        </p:nvSpPr>
        <p:spPr>
          <a:xfrm>
            <a:off x="228600" y="437997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screening-service</a:t>
            </a:r>
            <a:endParaRPr lang="en-US" sz="700" dirty="0"/>
          </a:p>
        </p:txBody>
      </p:sp>
      <p:sp>
        <p:nvSpPr>
          <p:cNvPr id="40" name="Text 38"/>
          <p:cNvSpPr/>
          <p:nvPr/>
        </p:nvSpPr>
        <p:spPr>
          <a:xfrm>
            <a:off x="228600" y="453542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Calls NCA screening API; returns Hit/No-Hit verdict used to set ON_HOLD status when a watchlist match is found.</a:t>
            </a:r>
            <a:endParaRPr lang="en-US" sz="600" dirty="0"/>
          </a:p>
        </p:txBody>
      </p:sp>
      <p:sp>
        <p:nvSpPr>
          <p:cNvPr id="41" name="Shape 39"/>
          <p:cNvSpPr/>
          <p:nvPr/>
        </p:nvSpPr>
        <p:spPr>
          <a:xfrm>
            <a:off x="137160" y="4828032"/>
            <a:ext cx="3886200" cy="475488"/>
          </a:xfrm>
          <a:prstGeom prst="rect">
            <a:avLst/>
          </a:prstGeom>
          <a:solidFill>
            <a:srgbClr val="F0F2F4"/>
          </a:solidFill>
          <a:ln w="6350">
            <a:solidFill>
              <a:srgbClr val="D8DADE"/>
            </a:solidFill>
            <a:prstDash val="solid"/>
          </a:ln>
        </p:spPr>
      </p:sp>
      <p:sp>
        <p:nvSpPr>
          <p:cNvPr id="42" name="Shape 40"/>
          <p:cNvSpPr/>
          <p:nvPr/>
        </p:nvSpPr>
        <p:spPr>
          <a:xfrm>
            <a:off x="137160" y="4828032"/>
            <a:ext cx="36576" cy="475488"/>
          </a:xfrm>
          <a:prstGeom prst="rect">
            <a:avLst/>
          </a:prstGeom>
          <a:solidFill>
            <a:srgbClr val="5578A0"/>
          </a:solidFill>
          <a:ln w="12700">
            <a:solidFill>
              <a:srgbClr val="5578A0"/>
            </a:solidFill>
            <a:prstDash val="solid"/>
          </a:ln>
        </p:spPr>
      </p:sp>
      <p:sp>
        <p:nvSpPr>
          <p:cNvPr id="43" name="Text 41"/>
          <p:cNvSpPr/>
          <p:nvPr/>
        </p:nvSpPr>
        <p:spPr>
          <a:xfrm>
            <a:off x="228600" y="485546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risk-service</a:t>
            </a:r>
            <a:endParaRPr lang="en-US" sz="700" dirty="0"/>
          </a:p>
        </p:txBody>
      </p:sp>
      <p:sp>
        <p:nvSpPr>
          <p:cNvPr id="44" name="Text 42"/>
          <p:cNvSpPr/>
          <p:nvPr/>
        </p:nvSpPr>
        <p:spPr>
          <a:xfrm>
            <a:off x="228600" y="501091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Evaluates applicant risk profile; returns LOW/MEDIUM/HIGH rating — HIGH triggers the ON_HOLD workflow.</a:t>
            </a:r>
            <a:endParaRPr lang="en-US" sz="600" dirty="0"/>
          </a:p>
        </p:txBody>
      </p:sp>
      <p:sp>
        <p:nvSpPr>
          <p:cNvPr id="45" name="Shape 43"/>
          <p:cNvSpPr/>
          <p:nvPr/>
        </p:nvSpPr>
        <p:spPr>
          <a:xfrm>
            <a:off x="137160" y="5303520"/>
            <a:ext cx="3886200" cy="475488"/>
          </a:xfrm>
          <a:prstGeom prst="rect">
            <a:avLst/>
          </a:prstGeom>
          <a:solidFill>
            <a:srgbClr val="FFFFFF"/>
          </a:solidFill>
          <a:ln w="6350">
            <a:solidFill>
              <a:srgbClr val="D8DADE"/>
            </a:solidFill>
            <a:prstDash val="solid"/>
          </a:ln>
        </p:spPr>
      </p:sp>
      <p:sp>
        <p:nvSpPr>
          <p:cNvPr id="46" name="Shape 44"/>
          <p:cNvSpPr/>
          <p:nvPr/>
        </p:nvSpPr>
        <p:spPr>
          <a:xfrm>
            <a:off x="137160" y="5303520"/>
            <a:ext cx="36576" cy="475488"/>
          </a:xfrm>
          <a:prstGeom prst="rect">
            <a:avLst/>
          </a:prstGeom>
          <a:solidFill>
            <a:srgbClr val="5578A0"/>
          </a:solidFill>
          <a:ln w="12700">
            <a:solidFill>
              <a:srgbClr val="5578A0"/>
            </a:solidFill>
            <a:prstDash val="solid"/>
          </a:ln>
        </p:spPr>
      </p:sp>
      <p:sp>
        <p:nvSpPr>
          <p:cNvPr id="47" name="Text 45"/>
          <p:cNvSpPr/>
          <p:nvPr/>
        </p:nvSpPr>
        <p:spPr>
          <a:xfrm>
            <a:off x="228600" y="533095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viewer</a:t>
            </a:r>
            <a:endParaRPr lang="en-US" sz="700" dirty="0"/>
          </a:p>
        </p:txBody>
      </p:sp>
      <p:sp>
        <p:nvSpPr>
          <p:cNvPr id="48" name="Text 46"/>
          <p:cNvSpPr/>
          <p:nvPr/>
        </p:nvSpPr>
        <p:spPr>
          <a:xfrm>
            <a:off x="228600" y="548640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Retrieves applicant identity data from the upstream document-check provider for precheck enrichment.</a:t>
            </a:r>
            <a:endParaRPr lang="en-US" sz="600" dirty="0"/>
          </a:p>
        </p:txBody>
      </p:sp>
      <p:sp>
        <p:nvSpPr>
          <p:cNvPr id="49" name="Shape 47"/>
          <p:cNvSpPr/>
          <p:nvPr/>
        </p:nvSpPr>
        <p:spPr>
          <a:xfrm>
            <a:off x="137160" y="5870448"/>
            <a:ext cx="3886200" cy="237744"/>
          </a:xfrm>
          <a:prstGeom prst="rect">
            <a:avLst/>
          </a:prstGeom>
          <a:solidFill>
            <a:srgbClr val="706898"/>
          </a:solidFill>
          <a:ln w="12700">
            <a:solidFill>
              <a:srgbClr val="706898"/>
            </a:solidFill>
            <a:prstDash val="solid"/>
          </a:ln>
        </p:spPr>
      </p:sp>
      <p:sp>
        <p:nvSpPr>
          <p:cNvPr id="50" name="Text 48"/>
          <p:cNvSpPr/>
          <p:nvPr/>
        </p:nvSpPr>
        <p:spPr>
          <a:xfrm>
            <a:off x="210312" y="5870448"/>
            <a:ext cx="3776472" cy="237744"/>
          </a:xfrm>
          <a:prstGeom prst="rect">
            <a:avLst/>
          </a:prstGeom>
          <a:noFill/>
          <a:ln/>
        </p:spPr>
        <p:txBody>
          <a:bodyPr wrap="square" lIns="0" tIns="0" rIns="0" bIns="0" rtlCol="0" anchor="ctr"/>
          <a:lstStyle/>
          <a:p>
            <a:pPr indent="0" marL="0">
              <a:buNone/>
            </a:pPr>
            <a:r>
              <a:rPr lang="en-US" sz="750" b="1" dirty="0">
                <a:solidFill>
                  <a:srgbClr val="F0EEF5"/>
                </a:solidFill>
                <a:latin typeface="Calibri" pitchFamily="34" charset="0"/>
                <a:ea typeface="Calibri" pitchFamily="34" charset="-122"/>
                <a:cs typeface="Calibri" pitchFamily="34" charset="-120"/>
              </a:rPr>
              <a:t>Data Layer</a:t>
            </a:r>
            <a:endParaRPr lang="en-US" sz="750" dirty="0"/>
          </a:p>
        </p:txBody>
      </p:sp>
      <p:sp>
        <p:nvSpPr>
          <p:cNvPr id="51" name="Shape 49"/>
          <p:cNvSpPr/>
          <p:nvPr/>
        </p:nvSpPr>
        <p:spPr>
          <a:xfrm>
            <a:off x="137160" y="6108192"/>
            <a:ext cx="3886200" cy="475488"/>
          </a:xfrm>
          <a:prstGeom prst="rect">
            <a:avLst/>
          </a:prstGeom>
          <a:solidFill>
            <a:srgbClr val="FFFFFF"/>
          </a:solidFill>
          <a:ln w="6350">
            <a:solidFill>
              <a:srgbClr val="D8DADE"/>
            </a:solidFill>
            <a:prstDash val="solid"/>
          </a:ln>
        </p:spPr>
      </p:sp>
      <p:sp>
        <p:nvSpPr>
          <p:cNvPr id="52" name="Shape 50"/>
          <p:cNvSpPr/>
          <p:nvPr/>
        </p:nvSpPr>
        <p:spPr>
          <a:xfrm>
            <a:off x="137160" y="6108192"/>
            <a:ext cx="36576" cy="475488"/>
          </a:xfrm>
          <a:prstGeom prst="rect">
            <a:avLst/>
          </a:prstGeom>
          <a:solidFill>
            <a:srgbClr val="706898"/>
          </a:solidFill>
          <a:ln w="12700">
            <a:solidFill>
              <a:srgbClr val="706898"/>
            </a:solidFill>
            <a:prstDash val="solid"/>
          </a:ln>
        </p:spPr>
      </p:sp>
      <p:sp>
        <p:nvSpPr>
          <p:cNvPr id="53" name="Text 51"/>
          <p:cNvSpPr/>
          <p:nvPr/>
        </p:nvSpPr>
        <p:spPr>
          <a:xfrm>
            <a:off x="228600" y="613562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SQL PostgreSQL 15 (HA)</a:t>
            </a:r>
            <a:endParaRPr lang="en-US" sz="700" dirty="0"/>
          </a:p>
        </p:txBody>
      </p:sp>
      <p:sp>
        <p:nvSpPr>
          <p:cNvPr id="54" name="Text 52"/>
          <p:cNvSpPr/>
          <p:nvPr/>
        </p:nvSpPr>
        <p:spPr>
          <a:xfrm>
            <a:off x="228600" y="629107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Primary relational store for KYC audit records; CMEK-encrypted, Private IP only, with a read replica for reporting.</a:t>
            </a:r>
            <a:endParaRPr lang="en-US" sz="600" dirty="0"/>
          </a:p>
        </p:txBody>
      </p:sp>
      <p:sp>
        <p:nvSpPr>
          <p:cNvPr id="55" name="Shape 53"/>
          <p:cNvSpPr/>
          <p:nvPr/>
        </p:nvSpPr>
        <p:spPr>
          <a:xfrm>
            <a:off x="137160" y="6583680"/>
            <a:ext cx="3886200" cy="475488"/>
          </a:xfrm>
          <a:prstGeom prst="rect">
            <a:avLst/>
          </a:prstGeom>
          <a:solidFill>
            <a:srgbClr val="F0F2F4"/>
          </a:solidFill>
          <a:ln w="6350">
            <a:solidFill>
              <a:srgbClr val="D8DADE"/>
            </a:solidFill>
            <a:prstDash val="solid"/>
          </a:ln>
        </p:spPr>
      </p:sp>
      <p:sp>
        <p:nvSpPr>
          <p:cNvPr id="56" name="Shape 54"/>
          <p:cNvSpPr/>
          <p:nvPr/>
        </p:nvSpPr>
        <p:spPr>
          <a:xfrm>
            <a:off x="137160" y="6583680"/>
            <a:ext cx="36576" cy="475488"/>
          </a:xfrm>
          <a:prstGeom prst="rect">
            <a:avLst/>
          </a:prstGeom>
          <a:solidFill>
            <a:srgbClr val="706898"/>
          </a:solidFill>
          <a:ln w="12700">
            <a:solidFill>
              <a:srgbClr val="706898"/>
            </a:solidFill>
            <a:prstDash val="solid"/>
          </a:ln>
        </p:spPr>
      </p:sp>
      <p:sp>
        <p:nvSpPr>
          <p:cNvPr id="57" name="Text 55"/>
          <p:cNvSpPr/>
          <p:nvPr/>
        </p:nvSpPr>
        <p:spPr>
          <a:xfrm>
            <a:off x="228600" y="661111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Memorystore Redis</a:t>
            </a:r>
            <a:endParaRPr lang="en-US" sz="700" dirty="0"/>
          </a:p>
        </p:txBody>
      </p:sp>
      <p:sp>
        <p:nvSpPr>
          <p:cNvPr id="58" name="Text 56"/>
          <p:cNvSpPr/>
          <p:nvPr/>
        </p:nvSpPr>
        <p:spPr>
          <a:xfrm>
            <a:off x="228600" y="676656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In-memory store for idempotency keys (preventing duplicate submissions) and OAuth token caching.</a:t>
            </a:r>
            <a:endParaRPr lang="en-US" sz="600" dirty="0"/>
          </a:p>
        </p:txBody>
      </p:sp>
      <p:sp>
        <p:nvSpPr>
          <p:cNvPr id="59" name="Shape 57"/>
          <p:cNvSpPr/>
          <p:nvPr/>
        </p:nvSpPr>
        <p:spPr>
          <a:xfrm>
            <a:off x="137160" y="7059168"/>
            <a:ext cx="3886200" cy="475488"/>
          </a:xfrm>
          <a:prstGeom prst="rect">
            <a:avLst/>
          </a:prstGeom>
          <a:solidFill>
            <a:srgbClr val="FFFFFF"/>
          </a:solidFill>
          <a:ln w="6350">
            <a:solidFill>
              <a:srgbClr val="D8DADE"/>
            </a:solidFill>
            <a:prstDash val="solid"/>
          </a:ln>
        </p:spPr>
      </p:sp>
      <p:sp>
        <p:nvSpPr>
          <p:cNvPr id="60" name="Shape 58"/>
          <p:cNvSpPr/>
          <p:nvPr/>
        </p:nvSpPr>
        <p:spPr>
          <a:xfrm>
            <a:off x="137160" y="7059168"/>
            <a:ext cx="36576" cy="475488"/>
          </a:xfrm>
          <a:prstGeom prst="rect">
            <a:avLst/>
          </a:prstGeom>
          <a:solidFill>
            <a:srgbClr val="706898"/>
          </a:solidFill>
          <a:ln w="12700">
            <a:solidFill>
              <a:srgbClr val="706898"/>
            </a:solidFill>
            <a:prstDash val="solid"/>
          </a:ln>
        </p:spPr>
      </p:sp>
      <p:sp>
        <p:nvSpPr>
          <p:cNvPr id="61" name="Text 59"/>
          <p:cNvSpPr/>
          <p:nvPr/>
        </p:nvSpPr>
        <p:spPr>
          <a:xfrm>
            <a:off x="228600" y="708660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Storage</a:t>
            </a:r>
            <a:endParaRPr lang="en-US" sz="700" dirty="0"/>
          </a:p>
        </p:txBody>
      </p:sp>
      <p:sp>
        <p:nvSpPr>
          <p:cNvPr id="62" name="Text 60"/>
          <p:cNvSpPr/>
          <p:nvPr/>
        </p:nvSpPr>
        <p:spPr>
          <a:xfrm>
            <a:off x="228600" y="724204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Object store for NLS polling feedback files and compliance audit exports forwarded to BigQuery.</a:t>
            </a:r>
            <a:endParaRPr lang="en-US" sz="600" dirty="0"/>
          </a:p>
        </p:txBody>
      </p:sp>
      <p:sp>
        <p:nvSpPr>
          <p:cNvPr id="63" name="Shape 61"/>
          <p:cNvSpPr/>
          <p:nvPr/>
        </p:nvSpPr>
        <p:spPr>
          <a:xfrm>
            <a:off x="4133088" y="457200"/>
            <a:ext cx="3886200" cy="237744"/>
          </a:xfrm>
          <a:prstGeom prst="rect">
            <a:avLst/>
          </a:prstGeom>
          <a:solidFill>
            <a:srgbClr val="3D8090"/>
          </a:solidFill>
          <a:ln w="12700">
            <a:solidFill>
              <a:srgbClr val="3D8090"/>
            </a:solidFill>
            <a:prstDash val="solid"/>
          </a:ln>
        </p:spPr>
      </p:sp>
      <p:sp>
        <p:nvSpPr>
          <p:cNvPr id="64" name="Text 62"/>
          <p:cNvSpPr/>
          <p:nvPr/>
        </p:nvSpPr>
        <p:spPr>
          <a:xfrm>
            <a:off x="4206240" y="457200"/>
            <a:ext cx="3776472" cy="237744"/>
          </a:xfrm>
          <a:prstGeom prst="rect">
            <a:avLst/>
          </a:prstGeom>
          <a:noFill/>
          <a:ln/>
        </p:spPr>
        <p:txBody>
          <a:bodyPr wrap="square" lIns="0" tIns="0" rIns="0" bIns="0" rtlCol="0" anchor="ctr"/>
          <a:lstStyle/>
          <a:p>
            <a:pPr indent="0" marL="0">
              <a:buNone/>
            </a:pPr>
            <a:r>
              <a:rPr lang="en-US" sz="750" b="1" dirty="0">
                <a:solidFill>
                  <a:srgbClr val="E0EEF2"/>
                </a:solidFill>
                <a:latin typeface="Calibri" pitchFamily="34" charset="0"/>
                <a:ea typeface="Calibri" pitchFamily="34" charset="-122"/>
                <a:cs typeface="Calibri" pitchFamily="34" charset="-120"/>
              </a:rPr>
              <a:t>Secrets &amp; Identity</a:t>
            </a:r>
            <a:endParaRPr lang="en-US" sz="750" dirty="0"/>
          </a:p>
        </p:txBody>
      </p:sp>
      <p:sp>
        <p:nvSpPr>
          <p:cNvPr id="65" name="Shape 63"/>
          <p:cNvSpPr/>
          <p:nvPr/>
        </p:nvSpPr>
        <p:spPr>
          <a:xfrm>
            <a:off x="4133088" y="694944"/>
            <a:ext cx="3886200" cy="475488"/>
          </a:xfrm>
          <a:prstGeom prst="rect">
            <a:avLst/>
          </a:prstGeom>
          <a:solidFill>
            <a:srgbClr val="FFFFFF"/>
          </a:solidFill>
          <a:ln w="6350">
            <a:solidFill>
              <a:srgbClr val="D8DADE"/>
            </a:solidFill>
            <a:prstDash val="solid"/>
          </a:ln>
        </p:spPr>
      </p:sp>
      <p:sp>
        <p:nvSpPr>
          <p:cNvPr id="66" name="Shape 64"/>
          <p:cNvSpPr/>
          <p:nvPr/>
        </p:nvSpPr>
        <p:spPr>
          <a:xfrm>
            <a:off x="4133088" y="694944"/>
            <a:ext cx="36576" cy="475488"/>
          </a:xfrm>
          <a:prstGeom prst="rect">
            <a:avLst/>
          </a:prstGeom>
          <a:solidFill>
            <a:srgbClr val="3D8090"/>
          </a:solidFill>
          <a:ln w="12700">
            <a:solidFill>
              <a:srgbClr val="3D8090"/>
            </a:solidFill>
            <a:prstDash val="solid"/>
          </a:ln>
        </p:spPr>
      </p:sp>
      <p:sp>
        <p:nvSpPr>
          <p:cNvPr id="67" name="Text 65"/>
          <p:cNvSpPr/>
          <p:nvPr/>
        </p:nvSpPr>
        <p:spPr>
          <a:xfrm>
            <a:off x="4224528" y="72237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Secret Manager</a:t>
            </a:r>
            <a:endParaRPr lang="en-US" sz="700" dirty="0"/>
          </a:p>
        </p:txBody>
      </p:sp>
      <p:sp>
        <p:nvSpPr>
          <p:cNvPr id="68" name="Text 66"/>
          <p:cNvSpPr/>
          <p:nvPr/>
        </p:nvSpPr>
        <p:spPr>
          <a:xfrm>
            <a:off x="4224528" y="87782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Centralised secret store for HASHIDS_SALT, AES-128 encryption key, OAuth client secrets, and third-party API keys.</a:t>
            </a:r>
            <a:endParaRPr lang="en-US" sz="600" dirty="0"/>
          </a:p>
        </p:txBody>
      </p:sp>
      <p:sp>
        <p:nvSpPr>
          <p:cNvPr id="69" name="Shape 67"/>
          <p:cNvSpPr/>
          <p:nvPr/>
        </p:nvSpPr>
        <p:spPr>
          <a:xfrm>
            <a:off x="4133088" y="1170432"/>
            <a:ext cx="3886200" cy="475488"/>
          </a:xfrm>
          <a:prstGeom prst="rect">
            <a:avLst/>
          </a:prstGeom>
          <a:solidFill>
            <a:srgbClr val="F0F2F4"/>
          </a:solidFill>
          <a:ln w="6350">
            <a:solidFill>
              <a:srgbClr val="D8DADE"/>
            </a:solidFill>
            <a:prstDash val="solid"/>
          </a:ln>
        </p:spPr>
      </p:sp>
      <p:sp>
        <p:nvSpPr>
          <p:cNvPr id="70" name="Shape 68"/>
          <p:cNvSpPr/>
          <p:nvPr/>
        </p:nvSpPr>
        <p:spPr>
          <a:xfrm>
            <a:off x="4133088" y="1170432"/>
            <a:ext cx="36576" cy="475488"/>
          </a:xfrm>
          <a:prstGeom prst="rect">
            <a:avLst/>
          </a:prstGeom>
          <a:solidFill>
            <a:srgbClr val="3D8090"/>
          </a:solidFill>
          <a:ln w="12700">
            <a:solidFill>
              <a:srgbClr val="3D8090"/>
            </a:solidFill>
            <a:prstDash val="solid"/>
          </a:ln>
        </p:spPr>
      </p:sp>
      <p:sp>
        <p:nvSpPr>
          <p:cNvPr id="71" name="Text 69"/>
          <p:cNvSpPr/>
          <p:nvPr/>
        </p:nvSpPr>
        <p:spPr>
          <a:xfrm>
            <a:off x="4224528" y="119786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KMS</a:t>
            </a:r>
            <a:endParaRPr lang="en-US" sz="700" dirty="0"/>
          </a:p>
        </p:txBody>
      </p:sp>
      <p:sp>
        <p:nvSpPr>
          <p:cNvPr id="72" name="Text 70"/>
          <p:cNvSpPr/>
          <p:nvPr/>
        </p:nvSpPr>
        <p:spPr>
          <a:xfrm>
            <a:off x="4224528" y="135331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Manages Customer-Managed Encryption Keys (CMEK) used by Cloud SQL and Cloud Storage to satisfy data residency requirements.</a:t>
            </a:r>
            <a:endParaRPr lang="en-US" sz="600" dirty="0"/>
          </a:p>
        </p:txBody>
      </p:sp>
      <p:sp>
        <p:nvSpPr>
          <p:cNvPr id="73" name="Shape 71"/>
          <p:cNvSpPr/>
          <p:nvPr/>
        </p:nvSpPr>
        <p:spPr>
          <a:xfrm>
            <a:off x="4133088" y="1645920"/>
            <a:ext cx="3886200" cy="475488"/>
          </a:xfrm>
          <a:prstGeom prst="rect">
            <a:avLst/>
          </a:prstGeom>
          <a:solidFill>
            <a:srgbClr val="FFFFFF"/>
          </a:solidFill>
          <a:ln w="6350">
            <a:solidFill>
              <a:srgbClr val="D8DADE"/>
            </a:solidFill>
            <a:prstDash val="solid"/>
          </a:ln>
        </p:spPr>
      </p:sp>
      <p:sp>
        <p:nvSpPr>
          <p:cNvPr id="74" name="Shape 72"/>
          <p:cNvSpPr/>
          <p:nvPr/>
        </p:nvSpPr>
        <p:spPr>
          <a:xfrm>
            <a:off x="4133088" y="1645920"/>
            <a:ext cx="36576" cy="475488"/>
          </a:xfrm>
          <a:prstGeom prst="rect">
            <a:avLst/>
          </a:prstGeom>
          <a:solidFill>
            <a:srgbClr val="3D8090"/>
          </a:solidFill>
          <a:ln w="12700">
            <a:solidFill>
              <a:srgbClr val="3D8090"/>
            </a:solidFill>
            <a:prstDash val="solid"/>
          </a:ln>
        </p:spPr>
      </p:sp>
      <p:sp>
        <p:nvSpPr>
          <p:cNvPr id="75" name="Text 73"/>
          <p:cNvSpPr/>
          <p:nvPr/>
        </p:nvSpPr>
        <p:spPr>
          <a:xfrm>
            <a:off x="4224528" y="167335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Workload Identity</a:t>
            </a:r>
            <a:endParaRPr lang="en-US" sz="700" dirty="0"/>
          </a:p>
        </p:txBody>
      </p:sp>
      <p:sp>
        <p:nvSpPr>
          <p:cNvPr id="76" name="Text 74"/>
          <p:cNvSpPr/>
          <p:nvPr/>
        </p:nvSpPr>
        <p:spPr>
          <a:xfrm>
            <a:off x="4224528" y="182880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Binds GKE service accounts to GCP IAM roles; pods acquire credentials at runtime — no static JSON key files.</a:t>
            </a:r>
            <a:endParaRPr lang="en-US" sz="600" dirty="0"/>
          </a:p>
        </p:txBody>
      </p:sp>
      <p:sp>
        <p:nvSpPr>
          <p:cNvPr id="77" name="Shape 75"/>
          <p:cNvSpPr/>
          <p:nvPr/>
        </p:nvSpPr>
        <p:spPr>
          <a:xfrm>
            <a:off x="4133088" y="2121408"/>
            <a:ext cx="3886200" cy="475488"/>
          </a:xfrm>
          <a:prstGeom prst="rect">
            <a:avLst/>
          </a:prstGeom>
          <a:solidFill>
            <a:srgbClr val="F0F2F4"/>
          </a:solidFill>
          <a:ln w="6350">
            <a:solidFill>
              <a:srgbClr val="D8DADE"/>
            </a:solidFill>
            <a:prstDash val="solid"/>
          </a:ln>
        </p:spPr>
      </p:sp>
      <p:sp>
        <p:nvSpPr>
          <p:cNvPr id="78" name="Shape 76"/>
          <p:cNvSpPr/>
          <p:nvPr/>
        </p:nvSpPr>
        <p:spPr>
          <a:xfrm>
            <a:off x="4133088" y="2121408"/>
            <a:ext cx="36576" cy="475488"/>
          </a:xfrm>
          <a:prstGeom prst="rect">
            <a:avLst/>
          </a:prstGeom>
          <a:solidFill>
            <a:srgbClr val="3D8090"/>
          </a:solidFill>
          <a:ln w="12700">
            <a:solidFill>
              <a:srgbClr val="3D8090"/>
            </a:solidFill>
            <a:prstDash val="solid"/>
          </a:ln>
        </p:spPr>
      </p:sp>
      <p:sp>
        <p:nvSpPr>
          <p:cNvPr id="79" name="Text 77"/>
          <p:cNvSpPr/>
          <p:nvPr/>
        </p:nvSpPr>
        <p:spPr>
          <a:xfrm>
            <a:off x="4224528" y="214884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VPC Service Controls</a:t>
            </a:r>
            <a:endParaRPr lang="en-US" sz="700" dirty="0"/>
          </a:p>
        </p:txBody>
      </p:sp>
      <p:sp>
        <p:nvSpPr>
          <p:cNvPr id="80" name="Text 78"/>
          <p:cNvSpPr/>
          <p:nvPr/>
        </p:nvSpPr>
        <p:spPr>
          <a:xfrm>
            <a:off x="4224528" y="230428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Access perimeter around Cloud SQL, Secret Manager, and Storage; prevents data exfiltration even if a pod is compromised.</a:t>
            </a:r>
            <a:endParaRPr lang="en-US" sz="600" dirty="0"/>
          </a:p>
        </p:txBody>
      </p:sp>
      <p:sp>
        <p:nvSpPr>
          <p:cNvPr id="81" name="Shape 79"/>
          <p:cNvSpPr/>
          <p:nvPr/>
        </p:nvSpPr>
        <p:spPr>
          <a:xfrm>
            <a:off x="4133088" y="2688336"/>
            <a:ext cx="3886200" cy="237744"/>
          </a:xfrm>
          <a:prstGeom prst="rect">
            <a:avLst/>
          </a:prstGeom>
          <a:solidFill>
            <a:srgbClr val="A8783C"/>
          </a:solidFill>
          <a:ln w="12700">
            <a:solidFill>
              <a:srgbClr val="A8783C"/>
            </a:solidFill>
            <a:prstDash val="solid"/>
          </a:ln>
        </p:spPr>
      </p:sp>
      <p:sp>
        <p:nvSpPr>
          <p:cNvPr id="82" name="Text 80"/>
          <p:cNvSpPr/>
          <p:nvPr/>
        </p:nvSpPr>
        <p:spPr>
          <a:xfrm>
            <a:off x="4206240" y="2688336"/>
            <a:ext cx="3776472" cy="237744"/>
          </a:xfrm>
          <a:prstGeom prst="rect">
            <a:avLst/>
          </a:prstGeom>
          <a:noFill/>
          <a:ln/>
        </p:spPr>
        <p:txBody>
          <a:bodyPr wrap="square" lIns="0" tIns="0" rIns="0" bIns="0" rtlCol="0" anchor="ctr"/>
          <a:lstStyle/>
          <a:p>
            <a:pPr indent="0" marL="0">
              <a:buNone/>
            </a:pPr>
            <a:r>
              <a:rPr lang="en-US" sz="750" b="1" dirty="0">
                <a:solidFill>
                  <a:srgbClr val="F0E8D8"/>
                </a:solidFill>
                <a:latin typeface="Calibri" pitchFamily="34" charset="0"/>
                <a:ea typeface="Calibri" pitchFamily="34" charset="-122"/>
                <a:cs typeface="Calibri" pitchFamily="34" charset="-120"/>
              </a:rPr>
              <a:t>Async &amp; Scheduling</a:t>
            </a:r>
            <a:endParaRPr lang="en-US" sz="750" dirty="0"/>
          </a:p>
        </p:txBody>
      </p:sp>
      <p:sp>
        <p:nvSpPr>
          <p:cNvPr id="83" name="Shape 81"/>
          <p:cNvSpPr/>
          <p:nvPr/>
        </p:nvSpPr>
        <p:spPr>
          <a:xfrm>
            <a:off x="4133088" y="2926080"/>
            <a:ext cx="3886200" cy="475488"/>
          </a:xfrm>
          <a:prstGeom prst="rect">
            <a:avLst/>
          </a:prstGeom>
          <a:solidFill>
            <a:srgbClr val="FFFFFF"/>
          </a:solidFill>
          <a:ln w="6350">
            <a:solidFill>
              <a:srgbClr val="D8DADE"/>
            </a:solidFill>
            <a:prstDash val="solid"/>
          </a:ln>
        </p:spPr>
      </p:sp>
      <p:sp>
        <p:nvSpPr>
          <p:cNvPr id="84" name="Shape 82"/>
          <p:cNvSpPr/>
          <p:nvPr/>
        </p:nvSpPr>
        <p:spPr>
          <a:xfrm>
            <a:off x="4133088" y="2926080"/>
            <a:ext cx="36576" cy="475488"/>
          </a:xfrm>
          <a:prstGeom prst="rect">
            <a:avLst/>
          </a:prstGeom>
          <a:solidFill>
            <a:srgbClr val="A8783C"/>
          </a:solidFill>
          <a:ln w="12700">
            <a:solidFill>
              <a:srgbClr val="A8783C"/>
            </a:solidFill>
            <a:prstDash val="solid"/>
          </a:ln>
        </p:spPr>
      </p:sp>
      <p:sp>
        <p:nvSpPr>
          <p:cNvPr id="85" name="Text 83"/>
          <p:cNvSpPr/>
          <p:nvPr/>
        </p:nvSpPr>
        <p:spPr>
          <a:xfrm>
            <a:off x="4224528" y="295351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Pub/Sub</a:t>
            </a:r>
            <a:endParaRPr lang="en-US" sz="700" dirty="0"/>
          </a:p>
        </p:txBody>
      </p:sp>
      <p:sp>
        <p:nvSpPr>
          <p:cNvPr id="86" name="Text 84"/>
          <p:cNvSpPr/>
          <p:nvPr/>
        </p:nvSpPr>
        <p:spPr>
          <a:xfrm>
            <a:off x="4224528" y="310896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Async message bus; topics cover webhook delivery (with dead-letter), NLS feedback, case polling triggers, and audit events.</a:t>
            </a:r>
            <a:endParaRPr lang="en-US" sz="600" dirty="0"/>
          </a:p>
        </p:txBody>
      </p:sp>
      <p:sp>
        <p:nvSpPr>
          <p:cNvPr id="87" name="Shape 85"/>
          <p:cNvSpPr/>
          <p:nvPr/>
        </p:nvSpPr>
        <p:spPr>
          <a:xfrm>
            <a:off x="4133088" y="3401568"/>
            <a:ext cx="3886200" cy="475488"/>
          </a:xfrm>
          <a:prstGeom prst="rect">
            <a:avLst/>
          </a:prstGeom>
          <a:solidFill>
            <a:srgbClr val="F0F2F4"/>
          </a:solidFill>
          <a:ln w="6350">
            <a:solidFill>
              <a:srgbClr val="D8DADE"/>
            </a:solidFill>
            <a:prstDash val="solid"/>
          </a:ln>
        </p:spPr>
      </p:sp>
      <p:sp>
        <p:nvSpPr>
          <p:cNvPr id="88" name="Shape 86"/>
          <p:cNvSpPr/>
          <p:nvPr/>
        </p:nvSpPr>
        <p:spPr>
          <a:xfrm>
            <a:off x="4133088" y="3401568"/>
            <a:ext cx="36576" cy="475488"/>
          </a:xfrm>
          <a:prstGeom prst="rect">
            <a:avLst/>
          </a:prstGeom>
          <a:solidFill>
            <a:srgbClr val="A8783C"/>
          </a:solidFill>
          <a:ln w="12700">
            <a:solidFill>
              <a:srgbClr val="A8783C"/>
            </a:solidFill>
            <a:prstDash val="solid"/>
          </a:ln>
        </p:spPr>
      </p:sp>
      <p:sp>
        <p:nvSpPr>
          <p:cNvPr id="89" name="Text 87"/>
          <p:cNvSpPr/>
          <p:nvPr/>
        </p:nvSpPr>
        <p:spPr>
          <a:xfrm>
            <a:off x="4224528" y="342900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Scheduler</a:t>
            </a:r>
            <a:endParaRPr lang="en-US" sz="700" dirty="0"/>
          </a:p>
        </p:txBody>
      </p:sp>
      <p:sp>
        <p:nvSpPr>
          <p:cNvPr id="90" name="Text 88"/>
          <p:cNvSpPr/>
          <p:nvPr/>
        </p:nvSpPr>
        <p:spPr>
          <a:xfrm>
            <a:off x="4224528" y="358444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Cron triggers for NLS polling (every 5 min), case-finalisation checks, and hourly SLA-breach alerting.</a:t>
            </a:r>
            <a:endParaRPr lang="en-US" sz="600" dirty="0"/>
          </a:p>
        </p:txBody>
      </p:sp>
      <p:sp>
        <p:nvSpPr>
          <p:cNvPr id="91" name="Shape 89"/>
          <p:cNvSpPr/>
          <p:nvPr/>
        </p:nvSpPr>
        <p:spPr>
          <a:xfrm>
            <a:off x="4133088" y="3968496"/>
            <a:ext cx="3886200" cy="237744"/>
          </a:xfrm>
          <a:prstGeom prst="rect">
            <a:avLst/>
          </a:prstGeom>
          <a:solidFill>
            <a:srgbClr val="457A52"/>
          </a:solidFill>
          <a:ln w="12700">
            <a:solidFill>
              <a:srgbClr val="457A52"/>
            </a:solidFill>
            <a:prstDash val="solid"/>
          </a:ln>
        </p:spPr>
      </p:sp>
      <p:sp>
        <p:nvSpPr>
          <p:cNvPr id="92" name="Text 90"/>
          <p:cNvSpPr/>
          <p:nvPr/>
        </p:nvSpPr>
        <p:spPr>
          <a:xfrm>
            <a:off x="4206240" y="3968496"/>
            <a:ext cx="3776472" cy="237744"/>
          </a:xfrm>
          <a:prstGeom prst="rect">
            <a:avLst/>
          </a:prstGeom>
          <a:noFill/>
          <a:ln/>
        </p:spPr>
        <p:txBody>
          <a:bodyPr wrap="square" lIns="0" tIns="0" rIns="0" bIns="0" rtlCol="0" anchor="ctr"/>
          <a:lstStyle/>
          <a:p>
            <a:pPr indent="0" marL="0">
              <a:buNone/>
            </a:pPr>
            <a:r>
              <a:rPr lang="en-US" sz="750" b="1" dirty="0">
                <a:solidFill>
                  <a:srgbClr val="E0EEE2"/>
                </a:solidFill>
                <a:latin typeface="Calibri" pitchFamily="34" charset="0"/>
                <a:ea typeface="Calibri" pitchFamily="34" charset="-122"/>
                <a:cs typeface="Calibri" pitchFamily="34" charset="-120"/>
              </a:rPr>
              <a:t>Observability</a:t>
            </a:r>
            <a:endParaRPr lang="en-US" sz="750" dirty="0"/>
          </a:p>
        </p:txBody>
      </p:sp>
      <p:sp>
        <p:nvSpPr>
          <p:cNvPr id="93" name="Shape 91"/>
          <p:cNvSpPr/>
          <p:nvPr/>
        </p:nvSpPr>
        <p:spPr>
          <a:xfrm>
            <a:off x="4133088" y="4206240"/>
            <a:ext cx="3886200" cy="475488"/>
          </a:xfrm>
          <a:prstGeom prst="rect">
            <a:avLst/>
          </a:prstGeom>
          <a:solidFill>
            <a:srgbClr val="FFFFFF"/>
          </a:solidFill>
          <a:ln w="6350">
            <a:solidFill>
              <a:srgbClr val="D8DADE"/>
            </a:solidFill>
            <a:prstDash val="solid"/>
          </a:ln>
        </p:spPr>
      </p:sp>
      <p:sp>
        <p:nvSpPr>
          <p:cNvPr id="94" name="Shape 92"/>
          <p:cNvSpPr/>
          <p:nvPr/>
        </p:nvSpPr>
        <p:spPr>
          <a:xfrm>
            <a:off x="4133088" y="4206240"/>
            <a:ext cx="36576" cy="475488"/>
          </a:xfrm>
          <a:prstGeom prst="rect">
            <a:avLst/>
          </a:prstGeom>
          <a:solidFill>
            <a:srgbClr val="457A52"/>
          </a:solidFill>
          <a:ln w="12700">
            <a:solidFill>
              <a:srgbClr val="457A52"/>
            </a:solidFill>
            <a:prstDash val="solid"/>
          </a:ln>
        </p:spPr>
      </p:sp>
      <p:sp>
        <p:nvSpPr>
          <p:cNvPr id="95" name="Text 93"/>
          <p:cNvSpPr/>
          <p:nvPr/>
        </p:nvSpPr>
        <p:spPr>
          <a:xfrm>
            <a:off x="4224528" y="423367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Monitoring</a:t>
            </a:r>
            <a:endParaRPr lang="en-US" sz="700" dirty="0"/>
          </a:p>
        </p:txBody>
      </p:sp>
      <p:sp>
        <p:nvSpPr>
          <p:cNvPr id="96" name="Text 94"/>
          <p:cNvSpPr/>
          <p:nvPr/>
        </p:nvSpPr>
        <p:spPr>
          <a:xfrm>
            <a:off x="4224528" y="438912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Collects pod metrics (CPU, heap, HTTP latency p99); feeds alerting policies that notify on-call via PagerDuty.</a:t>
            </a:r>
            <a:endParaRPr lang="en-US" sz="600" dirty="0"/>
          </a:p>
        </p:txBody>
      </p:sp>
      <p:sp>
        <p:nvSpPr>
          <p:cNvPr id="97" name="Shape 95"/>
          <p:cNvSpPr/>
          <p:nvPr/>
        </p:nvSpPr>
        <p:spPr>
          <a:xfrm>
            <a:off x="4133088" y="4681728"/>
            <a:ext cx="3886200" cy="475488"/>
          </a:xfrm>
          <a:prstGeom prst="rect">
            <a:avLst/>
          </a:prstGeom>
          <a:solidFill>
            <a:srgbClr val="F0F2F4"/>
          </a:solidFill>
          <a:ln w="6350">
            <a:solidFill>
              <a:srgbClr val="D8DADE"/>
            </a:solidFill>
            <a:prstDash val="solid"/>
          </a:ln>
        </p:spPr>
      </p:sp>
      <p:sp>
        <p:nvSpPr>
          <p:cNvPr id="98" name="Shape 96"/>
          <p:cNvSpPr/>
          <p:nvPr/>
        </p:nvSpPr>
        <p:spPr>
          <a:xfrm>
            <a:off x="4133088" y="4681728"/>
            <a:ext cx="36576" cy="475488"/>
          </a:xfrm>
          <a:prstGeom prst="rect">
            <a:avLst/>
          </a:prstGeom>
          <a:solidFill>
            <a:srgbClr val="457A52"/>
          </a:solidFill>
          <a:ln w="12700">
            <a:solidFill>
              <a:srgbClr val="457A52"/>
            </a:solidFill>
            <a:prstDash val="solid"/>
          </a:ln>
        </p:spPr>
      </p:sp>
      <p:sp>
        <p:nvSpPr>
          <p:cNvPr id="99" name="Text 97"/>
          <p:cNvSpPr/>
          <p:nvPr/>
        </p:nvSpPr>
        <p:spPr>
          <a:xfrm>
            <a:off x="4224528" y="470916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Trace</a:t>
            </a:r>
            <a:endParaRPr lang="en-US" sz="700" dirty="0"/>
          </a:p>
        </p:txBody>
      </p:sp>
      <p:sp>
        <p:nvSpPr>
          <p:cNvPr id="100" name="Text 98"/>
          <p:cNvSpPr/>
          <p:nvPr/>
        </p:nvSpPr>
        <p:spPr>
          <a:xfrm>
            <a:off x="4224528" y="486460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Distributed tracing with propagated traceId; visualises end-to-end latency across all microservice hops.</a:t>
            </a:r>
            <a:endParaRPr lang="en-US" sz="600" dirty="0"/>
          </a:p>
        </p:txBody>
      </p:sp>
      <p:sp>
        <p:nvSpPr>
          <p:cNvPr id="101" name="Shape 99"/>
          <p:cNvSpPr/>
          <p:nvPr/>
        </p:nvSpPr>
        <p:spPr>
          <a:xfrm>
            <a:off x="4133088" y="5157216"/>
            <a:ext cx="3886200" cy="475488"/>
          </a:xfrm>
          <a:prstGeom prst="rect">
            <a:avLst/>
          </a:prstGeom>
          <a:solidFill>
            <a:srgbClr val="FFFFFF"/>
          </a:solidFill>
          <a:ln w="6350">
            <a:solidFill>
              <a:srgbClr val="D8DADE"/>
            </a:solidFill>
            <a:prstDash val="solid"/>
          </a:ln>
        </p:spPr>
      </p:sp>
      <p:sp>
        <p:nvSpPr>
          <p:cNvPr id="102" name="Shape 100"/>
          <p:cNvSpPr/>
          <p:nvPr/>
        </p:nvSpPr>
        <p:spPr>
          <a:xfrm>
            <a:off x="4133088" y="5157216"/>
            <a:ext cx="36576" cy="475488"/>
          </a:xfrm>
          <a:prstGeom prst="rect">
            <a:avLst/>
          </a:prstGeom>
          <a:solidFill>
            <a:srgbClr val="457A52"/>
          </a:solidFill>
          <a:ln w="12700">
            <a:solidFill>
              <a:srgbClr val="457A52"/>
            </a:solidFill>
            <a:prstDash val="solid"/>
          </a:ln>
        </p:spPr>
      </p:sp>
      <p:sp>
        <p:nvSpPr>
          <p:cNvPr id="103" name="Text 101"/>
          <p:cNvSpPr/>
          <p:nvPr/>
        </p:nvSpPr>
        <p:spPr>
          <a:xfrm>
            <a:off x="4224528" y="5184648"/>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Logging</a:t>
            </a:r>
            <a:endParaRPr lang="en-US" sz="700" dirty="0"/>
          </a:p>
        </p:txBody>
      </p:sp>
      <p:sp>
        <p:nvSpPr>
          <p:cNvPr id="104" name="Text 102"/>
          <p:cNvSpPr/>
          <p:nvPr/>
        </p:nvSpPr>
        <p:spPr>
          <a:xfrm>
            <a:off x="4224528" y="5340096"/>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Structured JSON logs with PII masked before emission; queryable via Log Explorer and exportable to BigQuery.</a:t>
            </a:r>
            <a:endParaRPr lang="en-US" sz="600" dirty="0"/>
          </a:p>
        </p:txBody>
      </p:sp>
      <p:sp>
        <p:nvSpPr>
          <p:cNvPr id="105" name="Shape 103"/>
          <p:cNvSpPr/>
          <p:nvPr/>
        </p:nvSpPr>
        <p:spPr>
          <a:xfrm>
            <a:off x="4133088" y="5632704"/>
            <a:ext cx="3886200" cy="475488"/>
          </a:xfrm>
          <a:prstGeom prst="rect">
            <a:avLst/>
          </a:prstGeom>
          <a:solidFill>
            <a:srgbClr val="F0F2F4"/>
          </a:solidFill>
          <a:ln w="6350">
            <a:solidFill>
              <a:srgbClr val="D8DADE"/>
            </a:solidFill>
            <a:prstDash val="solid"/>
          </a:ln>
        </p:spPr>
      </p:sp>
      <p:sp>
        <p:nvSpPr>
          <p:cNvPr id="106" name="Shape 104"/>
          <p:cNvSpPr/>
          <p:nvPr/>
        </p:nvSpPr>
        <p:spPr>
          <a:xfrm>
            <a:off x="4133088" y="5632704"/>
            <a:ext cx="36576" cy="475488"/>
          </a:xfrm>
          <a:prstGeom prst="rect">
            <a:avLst/>
          </a:prstGeom>
          <a:solidFill>
            <a:srgbClr val="457A52"/>
          </a:solidFill>
          <a:ln w="12700">
            <a:solidFill>
              <a:srgbClr val="457A52"/>
            </a:solidFill>
            <a:prstDash val="solid"/>
          </a:ln>
        </p:spPr>
      </p:sp>
      <p:sp>
        <p:nvSpPr>
          <p:cNvPr id="107" name="Text 105"/>
          <p:cNvSpPr/>
          <p:nvPr/>
        </p:nvSpPr>
        <p:spPr>
          <a:xfrm>
            <a:off x="4224528" y="566013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Error Reporting</a:t>
            </a:r>
            <a:endParaRPr lang="en-US" sz="700" dirty="0"/>
          </a:p>
        </p:txBody>
      </p:sp>
      <p:sp>
        <p:nvSpPr>
          <p:cNvPr id="108" name="Text 106"/>
          <p:cNvSpPr/>
          <p:nvPr/>
        </p:nvSpPr>
        <p:spPr>
          <a:xfrm>
            <a:off x="4224528" y="581558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Automatically groups and deduplicates exceptions; triggers PagerDuty incidents for new error classes.</a:t>
            </a:r>
            <a:endParaRPr lang="en-US" sz="600" dirty="0"/>
          </a:p>
        </p:txBody>
      </p:sp>
      <p:sp>
        <p:nvSpPr>
          <p:cNvPr id="109" name="Shape 107"/>
          <p:cNvSpPr/>
          <p:nvPr/>
        </p:nvSpPr>
        <p:spPr>
          <a:xfrm>
            <a:off x="4133088" y="6108192"/>
            <a:ext cx="3886200" cy="475488"/>
          </a:xfrm>
          <a:prstGeom prst="rect">
            <a:avLst/>
          </a:prstGeom>
          <a:solidFill>
            <a:srgbClr val="FFFFFF"/>
          </a:solidFill>
          <a:ln w="6350">
            <a:solidFill>
              <a:srgbClr val="D8DADE"/>
            </a:solidFill>
            <a:prstDash val="solid"/>
          </a:ln>
        </p:spPr>
      </p:sp>
      <p:sp>
        <p:nvSpPr>
          <p:cNvPr id="110" name="Shape 108"/>
          <p:cNvSpPr/>
          <p:nvPr/>
        </p:nvSpPr>
        <p:spPr>
          <a:xfrm>
            <a:off x="4133088" y="6108192"/>
            <a:ext cx="36576" cy="475488"/>
          </a:xfrm>
          <a:prstGeom prst="rect">
            <a:avLst/>
          </a:prstGeom>
          <a:solidFill>
            <a:srgbClr val="457A52"/>
          </a:solidFill>
          <a:ln w="12700">
            <a:solidFill>
              <a:srgbClr val="457A52"/>
            </a:solidFill>
            <a:prstDash val="solid"/>
          </a:ln>
        </p:spPr>
      </p:sp>
      <p:sp>
        <p:nvSpPr>
          <p:cNvPr id="111" name="Text 109"/>
          <p:cNvSpPr/>
          <p:nvPr/>
        </p:nvSpPr>
        <p:spPr>
          <a:xfrm>
            <a:off x="4224528" y="613562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BigQuery</a:t>
            </a:r>
            <a:endParaRPr lang="en-US" sz="700" dirty="0"/>
          </a:p>
        </p:txBody>
      </p:sp>
      <p:sp>
        <p:nvSpPr>
          <p:cNvPr id="112" name="Text 110"/>
          <p:cNvSpPr/>
          <p:nvPr/>
        </p:nvSpPr>
        <p:spPr>
          <a:xfrm>
            <a:off x="4224528" y="629107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Immutable audit trail of all KYC events; powers compliance exports and long-term retention (7 years).</a:t>
            </a:r>
            <a:endParaRPr lang="en-US" sz="600" dirty="0"/>
          </a:p>
        </p:txBody>
      </p:sp>
      <p:sp>
        <p:nvSpPr>
          <p:cNvPr id="113" name="Shape 111"/>
          <p:cNvSpPr/>
          <p:nvPr/>
        </p:nvSpPr>
        <p:spPr>
          <a:xfrm>
            <a:off x="8129016" y="457200"/>
            <a:ext cx="3886200" cy="237744"/>
          </a:xfrm>
          <a:prstGeom prst="rect">
            <a:avLst/>
          </a:prstGeom>
          <a:solidFill>
            <a:srgbClr val="B8924A"/>
          </a:solidFill>
          <a:ln w="12700">
            <a:solidFill>
              <a:srgbClr val="B8924A"/>
            </a:solidFill>
            <a:prstDash val="solid"/>
          </a:ln>
        </p:spPr>
      </p:sp>
      <p:sp>
        <p:nvSpPr>
          <p:cNvPr id="114" name="Text 112"/>
          <p:cNvSpPr/>
          <p:nvPr/>
        </p:nvSpPr>
        <p:spPr>
          <a:xfrm>
            <a:off x="8202168" y="457200"/>
            <a:ext cx="3776472" cy="237744"/>
          </a:xfrm>
          <a:prstGeom prst="rect">
            <a:avLst/>
          </a:prstGeom>
          <a:noFill/>
          <a:ln/>
        </p:spPr>
        <p:txBody>
          <a:bodyPr wrap="square" lIns="0" tIns="0" rIns="0" bIns="0" rtlCol="0" anchor="ctr"/>
          <a:lstStyle/>
          <a:p>
            <a:pPr indent="0" marL="0">
              <a:buNone/>
            </a:pPr>
            <a:r>
              <a:rPr lang="en-US" sz="750" b="1" dirty="0">
                <a:solidFill>
                  <a:srgbClr val="F5EDD8"/>
                </a:solidFill>
                <a:latin typeface="Calibri" pitchFamily="34" charset="0"/>
                <a:ea typeface="Calibri" pitchFamily="34" charset="-122"/>
                <a:cs typeface="Calibri" pitchFamily="34" charset="-120"/>
              </a:rPr>
              <a:t>CI/CD</a:t>
            </a:r>
            <a:endParaRPr lang="en-US" sz="750" dirty="0"/>
          </a:p>
        </p:txBody>
      </p:sp>
      <p:sp>
        <p:nvSpPr>
          <p:cNvPr id="115" name="Shape 113"/>
          <p:cNvSpPr/>
          <p:nvPr/>
        </p:nvSpPr>
        <p:spPr>
          <a:xfrm>
            <a:off x="8129016" y="694944"/>
            <a:ext cx="3886200" cy="475488"/>
          </a:xfrm>
          <a:prstGeom prst="rect">
            <a:avLst/>
          </a:prstGeom>
          <a:solidFill>
            <a:srgbClr val="FFFFFF"/>
          </a:solidFill>
          <a:ln w="6350">
            <a:solidFill>
              <a:srgbClr val="D8DADE"/>
            </a:solidFill>
            <a:prstDash val="solid"/>
          </a:ln>
        </p:spPr>
      </p:sp>
      <p:sp>
        <p:nvSpPr>
          <p:cNvPr id="116" name="Shape 114"/>
          <p:cNvSpPr/>
          <p:nvPr/>
        </p:nvSpPr>
        <p:spPr>
          <a:xfrm>
            <a:off x="8129016" y="694944"/>
            <a:ext cx="36576" cy="475488"/>
          </a:xfrm>
          <a:prstGeom prst="rect">
            <a:avLst/>
          </a:prstGeom>
          <a:solidFill>
            <a:srgbClr val="B8924A"/>
          </a:solidFill>
          <a:ln w="12700">
            <a:solidFill>
              <a:srgbClr val="B8924A"/>
            </a:solidFill>
            <a:prstDash val="solid"/>
          </a:ln>
        </p:spPr>
      </p:sp>
      <p:sp>
        <p:nvSpPr>
          <p:cNvPr id="117" name="Text 115"/>
          <p:cNvSpPr/>
          <p:nvPr/>
        </p:nvSpPr>
        <p:spPr>
          <a:xfrm>
            <a:off x="8220456" y="72237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Artifact Registry</a:t>
            </a:r>
            <a:endParaRPr lang="en-US" sz="700" dirty="0"/>
          </a:p>
        </p:txBody>
      </p:sp>
      <p:sp>
        <p:nvSpPr>
          <p:cNvPr id="118" name="Text 116"/>
          <p:cNvSpPr/>
          <p:nvPr/>
        </p:nvSpPr>
        <p:spPr>
          <a:xfrm>
            <a:off x="8220456" y="87782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Private Docker registry; stores signed container images and build artefacts per environment.</a:t>
            </a:r>
            <a:endParaRPr lang="en-US" sz="600" dirty="0"/>
          </a:p>
        </p:txBody>
      </p:sp>
      <p:sp>
        <p:nvSpPr>
          <p:cNvPr id="119" name="Shape 117"/>
          <p:cNvSpPr/>
          <p:nvPr/>
        </p:nvSpPr>
        <p:spPr>
          <a:xfrm>
            <a:off x="8129016" y="1170432"/>
            <a:ext cx="3886200" cy="475488"/>
          </a:xfrm>
          <a:prstGeom prst="rect">
            <a:avLst/>
          </a:prstGeom>
          <a:solidFill>
            <a:srgbClr val="F0F2F4"/>
          </a:solidFill>
          <a:ln w="6350">
            <a:solidFill>
              <a:srgbClr val="D8DADE"/>
            </a:solidFill>
            <a:prstDash val="solid"/>
          </a:ln>
        </p:spPr>
      </p:sp>
      <p:sp>
        <p:nvSpPr>
          <p:cNvPr id="120" name="Shape 118"/>
          <p:cNvSpPr/>
          <p:nvPr/>
        </p:nvSpPr>
        <p:spPr>
          <a:xfrm>
            <a:off x="8129016" y="1170432"/>
            <a:ext cx="36576" cy="475488"/>
          </a:xfrm>
          <a:prstGeom prst="rect">
            <a:avLst/>
          </a:prstGeom>
          <a:solidFill>
            <a:srgbClr val="B8924A"/>
          </a:solidFill>
          <a:ln w="12700">
            <a:solidFill>
              <a:srgbClr val="B8924A"/>
            </a:solidFill>
            <a:prstDash val="solid"/>
          </a:ln>
        </p:spPr>
      </p:sp>
      <p:sp>
        <p:nvSpPr>
          <p:cNvPr id="121" name="Text 119"/>
          <p:cNvSpPr/>
          <p:nvPr/>
        </p:nvSpPr>
        <p:spPr>
          <a:xfrm>
            <a:off x="8220456" y="119786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Cloud Build</a:t>
            </a:r>
            <a:endParaRPr lang="en-US" sz="700" dirty="0"/>
          </a:p>
        </p:txBody>
      </p:sp>
      <p:sp>
        <p:nvSpPr>
          <p:cNvPr id="122" name="Text 120"/>
          <p:cNvSpPr/>
          <p:nvPr/>
        </p:nvSpPr>
        <p:spPr>
          <a:xfrm>
            <a:off x="8220456" y="135331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Serverless CI pipeline: runs tests, builds images, signs with Binary Authorization, and deploys to GKE via Helm.</a:t>
            </a:r>
            <a:endParaRPr lang="en-US" sz="600" dirty="0"/>
          </a:p>
        </p:txBody>
      </p:sp>
      <p:sp>
        <p:nvSpPr>
          <p:cNvPr id="123" name="Shape 121"/>
          <p:cNvSpPr/>
          <p:nvPr/>
        </p:nvSpPr>
        <p:spPr>
          <a:xfrm>
            <a:off x="8129016" y="1737360"/>
            <a:ext cx="3886200" cy="237744"/>
          </a:xfrm>
          <a:prstGeom prst="rect">
            <a:avLst/>
          </a:prstGeom>
          <a:solidFill>
            <a:srgbClr val="496E96"/>
          </a:solidFill>
          <a:ln w="12700">
            <a:solidFill>
              <a:srgbClr val="496E96"/>
            </a:solidFill>
            <a:prstDash val="solid"/>
          </a:ln>
        </p:spPr>
      </p:sp>
      <p:sp>
        <p:nvSpPr>
          <p:cNvPr id="124" name="Text 122"/>
          <p:cNvSpPr/>
          <p:nvPr/>
        </p:nvSpPr>
        <p:spPr>
          <a:xfrm>
            <a:off x="8202168" y="1737360"/>
            <a:ext cx="3776472" cy="237744"/>
          </a:xfrm>
          <a:prstGeom prst="rect">
            <a:avLst/>
          </a:prstGeom>
          <a:noFill/>
          <a:ln/>
        </p:spPr>
        <p:txBody>
          <a:bodyPr wrap="square" lIns="0" tIns="0" rIns="0" bIns="0" rtlCol="0" anchor="ctr"/>
          <a:lstStyle/>
          <a:p>
            <a:pPr indent="0" marL="0">
              <a:buNone/>
            </a:pPr>
            <a:r>
              <a:rPr lang="en-US" sz="750" b="1" dirty="0">
                <a:solidFill>
                  <a:srgbClr val="EAF0F8"/>
                </a:solidFill>
                <a:latin typeface="Calibri" pitchFamily="34" charset="0"/>
                <a:ea typeface="Calibri" pitchFamily="34" charset="-122"/>
                <a:cs typeface="Calibri" pitchFamily="34" charset="-120"/>
              </a:rPr>
              <a:t>External Systems</a:t>
            </a:r>
            <a:endParaRPr lang="en-US" sz="750" dirty="0"/>
          </a:p>
        </p:txBody>
      </p:sp>
      <p:sp>
        <p:nvSpPr>
          <p:cNvPr id="125" name="Shape 123"/>
          <p:cNvSpPr/>
          <p:nvPr/>
        </p:nvSpPr>
        <p:spPr>
          <a:xfrm>
            <a:off x="8129016" y="1975104"/>
            <a:ext cx="3886200" cy="475488"/>
          </a:xfrm>
          <a:prstGeom prst="rect">
            <a:avLst/>
          </a:prstGeom>
          <a:solidFill>
            <a:srgbClr val="FFFFFF"/>
          </a:solidFill>
          <a:ln w="6350">
            <a:solidFill>
              <a:srgbClr val="D8DADE"/>
            </a:solidFill>
            <a:prstDash val="solid"/>
          </a:ln>
        </p:spPr>
      </p:sp>
      <p:sp>
        <p:nvSpPr>
          <p:cNvPr id="126" name="Shape 124"/>
          <p:cNvSpPr/>
          <p:nvPr/>
        </p:nvSpPr>
        <p:spPr>
          <a:xfrm>
            <a:off x="8129016" y="1975104"/>
            <a:ext cx="36576" cy="475488"/>
          </a:xfrm>
          <a:prstGeom prst="rect">
            <a:avLst/>
          </a:prstGeom>
          <a:solidFill>
            <a:srgbClr val="496E96"/>
          </a:solidFill>
          <a:ln w="12700">
            <a:solidFill>
              <a:srgbClr val="496E96"/>
            </a:solidFill>
            <a:prstDash val="solid"/>
          </a:ln>
        </p:spPr>
      </p:sp>
      <p:sp>
        <p:nvSpPr>
          <p:cNvPr id="127" name="Text 125"/>
          <p:cNvSpPr/>
          <p:nvPr/>
        </p:nvSpPr>
        <p:spPr>
          <a:xfrm>
            <a:off x="8220456" y="2002536"/>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EIS Gateway</a:t>
            </a:r>
            <a:endParaRPr lang="en-US" sz="700" dirty="0"/>
          </a:p>
        </p:txBody>
      </p:sp>
      <p:sp>
        <p:nvSpPr>
          <p:cNvPr id="128" name="Text 126"/>
          <p:cNvSpPr/>
          <p:nvPr/>
        </p:nvSpPr>
        <p:spPr>
          <a:xfrm>
            <a:off x="8220456" y="2157984"/>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Enterprise Integration Service; primary caller initiating KYC precheck on behalf of front-office systems.</a:t>
            </a:r>
            <a:endParaRPr lang="en-US" sz="600" dirty="0"/>
          </a:p>
        </p:txBody>
      </p:sp>
      <p:sp>
        <p:nvSpPr>
          <p:cNvPr id="129" name="Shape 127"/>
          <p:cNvSpPr/>
          <p:nvPr/>
        </p:nvSpPr>
        <p:spPr>
          <a:xfrm>
            <a:off x="8129016" y="2450592"/>
            <a:ext cx="3886200" cy="475488"/>
          </a:xfrm>
          <a:prstGeom prst="rect">
            <a:avLst/>
          </a:prstGeom>
          <a:solidFill>
            <a:srgbClr val="F0F2F4"/>
          </a:solidFill>
          <a:ln w="6350">
            <a:solidFill>
              <a:srgbClr val="D8DADE"/>
            </a:solidFill>
            <a:prstDash val="solid"/>
          </a:ln>
        </p:spPr>
      </p:sp>
      <p:sp>
        <p:nvSpPr>
          <p:cNvPr id="130" name="Shape 128"/>
          <p:cNvSpPr/>
          <p:nvPr/>
        </p:nvSpPr>
        <p:spPr>
          <a:xfrm>
            <a:off x="8129016" y="2450592"/>
            <a:ext cx="36576" cy="475488"/>
          </a:xfrm>
          <a:prstGeom prst="rect">
            <a:avLst/>
          </a:prstGeom>
          <a:solidFill>
            <a:srgbClr val="496E96"/>
          </a:solidFill>
          <a:ln w="12700">
            <a:solidFill>
              <a:srgbClr val="496E96"/>
            </a:solidFill>
            <a:prstDash val="solid"/>
          </a:ln>
        </p:spPr>
      </p:sp>
      <p:sp>
        <p:nvSpPr>
          <p:cNvPr id="131" name="Text 129"/>
          <p:cNvSpPr/>
          <p:nvPr/>
        </p:nvSpPr>
        <p:spPr>
          <a:xfrm>
            <a:off x="8220456" y="2478024"/>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InvestiFi Gateway</a:t>
            </a:r>
            <a:endParaRPr lang="en-US" sz="700" dirty="0"/>
          </a:p>
        </p:txBody>
      </p:sp>
      <p:sp>
        <p:nvSpPr>
          <p:cNvPr id="132" name="Text 130"/>
          <p:cNvSpPr/>
          <p:nvPr/>
        </p:nvSpPr>
        <p:spPr>
          <a:xfrm>
            <a:off x="8220456" y="2633472"/>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Investment platform gateway; triggers KYC for new investment account onboarding journeys.</a:t>
            </a:r>
            <a:endParaRPr lang="en-US" sz="600" dirty="0"/>
          </a:p>
        </p:txBody>
      </p:sp>
      <p:sp>
        <p:nvSpPr>
          <p:cNvPr id="133" name="Shape 131"/>
          <p:cNvSpPr/>
          <p:nvPr/>
        </p:nvSpPr>
        <p:spPr>
          <a:xfrm>
            <a:off x="8129016" y="2926080"/>
            <a:ext cx="3886200" cy="475488"/>
          </a:xfrm>
          <a:prstGeom prst="rect">
            <a:avLst/>
          </a:prstGeom>
          <a:solidFill>
            <a:srgbClr val="FFFFFF"/>
          </a:solidFill>
          <a:ln w="6350">
            <a:solidFill>
              <a:srgbClr val="D8DADE"/>
            </a:solidFill>
            <a:prstDash val="solid"/>
          </a:ln>
        </p:spPr>
      </p:sp>
      <p:sp>
        <p:nvSpPr>
          <p:cNvPr id="134" name="Shape 132"/>
          <p:cNvSpPr/>
          <p:nvPr/>
        </p:nvSpPr>
        <p:spPr>
          <a:xfrm>
            <a:off x="8129016" y="2926080"/>
            <a:ext cx="36576" cy="475488"/>
          </a:xfrm>
          <a:prstGeom prst="rect">
            <a:avLst/>
          </a:prstGeom>
          <a:solidFill>
            <a:srgbClr val="496E96"/>
          </a:solidFill>
          <a:ln w="12700">
            <a:solidFill>
              <a:srgbClr val="496E96"/>
            </a:solidFill>
            <a:prstDash val="solid"/>
          </a:ln>
        </p:spPr>
      </p:sp>
      <p:sp>
        <p:nvSpPr>
          <p:cNvPr id="135" name="Text 133"/>
          <p:cNvSpPr/>
          <p:nvPr/>
        </p:nvSpPr>
        <p:spPr>
          <a:xfrm>
            <a:off x="8220456" y="2953512"/>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KYC-NCA</a:t>
            </a:r>
            <a:endParaRPr lang="en-US" sz="700" dirty="0"/>
          </a:p>
        </p:txBody>
      </p:sp>
      <p:sp>
        <p:nvSpPr>
          <p:cNvPr id="136" name="Text 134"/>
          <p:cNvSpPr/>
          <p:nvPr/>
        </p:nvSpPr>
        <p:spPr>
          <a:xfrm>
            <a:off x="8220456" y="3108960"/>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National competent authority screening endpoint; provides hit/no-hit response for watchlist checks.</a:t>
            </a:r>
            <a:endParaRPr lang="en-US" sz="600" dirty="0"/>
          </a:p>
        </p:txBody>
      </p:sp>
      <p:sp>
        <p:nvSpPr>
          <p:cNvPr id="137" name="Shape 135"/>
          <p:cNvSpPr/>
          <p:nvPr/>
        </p:nvSpPr>
        <p:spPr>
          <a:xfrm>
            <a:off x="8129016" y="3401568"/>
            <a:ext cx="3886200" cy="475488"/>
          </a:xfrm>
          <a:prstGeom prst="rect">
            <a:avLst/>
          </a:prstGeom>
          <a:solidFill>
            <a:srgbClr val="F0F2F4"/>
          </a:solidFill>
          <a:ln w="6350">
            <a:solidFill>
              <a:srgbClr val="D8DADE"/>
            </a:solidFill>
            <a:prstDash val="solid"/>
          </a:ln>
        </p:spPr>
      </p:sp>
      <p:sp>
        <p:nvSpPr>
          <p:cNvPr id="138" name="Shape 136"/>
          <p:cNvSpPr/>
          <p:nvPr/>
        </p:nvSpPr>
        <p:spPr>
          <a:xfrm>
            <a:off x="8129016" y="3401568"/>
            <a:ext cx="36576" cy="475488"/>
          </a:xfrm>
          <a:prstGeom prst="rect">
            <a:avLst/>
          </a:prstGeom>
          <a:solidFill>
            <a:srgbClr val="496E96"/>
          </a:solidFill>
          <a:ln w="12700">
            <a:solidFill>
              <a:srgbClr val="496E96"/>
            </a:solidFill>
            <a:prstDash val="solid"/>
          </a:ln>
        </p:spPr>
      </p:sp>
      <p:sp>
        <p:nvSpPr>
          <p:cNvPr id="139" name="Text 137"/>
          <p:cNvSpPr/>
          <p:nvPr/>
        </p:nvSpPr>
        <p:spPr>
          <a:xfrm>
            <a:off x="8220456" y="3429000"/>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NLS / NRTS</a:t>
            </a:r>
            <a:endParaRPr lang="en-US" sz="700" dirty="0"/>
          </a:p>
        </p:txBody>
      </p:sp>
      <p:sp>
        <p:nvSpPr>
          <p:cNvPr id="140" name="Text 138"/>
          <p:cNvSpPr/>
          <p:nvPr/>
        </p:nvSpPr>
        <p:spPr>
          <a:xfrm>
            <a:off x="8220456" y="3584448"/>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Name/Reference Translation Services; polled periodically for case status updates and NLS feedback files.</a:t>
            </a:r>
            <a:endParaRPr lang="en-US" sz="600" dirty="0"/>
          </a:p>
        </p:txBody>
      </p:sp>
      <p:sp>
        <p:nvSpPr>
          <p:cNvPr id="141" name="Shape 139"/>
          <p:cNvSpPr/>
          <p:nvPr/>
        </p:nvSpPr>
        <p:spPr>
          <a:xfrm>
            <a:off x="8129016" y="3877056"/>
            <a:ext cx="3886200" cy="475488"/>
          </a:xfrm>
          <a:prstGeom prst="rect">
            <a:avLst/>
          </a:prstGeom>
          <a:solidFill>
            <a:srgbClr val="FFFFFF"/>
          </a:solidFill>
          <a:ln w="6350">
            <a:solidFill>
              <a:srgbClr val="D8DADE"/>
            </a:solidFill>
            <a:prstDash val="solid"/>
          </a:ln>
        </p:spPr>
      </p:sp>
      <p:sp>
        <p:nvSpPr>
          <p:cNvPr id="142" name="Shape 140"/>
          <p:cNvSpPr/>
          <p:nvPr/>
        </p:nvSpPr>
        <p:spPr>
          <a:xfrm>
            <a:off x="8129016" y="3877056"/>
            <a:ext cx="36576" cy="475488"/>
          </a:xfrm>
          <a:prstGeom prst="rect">
            <a:avLst/>
          </a:prstGeom>
          <a:solidFill>
            <a:srgbClr val="496E96"/>
          </a:solidFill>
          <a:ln w="12700">
            <a:solidFill>
              <a:srgbClr val="496E96"/>
            </a:solidFill>
            <a:prstDash val="solid"/>
          </a:ln>
        </p:spPr>
      </p:sp>
      <p:sp>
        <p:nvSpPr>
          <p:cNvPr id="143" name="Text 141"/>
          <p:cNvSpPr/>
          <p:nvPr/>
        </p:nvSpPr>
        <p:spPr>
          <a:xfrm>
            <a:off x="8220456" y="3904488"/>
            <a:ext cx="3758184" cy="164592"/>
          </a:xfrm>
          <a:prstGeom prst="rect">
            <a:avLst/>
          </a:prstGeom>
          <a:noFill/>
          <a:ln/>
        </p:spPr>
        <p:txBody>
          <a:bodyPr wrap="square" lIns="0" tIns="0" rIns="0" bIns="0" rtlCol="0" anchor="ctr"/>
          <a:lstStyle/>
          <a:p>
            <a:pPr indent="0" marL="0">
              <a:buNone/>
            </a:pPr>
            <a:r>
              <a:rPr lang="en-US" sz="700" b="1" dirty="0">
                <a:solidFill>
                  <a:srgbClr val="2C3E50"/>
                </a:solidFill>
                <a:latin typeface="Calibri" pitchFamily="34" charset="0"/>
                <a:ea typeface="Calibri" pitchFamily="34" charset="-122"/>
                <a:cs typeface="Calibri" pitchFamily="34" charset="-120"/>
              </a:rPr>
              <a:t>CRRE</a:t>
            </a:r>
            <a:endParaRPr lang="en-US" sz="700" dirty="0"/>
          </a:p>
        </p:txBody>
      </p:sp>
      <p:sp>
        <p:nvSpPr>
          <p:cNvPr id="144" name="Text 142"/>
          <p:cNvSpPr/>
          <p:nvPr/>
        </p:nvSpPr>
        <p:spPr>
          <a:xfrm>
            <a:off x="8220456" y="4059936"/>
            <a:ext cx="3758184" cy="274320"/>
          </a:xfrm>
          <a:prstGeom prst="rect">
            <a:avLst/>
          </a:prstGeom>
          <a:noFill/>
          <a:ln/>
        </p:spPr>
        <p:txBody>
          <a:bodyPr wrap="square" lIns="0" tIns="0" rIns="0" bIns="0" rtlCol="0" anchor="ctr"/>
          <a:lstStyle/>
          <a:p>
            <a:pPr indent="0" marL="0">
              <a:buNone/>
            </a:pPr>
            <a:r>
              <a:rPr lang="en-US" sz="600" dirty="0">
                <a:solidFill>
                  <a:srgbClr val="4A5560"/>
                </a:solidFill>
                <a:latin typeface="Calibri" pitchFamily="34" charset="0"/>
                <a:ea typeface="Calibri" pitchFamily="34" charset="-122"/>
                <a:cs typeface="Calibri" pitchFamily="34" charset="-120"/>
              </a:rPr>
              <a:t>Compliance Risk and Reporting Engine; receives enriched KYC outcomes for downstream regulatory reporting.</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12161520" cy="384048"/>
          </a:xfrm>
          <a:prstGeom prst="rect">
            <a:avLst/>
          </a:prstGeom>
          <a:solidFill>
            <a:srgbClr val="263446"/>
          </a:solidFill>
          <a:ln w="12700">
            <a:solidFill>
              <a:srgbClr val="263446"/>
            </a:solidFill>
            <a:prstDash val="solid"/>
          </a:ln>
        </p:spPr>
      </p:sp>
      <p:sp>
        <p:nvSpPr>
          <p:cNvPr id="3" name="Text 1"/>
          <p:cNvSpPr/>
          <p:nvPr/>
        </p:nvSpPr>
        <p:spPr>
          <a:xfrm>
            <a:off x="137160" y="0"/>
            <a:ext cx="8229600" cy="384048"/>
          </a:xfrm>
          <a:prstGeom prst="rect">
            <a:avLst/>
          </a:prstGeom>
          <a:noFill/>
          <a:ln/>
        </p:spPr>
        <p:txBody>
          <a:bodyPr wrap="square" lIns="0" tIns="0" rIns="0" bIns="0" rtlCol="0" anchor="ctr"/>
          <a:lstStyle/>
          <a:p>
            <a:pPr indent="0" marL="0">
              <a:buNone/>
            </a:pPr>
            <a:r>
              <a:rPr lang="en-US" sz="1200" b="1" dirty="0">
                <a:solidFill>
                  <a:srgbClr val="D0DCE8"/>
                </a:solidFill>
                <a:latin typeface="Calibri" pitchFamily="34" charset="0"/>
                <a:ea typeface="Calibri" pitchFamily="34" charset="-122"/>
                <a:cs typeface="Calibri" pitchFamily="34" charset="-120"/>
              </a:rPr>
              <a:t>Decision Required &amp; Next Steps</a:t>
            </a:r>
            <a:endParaRPr lang="en-US" sz="1200" dirty="0"/>
          </a:p>
        </p:txBody>
      </p:sp>
      <p:sp>
        <p:nvSpPr>
          <p:cNvPr id="4" name="Text 2"/>
          <p:cNvSpPr/>
          <p:nvPr/>
        </p:nvSpPr>
        <p:spPr>
          <a:xfrm>
            <a:off x="8412480" y="0"/>
            <a:ext cx="3566160" cy="384048"/>
          </a:xfrm>
          <a:prstGeom prst="rect">
            <a:avLst/>
          </a:prstGeom>
          <a:noFill/>
          <a:ln/>
        </p:spPr>
        <p:txBody>
          <a:bodyPr wrap="square" lIns="0" tIns="0" rIns="0" bIns="0" rtlCol="0" anchor="ctr"/>
          <a:lstStyle/>
          <a:p>
            <a:pPr algn="r" indent="0" marL="0">
              <a:buNone/>
            </a:pPr>
            <a:r>
              <a:rPr lang="en-US" sz="900" dirty="0">
                <a:solidFill>
                  <a:srgbClr val="7A9EC0"/>
                </a:solidFill>
                <a:latin typeface="Calibri" pitchFamily="34" charset="0"/>
                <a:ea typeface="Calibri" pitchFamily="34" charset="-122"/>
                <a:cs typeface="Calibri" pitchFamily="34" charset="-120"/>
              </a:rPr>
              <a:t>Security Design Authority  |  April 2026</a:t>
            </a:r>
            <a:endParaRPr lang="en-US" sz="900" dirty="0"/>
          </a:p>
        </p:txBody>
      </p:sp>
      <p:sp>
        <p:nvSpPr>
          <p:cNvPr id="5" name="Shape 3"/>
          <p:cNvSpPr/>
          <p:nvPr/>
        </p:nvSpPr>
        <p:spPr>
          <a:xfrm>
            <a:off x="274320" y="502920"/>
            <a:ext cx="11612880" cy="914400"/>
          </a:xfrm>
          <a:prstGeom prst="rect">
            <a:avLst/>
          </a:prstGeom>
          <a:solidFill>
            <a:srgbClr val="EBF0F5"/>
          </a:solidFill>
          <a:ln w="19050">
            <a:solidFill>
              <a:srgbClr val="7A9EC0"/>
            </a:solidFill>
            <a:prstDash val="solid"/>
          </a:ln>
        </p:spPr>
      </p:sp>
      <p:sp>
        <p:nvSpPr>
          <p:cNvPr id="6" name="Shape 4"/>
          <p:cNvSpPr/>
          <p:nvPr/>
        </p:nvSpPr>
        <p:spPr>
          <a:xfrm>
            <a:off x="274320" y="502920"/>
            <a:ext cx="54864" cy="914400"/>
          </a:xfrm>
          <a:prstGeom prst="rect">
            <a:avLst/>
          </a:prstGeom>
          <a:solidFill>
            <a:srgbClr val="5578A0"/>
          </a:solidFill>
          <a:ln w="12700">
            <a:solidFill>
              <a:srgbClr val="5578A0"/>
            </a:solidFill>
            <a:prstDash val="solid"/>
          </a:ln>
        </p:spPr>
      </p:sp>
      <p:sp>
        <p:nvSpPr>
          <p:cNvPr id="7" name="Text 5"/>
          <p:cNvSpPr/>
          <p:nvPr/>
        </p:nvSpPr>
        <p:spPr>
          <a:xfrm>
            <a:off x="402336" y="530352"/>
            <a:ext cx="3200400" cy="274320"/>
          </a:xfrm>
          <a:prstGeom prst="rect">
            <a:avLst/>
          </a:prstGeom>
          <a:noFill/>
          <a:ln/>
        </p:spPr>
        <p:txBody>
          <a:bodyPr wrap="square" lIns="0" tIns="0" rIns="0" bIns="0" rtlCol="0" anchor="ctr"/>
          <a:lstStyle/>
          <a:p>
            <a:pPr indent="0" marL="0">
              <a:buNone/>
            </a:pPr>
            <a:r>
              <a:rPr lang="en-US" sz="1000" b="1" dirty="0">
                <a:solidFill>
                  <a:srgbClr val="2C3E50"/>
                </a:solidFill>
                <a:latin typeface="Calibri" pitchFamily="34" charset="0"/>
                <a:ea typeface="Calibri" pitchFamily="34" charset="-122"/>
                <a:cs typeface="Calibri" pitchFamily="34" charset="-120"/>
              </a:rPr>
              <a:t>Decision Required</a:t>
            </a:r>
            <a:endParaRPr lang="en-US" sz="1000" dirty="0"/>
          </a:p>
        </p:txBody>
      </p:sp>
      <p:sp>
        <p:nvSpPr>
          <p:cNvPr id="8" name="Text 6"/>
          <p:cNvSpPr/>
          <p:nvPr/>
        </p:nvSpPr>
        <p:spPr>
          <a:xfrm>
            <a:off x="402336" y="804672"/>
            <a:ext cx="11430000" cy="51206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The Security Design Authority is asked to approve the proposed GCP architecture for the KYC Orchestration Service, confirming that the security controls, data handling practices and deployment model satisfy the firm's information security and regulatory requirements.</a:t>
            </a:r>
            <a:endParaRPr lang="en-US" sz="850" dirty="0"/>
          </a:p>
        </p:txBody>
      </p:sp>
      <p:sp>
        <p:nvSpPr>
          <p:cNvPr id="9" name="Text 7"/>
          <p:cNvSpPr/>
          <p:nvPr/>
        </p:nvSpPr>
        <p:spPr>
          <a:xfrm>
            <a:off x="274320" y="1536192"/>
            <a:ext cx="5486400" cy="237744"/>
          </a:xfrm>
          <a:prstGeom prst="rect">
            <a:avLst/>
          </a:prstGeom>
          <a:noFill/>
          <a:ln/>
        </p:spPr>
        <p:txBody>
          <a:bodyPr wrap="square" lIns="0" tIns="0" rIns="0" bIns="0" rtlCol="0" anchor="ctr"/>
          <a:lstStyle/>
          <a:p>
            <a:pPr indent="0" marL="0">
              <a:buNone/>
            </a:pPr>
            <a:r>
              <a:rPr lang="en-US" sz="950" b="1" dirty="0">
                <a:solidFill>
                  <a:srgbClr val="2C3E50"/>
                </a:solidFill>
                <a:latin typeface="Calibri" pitchFamily="34" charset="0"/>
                <a:ea typeface="Calibri" pitchFamily="34" charset="-122"/>
                <a:cs typeface="Calibri" pitchFamily="34" charset="-120"/>
              </a:rPr>
              <a:t>Conditions &amp; Assumptions</a:t>
            </a:r>
            <a:endParaRPr lang="en-US" sz="950" dirty="0"/>
          </a:p>
        </p:txBody>
      </p:sp>
      <p:sp>
        <p:nvSpPr>
          <p:cNvPr id="10" name="Shape 8"/>
          <p:cNvSpPr/>
          <p:nvPr/>
        </p:nvSpPr>
        <p:spPr>
          <a:xfrm>
            <a:off x="347472" y="1810512"/>
            <a:ext cx="146304" cy="146304"/>
          </a:xfrm>
          <a:prstGeom prst="ellipse">
            <a:avLst/>
          </a:prstGeom>
          <a:solidFill>
            <a:srgbClr val="5578A0"/>
          </a:solidFill>
          <a:ln w="12700">
            <a:solidFill>
              <a:srgbClr val="5578A0"/>
            </a:solidFill>
            <a:prstDash val="solid"/>
          </a:ln>
        </p:spPr>
      </p:sp>
      <p:sp>
        <p:nvSpPr>
          <p:cNvPr id="11" name="Text 9"/>
          <p:cNvSpPr/>
          <p:nvPr/>
        </p:nvSpPr>
        <p:spPr>
          <a:xfrm>
            <a:off x="347472" y="1810512"/>
            <a:ext cx="146304" cy="14630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1</a:t>
            </a:r>
            <a:endParaRPr lang="en-US" sz="650" dirty="0"/>
          </a:p>
        </p:txBody>
      </p:sp>
      <p:sp>
        <p:nvSpPr>
          <p:cNvPr id="12" name="Text 10"/>
          <p:cNvSpPr/>
          <p:nvPr/>
        </p:nvSpPr>
        <p:spPr>
          <a:xfrm>
            <a:off x="566928" y="1783080"/>
            <a:ext cx="5394960" cy="29260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Penetration test to be completed prior to production go-live; findings remediated to at least Medium severity.</a:t>
            </a:r>
            <a:endParaRPr lang="en-US" sz="800" dirty="0"/>
          </a:p>
        </p:txBody>
      </p:sp>
      <p:sp>
        <p:nvSpPr>
          <p:cNvPr id="13" name="Shape 11"/>
          <p:cNvSpPr/>
          <p:nvPr/>
        </p:nvSpPr>
        <p:spPr>
          <a:xfrm>
            <a:off x="347472" y="2121408"/>
            <a:ext cx="146304" cy="146304"/>
          </a:xfrm>
          <a:prstGeom prst="ellipse">
            <a:avLst/>
          </a:prstGeom>
          <a:solidFill>
            <a:srgbClr val="5578A0"/>
          </a:solidFill>
          <a:ln w="12700">
            <a:solidFill>
              <a:srgbClr val="5578A0"/>
            </a:solidFill>
            <a:prstDash val="solid"/>
          </a:ln>
        </p:spPr>
      </p:sp>
      <p:sp>
        <p:nvSpPr>
          <p:cNvPr id="14" name="Text 12"/>
          <p:cNvSpPr/>
          <p:nvPr/>
        </p:nvSpPr>
        <p:spPr>
          <a:xfrm>
            <a:off x="347472" y="2121408"/>
            <a:ext cx="146304" cy="14630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2</a:t>
            </a:r>
            <a:endParaRPr lang="en-US" sz="650" dirty="0"/>
          </a:p>
        </p:txBody>
      </p:sp>
      <p:sp>
        <p:nvSpPr>
          <p:cNvPr id="15" name="Text 13"/>
          <p:cNvSpPr/>
          <p:nvPr/>
        </p:nvSpPr>
        <p:spPr>
          <a:xfrm>
            <a:off x="566928" y="2093976"/>
            <a:ext cx="5394960" cy="29260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HASHIDS_SALT and AES-128 key to be rotated from default values before any environment above Development.</a:t>
            </a:r>
            <a:endParaRPr lang="en-US" sz="800" dirty="0"/>
          </a:p>
        </p:txBody>
      </p:sp>
      <p:sp>
        <p:nvSpPr>
          <p:cNvPr id="16" name="Shape 14"/>
          <p:cNvSpPr/>
          <p:nvPr/>
        </p:nvSpPr>
        <p:spPr>
          <a:xfrm>
            <a:off x="347472" y="2432304"/>
            <a:ext cx="146304" cy="146304"/>
          </a:xfrm>
          <a:prstGeom prst="ellipse">
            <a:avLst/>
          </a:prstGeom>
          <a:solidFill>
            <a:srgbClr val="5578A0"/>
          </a:solidFill>
          <a:ln w="12700">
            <a:solidFill>
              <a:srgbClr val="5578A0"/>
            </a:solidFill>
            <a:prstDash val="solid"/>
          </a:ln>
        </p:spPr>
      </p:sp>
      <p:sp>
        <p:nvSpPr>
          <p:cNvPr id="17" name="Text 15"/>
          <p:cNvSpPr/>
          <p:nvPr/>
        </p:nvSpPr>
        <p:spPr>
          <a:xfrm>
            <a:off x="347472" y="2432304"/>
            <a:ext cx="146304" cy="14630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3</a:t>
            </a:r>
            <a:endParaRPr lang="en-US" sz="650" dirty="0"/>
          </a:p>
        </p:txBody>
      </p:sp>
      <p:sp>
        <p:nvSpPr>
          <p:cNvPr id="18" name="Text 16"/>
          <p:cNvSpPr/>
          <p:nvPr/>
        </p:nvSpPr>
        <p:spPr>
          <a:xfrm>
            <a:off x="566928" y="2404872"/>
            <a:ext cx="5394960" cy="29260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VPC Service Controls perimeter to be validated by the Security team during the Infrastructure provisioning phase.</a:t>
            </a:r>
            <a:endParaRPr lang="en-US" sz="800" dirty="0"/>
          </a:p>
        </p:txBody>
      </p:sp>
      <p:sp>
        <p:nvSpPr>
          <p:cNvPr id="19" name="Shape 17"/>
          <p:cNvSpPr/>
          <p:nvPr/>
        </p:nvSpPr>
        <p:spPr>
          <a:xfrm>
            <a:off x="347472" y="2743200"/>
            <a:ext cx="146304" cy="146304"/>
          </a:xfrm>
          <a:prstGeom prst="ellipse">
            <a:avLst/>
          </a:prstGeom>
          <a:solidFill>
            <a:srgbClr val="5578A0"/>
          </a:solidFill>
          <a:ln w="12700">
            <a:solidFill>
              <a:srgbClr val="5578A0"/>
            </a:solidFill>
            <a:prstDash val="solid"/>
          </a:ln>
        </p:spPr>
      </p:sp>
      <p:sp>
        <p:nvSpPr>
          <p:cNvPr id="20" name="Text 18"/>
          <p:cNvSpPr/>
          <p:nvPr/>
        </p:nvSpPr>
        <p:spPr>
          <a:xfrm>
            <a:off x="347472" y="2743200"/>
            <a:ext cx="146304" cy="14630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4</a:t>
            </a:r>
            <a:endParaRPr lang="en-US" sz="650" dirty="0"/>
          </a:p>
        </p:txBody>
      </p:sp>
      <p:sp>
        <p:nvSpPr>
          <p:cNvPr id="21" name="Text 19"/>
          <p:cNvSpPr/>
          <p:nvPr/>
        </p:nvSpPr>
        <p:spPr>
          <a:xfrm>
            <a:off x="566928" y="2715768"/>
            <a:ext cx="5394960" cy="29260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Production Cloud SQL instance to be configured with deletion protection and point-in-time recovery enabled.</a:t>
            </a:r>
            <a:endParaRPr lang="en-US" sz="800" dirty="0"/>
          </a:p>
        </p:txBody>
      </p:sp>
      <p:sp>
        <p:nvSpPr>
          <p:cNvPr id="22" name="Shape 20"/>
          <p:cNvSpPr/>
          <p:nvPr/>
        </p:nvSpPr>
        <p:spPr>
          <a:xfrm>
            <a:off x="6309360" y="1536192"/>
            <a:ext cx="0" cy="3474720"/>
          </a:xfrm>
          <a:prstGeom prst="line">
            <a:avLst/>
          </a:prstGeom>
          <a:noFill/>
          <a:ln w="12700">
            <a:solidFill>
              <a:srgbClr val="D0D8E0"/>
            </a:solidFill>
            <a:prstDash val="solid"/>
          </a:ln>
        </p:spPr>
      </p:sp>
      <p:sp>
        <p:nvSpPr>
          <p:cNvPr id="23" name="Text 21"/>
          <p:cNvSpPr/>
          <p:nvPr/>
        </p:nvSpPr>
        <p:spPr>
          <a:xfrm>
            <a:off x="6492240" y="1536192"/>
            <a:ext cx="5486400" cy="237744"/>
          </a:xfrm>
          <a:prstGeom prst="rect">
            <a:avLst/>
          </a:prstGeom>
          <a:noFill/>
          <a:ln/>
        </p:spPr>
        <p:txBody>
          <a:bodyPr wrap="square" lIns="0" tIns="0" rIns="0" bIns="0" rtlCol="0" anchor="ctr"/>
          <a:lstStyle/>
          <a:p>
            <a:pPr indent="0" marL="0">
              <a:buNone/>
            </a:pPr>
            <a:r>
              <a:rPr lang="en-US" sz="950" b="1" dirty="0">
                <a:solidFill>
                  <a:srgbClr val="2C3E50"/>
                </a:solidFill>
                <a:latin typeface="Calibri" pitchFamily="34" charset="0"/>
                <a:ea typeface="Calibri" pitchFamily="34" charset="-122"/>
                <a:cs typeface="Calibri" pitchFamily="34" charset="-120"/>
              </a:rPr>
              <a:t>Indicative Delivery Plan</a:t>
            </a:r>
            <a:endParaRPr lang="en-US" sz="950" dirty="0"/>
          </a:p>
        </p:txBody>
      </p:sp>
      <p:sp>
        <p:nvSpPr>
          <p:cNvPr id="24" name="Shape 22"/>
          <p:cNvSpPr/>
          <p:nvPr/>
        </p:nvSpPr>
        <p:spPr>
          <a:xfrm>
            <a:off x="6492240" y="1828800"/>
            <a:ext cx="5394960" cy="256032"/>
          </a:xfrm>
          <a:prstGeom prst="rect">
            <a:avLst/>
          </a:prstGeom>
          <a:solidFill>
            <a:srgbClr val="3D8090"/>
          </a:solidFill>
          <a:ln w="12700">
            <a:solidFill>
              <a:srgbClr val="3D8090"/>
            </a:solidFill>
            <a:prstDash val="solid"/>
          </a:ln>
        </p:spPr>
      </p:sp>
      <p:sp>
        <p:nvSpPr>
          <p:cNvPr id="25" name="Text 23"/>
          <p:cNvSpPr/>
          <p:nvPr/>
        </p:nvSpPr>
        <p:spPr>
          <a:xfrm>
            <a:off x="6565392" y="1828800"/>
            <a:ext cx="3840480"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1  ·  Infrastructure Provisioning</a:t>
            </a:r>
            <a:endParaRPr lang="en-US" sz="800" dirty="0"/>
          </a:p>
        </p:txBody>
      </p:sp>
      <p:sp>
        <p:nvSpPr>
          <p:cNvPr id="26" name="Text 24"/>
          <p:cNvSpPr/>
          <p:nvPr/>
        </p:nvSpPr>
        <p:spPr>
          <a:xfrm>
            <a:off x="10332720" y="1828800"/>
            <a:ext cx="1499616" cy="256032"/>
          </a:xfrm>
          <a:prstGeom prst="rect">
            <a:avLst/>
          </a:prstGeom>
          <a:noFill/>
          <a:ln/>
        </p:spPr>
        <p:txBody>
          <a:bodyPr wrap="square" lIns="0" tIns="0" rIns="0" bIns="0" rtlCol="0" anchor="ctr"/>
          <a:lstStyle/>
          <a:p>
            <a:pPr algn="r" indent="0" marL="0">
              <a:buNone/>
            </a:pPr>
            <a:r>
              <a:rPr lang="en-US" sz="750" dirty="0">
                <a:solidFill>
                  <a:srgbClr val="F0F4F8"/>
                </a:solidFill>
                <a:latin typeface="Calibri" pitchFamily="34" charset="0"/>
                <a:ea typeface="Calibri" pitchFamily="34" charset="-122"/>
                <a:cs typeface="Calibri" pitchFamily="34" charset="-120"/>
              </a:rPr>
              <a:t>Weeks 1–4</a:t>
            </a:r>
            <a:endParaRPr lang="en-US" sz="750" dirty="0"/>
          </a:p>
        </p:txBody>
      </p:sp>
      <p:sp>
        <p:nvSpPr>
          <p:cNvPr id="27" name="Shape 25"/>
          <p:cNvSpPr/>
          <p:nvPr/>
        </p:nvSpPr>
        <p:spPr>
          <a:xfrm>
            <a:off x="6492240" y="2084832"/>
            <a:ext cx="5394960" cy="822960"/>
          </a:xfrm>
          <a:prstGeom prst="rect">
            <a:avLst/>
          </a:prstGeom>
          <a:solidFill>
            <a:srgbClr val="FFFFFF"/>
          </a:solidFill>
          <a:ln w="6350">
            <a:solidFill>
              <a:srgbClr val="D0D8E0"/>
            </a:solidFill>
            <a:prstDash val="solid"/>
          </a:ln>
        </p:spPr>
      </p:sp>
      <p:sp>
        <p:nvSpPr>
          <p:cNvPr id="28" name="Shape 26"/>
          <p:cNvSpPr/>
          <p:nvPr/>
        </p:nvSpPr>
        <p:spPr>
          <a:xfrm>
            <a:off x="6565392" y="2148840"/>
            <a:ext cx="54864" cy="54864"/>
          </a:xfrm>
          <a:prstGeom prst="rect">
            <a:avLst/>
          </a:prstGeom>
          <a:solidFill>
            <a:srgbClr val="3D8090"/>
          </a:solidFill>
          <a:ln w="12700">
            <a:solidFill>
              <a:srgbClr val="3D8090"/>
            </a:solidFill>
            <a:prstDash val="solid"/>
          </a:ln>
        </p:spPr>
      </p:sp>
      <p:sp>
        <p:nvSpPr>
          <p:cNvPr id="29" name="Text 27"/>
          <p:cNvSpPr/>
          <p:nvPr/>
        </p:nvSpPr>
        <p:spPr>
          <a:xfrm>
            <a:off x="6675120" y="2103120"/>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GKE Autopilot cluster, VPC and subnets</a:t>
            </a:r>
            <a:endParaRPr lang="en-US" sz="700" dirty="0"/>
          </a:p>
        </p:txBody>
      </p:sp>
      <p:sp>
        <p:nvSpPr>
          <p:cNvPr id="30" name="Shape 28"/>
          <p:cNvSpPr/>
          <p:nvPr/>
        </p:nvSpPr>
        <p:spPr>
          <a:xfrm>
            <a:off x="6565392" y="2331720"/>
            <a:ext cx="54864" cy="54864"/>
          </a:xfrm>
          <a:prstGeom prst="rect">
            <a:avLst/>
          </a:prstGeom>
          <a:solidFill>
            <a:srgbClr val="3D8090"/>
          </a:solidFill>
          <a:ln w="12700">
            <a:solidFill>
              <a:srgbClr val="3D8090"/>
            </a:solidFill>
            <a:prstDash val="solid"/>
          </a:ln>
        </p:spPr>
      </p:sp>
      <p:sp>
        <p:nvSpPr>
          <p:cNvPr id="31" name="Text 29"/>
          <p:cNvSpPr/>
          <p:nvPr/>
        </p:nvSpPr>
        <p:spPr>
          <a:xfrm>
            <a:off x="6675120" y="2286000"/>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Cloud SQL HA instance and Memorystore Redis</a:t>
            </a:r>
            <a:endParaRPr lang="en-US" sz="700" dirty="0"/>
          </a:p>
        </p:txBody>
      </p:sp>
      <p:sp>
        <p:nvSpPr>
          <p:cNvPr id="32" name="Shape 30"/>
          <p:cNvSpPr/>
          <p:nvPr/>
        </p:nvSpPr>
        <p:spPr>
          <a:xfrm>
            <a:off x="6565392" y="2514600"/>
            <a:ext cx="54864" cy="54864"/>
          </a:xfrm>
          <a:prstGeom prst="rect">
            <a:avLst/>
          </a:prstGeom>
          <a:solidFill>
            <a:srgbClr val="3D8090"/>
          </a:solidFill>
          <a:ln w="12700">
            <a:solidFill>
              <a:srgbClr val="3D8090"/>
            </a:solidFill>
            <a:prstDash val="solid"/>
          </a:ln>
        </p:spPr>
      </p:sp>
      <p:sp>
        <p:nvSpPr>
          <p:cNvPr id="33" name="Text 31"/>
          <p:cNvSpPr/>
          <p:nvPr/>
        </p:nvSpPr>
        <p:spPr>
          <a:xfrm>
            <a:off x="6675120" y="2468880"/>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Secret Manager, KMS keys, Workload Identity bindings</a:t>
            </a:r>
            <a:endParaRPr lang="en-US" sz="700" dirty="0"/>
          </a:p>
        </p:txBody>
      </p:sp>
      <p:sp>
        <p:nvSpPr>
          <p:cNvPr id="34" name="Shape 32"/>
          <p:cNvSpPr/>
          <p:nvPr/>
        </p:nvSpPr>
        <p:spPr>
          <a:xfrm>
            <a:off x="6565392" y="2697480"/>
            <a:ext cx="54864" cy="54864"/>
          </a:xfrm>
          <a:prstGeom prst="rect">
            <a:avLst/>
          </a:prstGeom>
          <a:solidFill>
            <a:srgbClr val="3D8090"/>
          </a:solidFill>
          <a:ln w="12700">
            <a:solidFill>
              <a:srgbClr val="3D8090"/>
            </a:solidFill>
            <a:prstDash val="solid"/>
          </a:ln>
        </p:spPr>
      </p:sp>
      <p:sp>
        <p:nvSpPr>
          <p:cNvPr id="35" name="Text 33"/>
          <p:cNvSpPr/>
          <p:nvPr/>
        </p:nvSpPr>
        <p:spPr>
          <a:xfrm>
            <a:off x="6675120" y="2651760"/>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Cloud Armor policy and SSL certificates</a:t>
            </a:r>
            <a:endParaRPr lang="en-US" sz="700" dirty="0"/>
          </a:p>
        </p:txBody>
      </p:sp>
      <p:sp>
        <p:nvSpPr>
          <p:cNvPr id="36" name="Shape 34"/>
          <p:cNvSpPr/>
          <p:nvPr/>
        </p:nvSpPr>
        <p:spPr>
          <a:xfrm>
            <a:off x="6492240" y="2944368"/>
            <a:ext cx="5394960" cy="256032"/>
          </a:xfrm>
          <a:prstGeom prst="rect">
            <a:avLst/>
          </a:prstGeom>
          <a:solidFill>
            <a:srgbClr val="5578A0"/>
          </a:solidFill>
          <a:ln w="12700">
            <a:solidFill>
              <a:srgbClr val="5578A0"/>
            </a:solidFill>
            <a:prstDash val="solid"/>
          </a:ln>
        </p:spPr>
      </p:sp>
      <p:sp>
        <p:nvSpPr>
          <p:cNvPr id="37" name="Text 35"/>
          <p:cNvSpPr/>
          <p:nvPr/>
        </p:nvSpPr>
        <p:spPr>
          <a:xfrm>
            <a:off x="6565392" y="2944368"/>
            <a:ext cx="3840480"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2  ·  Service Development &amp; Testing</a:t>
            </a:r>
            <a:endParaRPr lang="en-US" sz="800" dirty="0"/>
          </a:p>
        </p:txBody>
      </p:sp>
      <p:sp>
        <p:nvSpPr>
          <p:cNvPr id="38" name="Text 36"/>
          <p:cNvSpPr/>
          <p:nvPr/>
        </p:nvSpPr>
        <p:spPr>
          <a:xfrm>
            <a:off x="10332720" y="2944368"/>
            <a:ext cx="1499616" cy="256032"/>
          </a:xfrm>
          <a:prstGeom prst="rect">
            <a:avLst/>
          </a:prstGeom>
          <a:noFill/>
          <a:ln/>
        </p:spPr>
        <p:txBody>
          <a:bodyPr wrap="square" lIns="0" tIns="0" rIns="0" bIns="0" rtlCol="0" anchor="ctr"/>
          <a:lstStyle/>
          <a:p>
            <a:pPr algn="r" indent="0" marL="0">
              <a:buNone/>
            </a:pPr>
            <a:r>
              <a:rPr lang="en-US" sz="750" dirty="0">
                <a:solidFill>
                  <a:srgbClr val="F0F4F8"/>
                </a:solidFill>
                <a:latin typeface="Calibri" pitchFamily="34" charset="0"/>
                <a:ea typeface="Calibri" pitchFamily="34" charset="-122"/>
                <a:cs typeface="Calibri" pitchFamily="34" charset="-120"/>
              </a:rPr>
              <a:t>Weeks 5–12</a:t>
            </a:r>
            <a:endParaRPr lang="en-US" sz="750" dirty="0"/>
          </a:p>
        </p:txBody>
      </p:sp>
      <p:sp>
        <p:nvSpPr>
          <p:cNvPr id="39" name="Shape 37"/>
          <p:cNvSpPr/>
          <p:nvPr/>
        </p:nvSpPr>
        <p:spPr>
          <a:xfrm>
            <a:off x="6492240" y="3200400"/>
            <a:ext cx="5394960" cy="822960"/>
          </a:xfrm>
          <a:prstGeom prst="rect">
            <a:avLst/>
          </a:prstGeom>
          <a:solidFill>
            <a:srgbClr val="FFFFFF"/>
          </a:solidFill>
          <a:ln w="6350">
            <a:solidFill>
              <a:srgbClr val="D0D8E0"/>
            </a:solidFill>
            <a:prstDash val="solid"/>
          </a:ln>
        </p:spPr>
      </p:sp>
      <p:sp>
        <p:nvSpPr>
          <p:cNvPr id="40" name="Shape 38"/>
          <p:cNvSpPr/>
          <p:nvPr/>
        </p:nvSpPr>
        <p:spPr>
          <a:xfrm>
            <a:off x="6565392" y="3264408"/>
            <a:ext cx="54864" cy="54864"/>
          </a:xfrm>
          <a:prstGeom prst="rect">
            <a:avLst/>
          </a:prstGeom>
          <a:solidFill>
            <a:srgbClr val="5578A0"/>
          </a:solidFill>
          <a:ln w="12700">
            <a:solidFill>
              <a:srgbClr val="5578A0"/>
            </a:solidFill>
            <a:prstDash val="solid"/>
          </a:ln>
        </p:spPr>
      </p:sp>
      <p:sp>
        <p:nvSpPr>
          <p:cNvPr id="41" name="Text 39"/>
          <p:cNvSpPr/>
          <p:nvPr/>
        </p:nvSpPr>
        <p:spPr>
          <a:xfrm>
            <a:off x="6675120" y="3218688"/>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kyc-orchestration service build and unit tests</a:t>
            </a:r>
            <a:endParaRPr lang="en-US" sz="700" dirty="0"/>
          </a:p>
        </p:txBody>
      </p:sp>
      <p:sp>
        <p:nvSpPr>
          <p:cNvPr id="42" name="Shape 40"/>
          <p:cNvSpPr/>
          <p:nvPr/>
        </p:nvSpPr>
        <p:spPr>
          <a:xfrm>
            <a:off x="6565392" y="3447288"/>
            <a:ext cx="54864" cy="54864"/>
          </a:xfrm>
          <a:prstGeom prst="rect">
            <a:avLst/>
          </a:prstGeom>
          <a:solidFill>
            <a:srgbClr val="5578A0"/>
          </a:solidFill>
          <a:ln w="12700">
            <a:solidFill>
              <a:srgbClr val="5578A0"/>
            </a:solidFill>
            <a:prstDash val="solid"/>
          </a:ln>
        </p:spPr>
      </p:sp>
      <p:sp>
        <p:nvSpPr>
          <p:cNvPr id="43" name="Text 41"/>
          <p:cNvSpPr/>
          <p:nvPr/>
        </p:nvSpPr>
        <p:spPr>
          <a:xfrm>
            <a:off x="6675120" y="3401568"/>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Integration with screening, risk, viewer and external partners</a:t>
            </a:r>
            <a:endParaRPr lang="en-US" sz="700" dirty="0"/>
          </a:p>
        </p:txBody>
      </p:sp>
      <p:sp>
        <p:nvSpPr>
          <p:cNvPr id="44" name="Shape 42"/>
          <p:cNvSpPr/>
          <p:nvPr/>
        </p:nvSpPr>
        <p:spPr>
          <a:xfrm>
            <a:off x="6565392" y="3630168"/>
            <a:ext cx="54864" cy="54864"/>
          </a:xfrm>
          <a:prstGeom prst="rect">
            <a:avLst/>
          </a:prstGeom>
          <a:solidFill>
            <a:srgbClr val="5578A0"/>
          </a:solidFill>
          <a:ln w="12700">
            <a:solidFill>
              <a:srgbClr val="5578A0"/>
            </a:solidFill>
            <a:prstDash val="solid"/>
          </a:ln>
        </p:spPr>
      </p:sp>
      <p:sp>
        <p:nvSpPr>
          <p:cNvPr id="45" name="Text 43"/>
          <p:cNvSpPr/>
          <p:nvPr/>
        </p:nvSpPr>
        <p:spPr>
          <a:xfrm>
            <a:off x="6675120" y="3584448"/>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Pub/Sub topics, Cloud Scheduler jobs, webhook delivery</a:t>
            </a:r>
            <a:endParaRPr lang="en-US" sz="700" dirty="0"/>
          </a:p>
        </p:txBody>
      </p:sp>
      <p:sp>
        <p:nvSpPr>
          <p:cNvPr id="46" name="Shape 44"/>
          <p:cNvSpPr/>
          <p:nvPr/>
        </p:nvSpPr>
        <p:spPr>
          <a:xfrm>
            <a:off x="6565392" y="3813048"/>
            <a:ext cx="54864" cy="54864"/>
          </a:xfrm>
          <a:prstGeom prst="rect">
            <a:avLst/>
          </a:prstGeom>
          <a:solidFill>
            <a:srgbClr val="5578A0"/>
          </a:solidFill>
          <a:ln w="12700">
            <a:solidFill>
              <a:srgbClr val="5578A0"/>
            </a:solidFill>
            <a:prstDash val="solid"/>
          </a:ln>
        </p:spPr>
      </p:sp>
      <p:sp>
        <p:nvSpPr>
          <p:cNvPr id="47" name="Text 45"/>
          <p:cNvSpPr/>
          <p:nvPr/>
        </p:nvSpPr>
        <p:spPr>
          <a:xfrm>
            <a:off x="6675120" y="3767328"/>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CI/CD pipeline (Cloud Build + Artifact Registry)</a:t>
            </a:r>
            <a:endParaRPr lang="en-US" sz="700" dirty="0"/>
          </a:p>
        </p:txBody>
      </p:sp>
      <p:sp>
        <p:nvSpPr>
          <p:cNvPr id="48" name="Shape 46"/>
          <p:cNvSpPr/>
          <p:nvPr/>
        </p:nvSpPr>
        <p:spPr>
          <a:xfrm>
            <a:off x="6492240" y="4059936"/>
            <a:ext cx="5394960" cy="256032"/>
          </a:xfrm>
          <a:prstGeom prst="rect">
            <a:avLst/>
          </a:prstGeom>
          <a:solidFill>
            <a:srgbClr val="4D8A5C"/>
          </a:solidFill>
          <a:ln w="12700">
            <a:solidFill>
              <a:srgbClr val="4D8A5C"/>
            </a:solidFill>
            <a:prstDash val="solid"/>
          </a:ln>
        </p:spPr>
      </p:sp>
      <p:sp>
        <p:nvSpPr>
          <p:cNvPr id="49" name="Text 47"/>
          <p:cNvSpPr/>
          <p:nvPr/>
        </p:nvSpPr>
        <p:spPr>
          <a:xfrm>
            <a:off x="6565392" y="4059936"/>
            <a:ext cx="3840480"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3  ·  UAT &amp; Security Testing</a:t>
            </a:r>
            <a:endParaRPr lang="en-US" sz="800" dirty="0"/>
          </a:p>
        </p:txBody>
      </p:sp>
      <p:sp>
        <p:nvSpPr>
          <p:cNvPr id="50" name="Text 48"/>
          <p:cNvSpPr/>
          <p:nvPr/>
        </p:nvSpPr>
        <p:spPr>
          <a:xfrm>
            <a:off x="10332720" y="4059936"/>
            <a:ext cx="1499616" cy="256032"/>
          </a:xfrm>
          <a:prstGeom prst="rect">
            <a:avLst/>
          </a:prstGeom>
          <a:noFill/>
          <a:ln/>
        </p:spPr>
        <p:txBody>
          <a:bodyPr wrap="square" lIns="0" tIns="0" rIns="0" bIns="0" rtlCol="0" anchor="ctr"/>
          <a:lstStyle/>
          <a:p>
            <a:pPr algn="r" indent="0" marL="0">
              <a:buNone/>
            </a:pPr>
            <a:r>
              <a:rPr lang="en-US" sz="750" dirty="0">
                <a:solidFill>
                  <a:srgbClr val="F0F4F8"/>
                </a:solidFill>
                <a:latin typeface="Calibri" pitchFamily="34" charset="0"/>
                <a:ea typeface="Calibri" pitchFamily="34" charset="-122"/>
                <a:cs typeface="Calibri" pitchFamily="34" charset="-120"/>
              </a:rPr>
              <a:t>Weeks 13–16</a:t>
            </a:r>
            <a:endParaRPr lang="en-US" sz="750" dirty="0"/>
          </a:p>
        </p:txBody>
      </p:sp>
      <p:sp>
        <p:nvSpPr>
          <p:cNvPr id="51" name="Shape 49"/>
          <p:cNvSpPr/>
          <p:nvPr/>
        </p:nvSpPr>
        <p:spPr>
          <a:xfrm>
            <a:off x="6492240" y="4315968"/>
            <a:ext cx="5394960" cy="822960"/>
          </a:xfrm>
          <a:prstGeom prst="rect">
            <a:avLst/>
          </a:prstGeom>
          <a:solidFill>
            <a:srgbClr val="FFFFFF"/>
          </a:solidFill>
          <a:ln w="6350">
            <a:solidFill>
              <a:srgbClr val="D0D8E0"/>
            </a:solidFill>
            <a:prstDash val="solid"/>
          </a:ln>
        </p:spPr>
      </p:sp>
      <p:sp>
        <p:nvSpPr>
          <p:cNvPr id="52" name="Shape 50"/>
          <p:cNvSpPr/>
          <p:nvPr/>
        </p:nvSpPr>
        <p:spPr>
          <a:xfrm>
            <a:off x="6565392" y="4379976"/>
            <a:ext cx="54864" cy="54864"/>
          </a:xfrm>
          <a:prstGeom prst="rect">
            <a:avLst/>
          </a:prstGeom>
          <a:solidFill>
            <a:srgbClr val="4D8A5C"/>
          </a:solidFill>
          <a:ln w="12700">
            <a:solidFill>
              <a:srgbClr val="4D8A5C"/>
            </a:solidFill>
            <a:prstDash val="solid"/>
          </a:ln>
        </p:spPr>
      </p:sp>
      <p:sp>
        <p:nvSpPr>
          <p:cNvPr id="53" name="Text 51"/>
          <p:cNvSpPr/>
          <p:nvPr/>
        </p:nvSpPr>
        <p:spPr>
          <a:xfrm>
            <a:off x="6675120" y="4334256"/>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User acceptance testing with EIS and InvestiFi teams</a:t>
            </a:r>
            <a:endParaRPr lang="en-US" sz="700" dirty="0"/>
          </a:p>
        </p:txBody>
      </p:sp>
      <p:sp>
        <p:nvSpPr>
          <p:cNvPr id="54" name="Shape 52"/>
          <p:cNvSpPr/>
          <p:nvPr/>
        </p:nvSpPr>
        <p:spPr>
          <a:xfrm>
            <a:off x="6565392" y="4562856"/>
            <a:ext cx="54864" cy="54864"/>
          </a:xfrm>
          <a:prstGeom prst="rect">
            <a:avLst/>
          </a:prstGeom>
          <a:solidFill>
            <a:srgbClr val="4D8A5C"/>
          </a:solidFill>
          <a:ln w="12700">
            <a:solidFill>
              <a:srgbClr val="4D8A5C"/>
            </a:solidFill>
            <a:prstDash val="solid"/>
          </a:ln>
        </p:spPr>
      </p:sp>
      <p:sp>
        <p:nvSpPr>
          <p:cNvPr id="55" name="Text 53"/>
          <p:cNvSpPr/>
          <p:nvPr/>
        </p:nvSpPr>
        <p:spPr>
          <a:xfrm>
            <a:off x="6675120" y="4517136"/>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Penetration test and vulnerability remediation</a:t>
            </a:r>
            <a:endParaRPr lang="en-US" sz="700" dirty="0"/>
          </a:p>
        </p:txBody>
      </p:sp>
      <p:sp>
        <p:nvSpPr>
          <p:cNvPr id="56" name="Shape 54"/>
          <p:cNvSpPr/>
          <p:nvPr/>
        </p:nvSpPr>
        <p:spPr>
          <a:xfrm>
            <a:off x="6565392" y="4745736"/>
            <a:ext cx="54864" cy="54864"/>
          </a:xfrm>
          <a:prstGeom prst="rect">
            <a:avLst/>
          </a:prstGeom>
          <a:solidFill>
            <a:srgbClr val="4D8A5C"/>
          </a:solidFill>
          <a:ln w="12700">
            <a:solidFill>
              <a:srgbClr val="4D8A5C"/>
            </a:solidFill>
            <a:prstDash val="solid"/>
          </a:ln>
        </p:spPr>
      </p:sp>
      <p:sp>
        <p:nvSpPr>
          <p:cNvPr id="57" name="Text 55"/>
          <p:cNvSpPr/>
          <p:nvPr/>
        </p:nvSpPr>
        <p:spPr>
          <a:xfrm>
            <a:off x="6675120" y="4700016"/>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Performance and load testing (target: p99 &lt; 2 s)</a:t>
            </a:r>
            <a:endParaRPr lang="en-US" sz="700" dirty="0"/>
          </a:p>
        </p:txBody>
      </p:sp>
      <p:sp>
        <p:nvSpPr>
          <p:cNvPr id="58" name="Shape 56"/>
          <p:cNvSpPr/>
          <p:nvPr/>
        </p:nvSpPr>
        <p:spPr>
          <a:xfrm>
            <a:off x="6565392" y="4928616"/>
            <a:ext cx="54864" cy="54864"/>
          </a:xfrm>
          <a:prstGeom prst="rect">
            <a:avLst/>
          </a:prstGeom>
          <a:solidFill>
            <a:srgbClr val="4D8A5C"/>
          </a:solidFill>
          <a:ln w="12700">
            <a:solidFill>
              <a:srgbClr val="4D8A5C"/>
            </a:solidFill>
            <a:prstDash val="solid"/>
          </a:ln>
        </p:spPr>
      </p:sp>
      <p:sp>
        <p:nvSpPr>
          <p:cNvPr id="59" name="Text 57"/>
          <p:cNvSpPr/>
          <p:nvPr/>
        </p:nvSpPr>
        <p:spPr>
          <a:xfrm>
            <a:off x="6675120" y="4882896"/>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SDA pre-production sign-off checkpoint</a:t>
            </a:r>
            <a:endParaRPr lang="en-US" sz="700" dirty="0"/>
          </a:p>
        </p:txBody>
      </p:sp>
      <p:sp>
        <p:nvSpPr>
          <p:cNvPr id="60" name="Shape 58"/>
          <p:cNvSpPr/>
          <p:nvPr/>
        </p:nvSpPr>
        <p:spPr>
          <a:xfrm>
            <a:off x="6492240" y="5175504"/>
            <a:ext cx="5394960" cy="256032"/>
          </a:xfrm>
          <a:prstGeom prst="rect">
            <a:avLst/>
          </a:prstGeom>
          <a:solidFill>
            <a:srgbClr val="B8924A"/>
          </a:solidFill>
          <a:ln w="12700">
            <a:solidFill>
              <a:srgbClr val="B8924A"/>
            </a:solidFill>
            <a:prstDash val="solid"/>
          </a:ln>
        </p:spPr>
      </p:sp>
      <p:sp>
        <p:nvSpPr>
          <p:cNvPr id="61" name="Text 59"/>
          <p:cNvSpPr/>
          <p:nvPr/>
        </p:nvSpPr>
        <p:spPr>
          <a:xfrm>
            <a:off x="6565392" y="5175504"/>
            <a:ext cx="3840480"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4  ·  Production Deployment</a:t>
            </a:r>
            <a:endParaRPr lang="en-US" sz="800" dirty="0"/>
          </a:p>
        </p:txBody>
      </p:sp>
      <p:sp>
        <p:nvSpPr>
          <p:cNvPr id="62" name="Text 60"/>
          <p:cNvSpPr/>
          <p:nvPr/>
        </p:nvSpPr>
        <p:spPr>
          <a:xfrm>
            <a:off x="10332720" y="5175504"/>
            <a:ext cx="1499616" cy="256032"/>
          </a:xfrm>
          <a:prstGeom prst="rect">
            <a:avLst/>
          </a:prstGeom>
          <a:noFill/>
          <a:ln/>
        </p:spPr>
        <p:txBody>
          <a:bodyPr wrap="square" lIns="0" tIns="0" rIns="0" bIns="0" rtlCol="0" anchor="ctr"/>
          <a:lstStyle/>
          <a:p>
            <a:pPr algn="r" indent="0" marL="0">
              <a:buNone/>
            </a:pPr>
            <a:r>
              <a:rPr lang="en-US" sz="750" dirty="0">
                <a:solidFill>
                  <a:srgbClr val="F0F4F8"/>
                </a:solidFill>
                <a:latin typeface="Calibri" pitchFamily="34" charset="0"/>
                <a:ea typeface="Calibri" pitchFamily="34" charset="-122"/>
                <a:cs typeface="Calibri" pitchFamily="34" charset="-120"/>
              </a:rPr>
              <a:t>Weeks 17–18</a:t>
            </a:r>
            <a:endParaRPr lang="en-US" sz="750" dirty="0"/>
          </a:p>
        </p:txBody>
      </p:sp>
      <p:sp>
        <p:nvSpPr>
          <p:cNvPr id="63" name="Shape 61"/>
          <p:cNvSpPr/>
          <p:nvPr/>
        </p:nvSpPr>
        <p:spPr>
          <a:xfrm>
            <a:off x="6492240" y="5431536"/>
            <a:ext cx="5394960" cy="822960"/>
          </a:xfrm>
          <a:prstGeom prst="rect">
            <a:avLst/>
          </a:prstGeom>
          <a:solidFill>
            <a:srgbClr val="FFFFFF"/>
          </a:solidFill>
          <a:ln w="6350">
            <a:solidFill>
              <a:srgbClr val="D0D8E0"/>
            </a:solidFill>
            <a:prstDash val="solid"/>
          </a:ln>
        </p:spPr>
      </p:sp>
      <p:sp>
        <p:nvSpPr>
          <p:cNvPr id="64" name="Shape 62"/>
          <p:cNvSpPr/>
          <p:nvPr/>
        </p:nvSpPr>
        <p:spPr>
          <a:xfrm>
            <a:off x="6565392" y="5495544"/>
            <a:ext cx="54864" cy="54864"/>
          </a:xfrm>
          <a:prstGeom prst="rect">
            <a:avLst/>
          </a:prstGeom>
          <a:solidFill>
            <a:srgbClr val="B8924A"/>
          </a:solidFill>
          <a:ln w="12700">
            <a:solidFill>
              <a:srgbClr val="B8924A"/>
            </a:solidFill>
            <a:prstDash val="solid"/>
          </a:ln>
        </p:spPr>
      </p:sp>
      <p:sp>
        <p:nvSpPr>
          <p:cNvPr id="65" name="Text 63"/>
          <p:cNvSpPr/>
          <p:nvPr/>
        </p:nvSpPr>
        <p:spPr>
          <a:xfrm>
            <a:off x="6675120" y="5449824"/>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Blue-green deployment to production GKE cluster</a:t>
            </a:r>
            <a:endParaRPr lang="en-US" sz="700" dirty="0"/>
          </a:p>
        </p:txBody>
      </p:sp>
      <p:sp>
        <p:nvSpPr>
          <p:cNvPr id="66" name="Shape 64"/>
          <p:cNvSpPr/>
          <p:nvPr/>
        </p:nvSpPr>
        <p:spPr>
          <a:xfrm>
            <a:off x="6565392" y="5678424"/>
            <a:ext cx="54864" cy="54864"/>
          </a:xfrm>
          <a:prstGeom prst="rect">
            <a:avLst/>
          </a:prstGeom>
          <a:solidFill>
            <a:srgbClr val="B8924A"/>
          </a:solidFill>
          <a:ln w="12700">
            <a:solidFill>
              <a:srgbClr val="B8924A"/>
            </a:solidFill>
            <a:prstDash val="solid"/>
          </a:ln>
        </p:spPr>
      </p:sp>
      <p:sp>
        <p:nvSpPr>
          <p:cNvPr id="67" name="Text 65"/>
          <p:cNvSpPr/>
          <p:nvPr/>
        </p:nvSpPr>
        <p:spPr>
          <a:xfrm>
            <a:off x="6675120" y="5632704"/>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Runbook and operational handover to Platform team</a:t>
            </a:r>
            <a:endParaRPr lang="en-US" sz="700" dirty="0"/>
          </a:p>
        </p:txBody>
      </p:sp>
      <p:sp>
        <p:nvSpPr>
          <p:cNvPr id="68" name="Shape 66"/>
          <p:cNvSpPr/>
          <p:nvPr/>
        </p:nvSpPr>
        <p:spPr>
          <a:xfrm>
            <a:off x="6565392" y="5861304"/>
            <a:ext cx="54864" cy="54864"/>
          </a:xfrm>
          <a:prstGeom prst="rect">
            <a:avLst/>
          </a:prstGeom>
          <a:solidFill>
            <a:srgbClr val="B8924A"/>
          </a:solidFill>
          <a:ln w="12700">
            <a:solidFill>
              <a:srgbClr val="B8924A"/>
            </a:solidFill>
            <a:prstDash val="solid"/>
          </a:ln>
        </p:spPr>
      </p:sp>
      <p:sp>
        <p:nvSpPr>
          <p:cNvPr id="69" name="Text 67"/>
          <p:cNvSpPr/>
          <p:nvPr/>
        </p:nvSpPr>
        <p:spPr>
          <a:xfrm>
            <a:off x="6675120" y="5815584"/>
            <a:ext cx="5138928" cy="182880"/>
          </a:xfrm>
          <a:prstGeom prst="rect">
            <a:avLst/>
          </a:prstGeom>
          <a:noFill/>
          <a:ln/>
        </p:spPr>
        <p:txBody>
          <a:bodyPr wrap="square" lIns="0" tIns="0" rIns="0" bIns="0" rtlCol="0" anchor="ctr"/>
          <a:lstStyle/>
          <a:p>
            <a:pPr indent="0" marL="0">
              <a:buNone/>
            </a:pPr>
            <a:r>
              <a:rPr lang="en-US" sz="700" dirty="0">
                <a:solidFill>
                  <a:srgbClr val="3A4A58"/>
                </a:solidFill>
                <a:latin typeface="Calibri" pitchFamily="34" charset="0"/>
                <a:ea typeface="Calibri" pitchFamily="34" charset="-122"/>
                <a:cs typeface="Calibri" pitchFamily="34" charset="-120"/>
              </a:rPr>
              <a:t>Hypercare period: 2 weeks with engineering on-call</a:t>
            </a:r>
            <a:endParaRPr lang="en-US" sz="700" dirty="0"/>
          </a:p>
        </p:txBody>
      </p:sp>
      <p:sp>
        <p:nvSpPr>
          <p:cNvPr id="70" name="Shape 68"/>
          <p:cNvSpPr/>
          <p:nvPr/>
        </p:nvSpPr>
        <p:spPr>
          <a:xfrm>
            <a:off x="274320" y="5120640"/>
            <a:ext cx="11612880" cy="457200"/>
          </a:xfrm>
          <a:prstGeom prst="rect">
            <a:avLst/>
          </a:prstGeom>
          <a:solidFill>
            <a:srgbClr val="EBF0F5"/>
          </a:solidFill>
          <a:ln w="12700">
            <a:solidFill>
              <a:srgbClr val="B0BEC8"/>
            </a:solidFill>
            <a:prstDash val="solid"/>
          </a:ln>
        </p:spPr>
      </p:sp>
      <p:sp>
        <p:nvSpPr>
          <p:cNvPr id="71" name="Text 69"/>
          <p:cNvSpPr/>
          <p:nvPr/>
        </p:nvSpPr>
        <p:spPr>
          <a:xfrm>
            <a:off x="402336" y="5120640"/>
            <a:ext cx="11375136" cy="457200"/>
          </a:xfrm>
          <a:prstGeom prst="rect">
            <a:avLst/>
          </a:prstGeom>
          <a:noFill/>
          <a:ln/>
        </p:spPr>
        <p:txBody>
          <a:bodyPr wrap="square" lIns="0" tIns="0" rIns="0" bIns="0" rtlCol="0" anchor="ctr"/>
          <a:lstStyle/>
          <a:p>
            <a:pPr algn="ctr" indent="0" marL="0">
              <a:buNone/>
            </a:pPr>
            <a:r>
              <a:rPr lang="en-US" sz="800" dirty="0">
                <a:solidFill>
                  <a:srgbClr val="3A4A58"/>
                </a:solidFill>
                <a:latin typeface="Calibri" pitchFamily="34" charset="0"/>
                <a:ea typeface="Calibri" pitchFamily="34" charset="-122"/>
                <a:cs typeface="Calibri" pitchFamily="34" charset="-120"/>
              </a:rPr>
              <a:t>Document Owner: KYC Engineering  |  Sponsor: Chief Architect  |  Classification: Internal — Confidential  |  Review Date: April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KYC Orchestration — GCP Architecture</dc:title>
  <dc:subject>PptxGenJS Presentation</dc:subject>
  <dc:creator>PptxGenJS</dc:creator>
  <cp:lastModifiedBy>PptxGenJS</cp:lastModifiedBy>
  <cp:revision>1</cp:revision>
  <dcterms:created xsi:type="dcterms:W3CDTF">2026-04-15T03:26:14Z</dcterms:created>
  <dcterms:modified xsi:type="dcterms:W3CDTF">2026-04-15T03:26:14Z</dcterms:modified>
</cp:coreProperties>
</file>